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918400" cy="43891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2"/>
          <p:cNvSpPr/>
          <p:nvPr/>
        </p:nvSpPr>
        <p:spPr>
          <a:xfrm>
            <a:off x="664210" y="5311140"/>
            <a:ext cx="31727140" cy="73844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17772380" y="41034335"/>
            <a:ext cx="14619605" cy="1234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制作人：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程诗淇</a:t>
            </a: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审阅人：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徐飞</a:t>
            </a:r>
            <a:r>
              <a:rPr lang="en-US" alt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吴旭东</a:t>
            </a:r>
            <a:endParaRPr lang="zh-CN" altLang="en-US" sz="5400" kern="0" spc="-10" dirty="0">
              <a:solidFill>
                <a:srgbClr val="002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rect 14"/>
          <p:cNvSpPr/>
          <p:nvPr/>
        </p:nvSpPr>
        <p:spPr>
          <a:xfrm>
            <a:off x="664210" y="34410015"/>
            <a:ext cx="31770320" cy="634682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" y="4552060"/>
            <a:ext cx="32912304" cy="6350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0"/>
            <a:ext cx="32918400" cy="45789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1323340" y="25665430"/>
            <a:ext cx="28592780" cy="110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6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  <a:spcBef>
                <a:spcPts val="5"/>
              </a:spcBef>
            </a:pPr>
            <a:endParaRPr lang="zh-CN" altLang="en-US" sz="5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8382995" y="780643"/>
            <a:ext cx="13418819" cy="2627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面向终端内存与异构计算器件的</a:t>
            </a:r>
            <a:endParaRPr lang="en-US" altLang="zh-CN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软硬协同帧渲染优化</a:t>
            </a:r>
            <a:endParaRPr lang="zh-CN" altLang="en-US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25165" algn="l" rtl="0" eaLnBrk="0">
              <a:lnSpc>
                <a:spcPct val="89000"/>
              </a:lnSpc>
            </a:pP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.1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26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—202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12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</a:t>
            </a:r>
            <a:endParaRPr lang="en-US" sz="5400" kern="0" spc="-20" dirty="0">
              <a:solidFill>
                <a:srgbClr val="FFFFFF">
                  <a:alpha val="100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rect 24"/>
          <p:cNvSpPr/>
          <p:nvPr/>
        </p:nvSpPr>
        <p:spPr>
          <a:xfrm>
            <a:off x="0" y="43285535"/>
            <a:ext cx="32918400" cy="6202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15784" y="780456"/>
            <a:ext cx="6300547" cy="140346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1980012" y="2594304"/>
            <a:ext cx="6697344" cy="88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r>
              <a:rPr lang="zh-CN" altLang="en-US" sz="6300" kern="0" spc="-4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华为中央研究院</a:t>
            </a:r>
            <a:endParaRPr lang="zh-CN" altLang="en-US" sz="6300" kern="0" spc="-4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8523230" y="15350718"/>
            <a:ext cx="1819275" cy="2072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5035" y="13115924"/>
            <a:ext cx="30886400" cy="762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6350" y="876300"/>
            <a:ext cx="11409680" cy="24441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4210" y="5332730"/>
            <a:ext cx="31727775" cy="418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提出功耗模型和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性能模型的预设方案（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鲍成）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64920" y="6748780"/>
            <a:ext cx="30377130" cy="2528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</a:t>
            </a: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预期功耗模型：</a:t>
            </a:r>
            <a:r>
              <a:rPr lang="zh-CN" altLang="en-US" sz="4800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在若干 </a:t>
            </a:r>
            <a:r>
              <a:rPr lang="en-US" altLang="zh-CN" sz="4800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CPU/GPU/DDR </a:t>
            </a:r>
            <a:r>
              <a:rPr lang="zh-CN" altLang="en-US" sz="4800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频点上采样功率与性能，使用三阶多项式拟合 </a:t>
            </a:r>
            <a:r>
              <a:rPr lang="en-US" altLang="zh-CN" sz="4800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P(f)</a:t>
            </a:r>
            <a:endParaRPr lang="zh-CN" altLang="en-US" sz="5000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rect 14"/>
          <p:cNvSpPr/>
          <p:nvPr/>
        </p:nvSpPr>
        <p:spPr>
          <a:xfrm>
            <a:off x="621030" y="22900005"/>
            <a:ext cx="31770320" cy="1032891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098550" y="23496270"/>
            <a:ext cx="225806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探究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</a:rPr>
              <a:t>DDR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间的耦合关系（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任德上）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264920" y="34994215"/>
            <a:ext cx="27710765" cy="145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终端数据测试进展（任德上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&amp;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程诗淇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&amp;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蔡东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辰）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15670" y="36645215"/>
            <a:ext cx="2623248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跑通了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Ptrace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DevEco Testing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DevEco Testing Hypuim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的操作流程</a:t>
            </a:r>
            <a:endParaRPr lang="zh-CN" altLang="en-US" sz="4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5670" y="37566600"/>
            <a:ext cx="9188450" cy="1425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明确了需要测试的负载场景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64920" y="33781619"/>
            <a:ext cx="30886400" cy="76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23340" y="9845040"/>
            <a:ext cx="20836255" cy="1020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预期性能模型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4800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把“一帧时间”写成三个资源贡献的加权和</a:t>
            </a:r>
            <a:endParaRPr lang="zh-CN" altLang="en-US" sz="4800" dirty="0">
              <a:solidFill>
                <a:srgbClr val="FF0000"/>
              </a:solidFill>
              <a:latin typeface="Georgia" panose="02040502050405020303" pitchFamily="18" charset="0"/>
              <a:ea typeface="Microsoft YaHei UI" panose="020B0503020204020204" charset="-122"/>
            </a:endParaRPr>
          </a:p>
          <a:p>
            <a:endParaRPr lang="zh-CN" altLang="en-US" sz="4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994110" y="32228790"/>
            <a:ext cx="706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jetson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上测试得到的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</a:t>
            </a:r>
            <a:endParaRPr lang="zh-CN" altLang="en-US" sz="3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8550" y="24667210"/>
            <a:ext cx="21003260" cy="8497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借鉴论文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crave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中的思想，利用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矩阵和归一化指标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cost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来计算资源的效用值，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在确定主导资源的过程中考虑资源间的交互影响。</a:t>
            </a: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考虑用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、内存的效用来替代利用率，这样能结合资源间的耦合关系，在负载向量匹配时更准确。</a:t>
            </a:r>
            <a:endParaRPr lang="zh-CN" altLang="en-US" sz="5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5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770" y="8140065"/>
            <a:ext cx="15633700" cy="118872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rcRect r="1868"/>
          <a:stretch>
            <a:fillRect/>
          </a:stretch>
        </p:blipFill>
        <p:spPr>
          <a:xfrm>
            <a:off x="2350770" y="10714355"/>
            <a:ext cx="18513425" cy="1714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rcRect l="3357" t="3719" r="5254"/>
          <a:stretch>
            <a:fillRect/>
          </a:stretch>
        </p:blipFill>
        <p:spPr>
          <a:xfrm>
            <a:off x="21835110" y="10622280"/>
            <a:ext cx="6118860" cy="182499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1109940" y="11214735"/>
            <a:ext cx="479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/>
              <a:t>，</a:t>
            </a:r>
            <a:endParaRPr lang="zh-CN" altLang="en-US" sz="5400"/>
          </a:p>
        </p:txBody>
      </p:sp>
      <p:pic>
        <p:nvPicPr>
          <p:cNvPr id="2097182" name="图片 2097181"/>
          <p:cNvPicPr/>
          <p:nvPr/>
        </p:nvPicPr>
        <p:blipFill>
          <a:blip r:embed="rId9"/>
          <a:stretch>
            <a:fillRect/>
          </a:stretch>
        </p:blipFill>
        <p:spPr>
          <a:xfrm>
            <a:off x="22580600" y="23530560"/>
            <a:ext cx="9220835" cy="8436610"/>
          </a:xfrm>
          <a:prstGeom prst="rect">
            <a:avLst/>
          </a:prstGeom>
        </p:spPr>
      </p:pic>
      <p:pic>
        <p:nvPicPr>
          <p:cNvPr id="2097152" name="图片 0"/>
          <p:cNvPicPr/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264920" y="27927935"/>
            <a:ext cx="4830445" cy="1468755"/>
          </a:xfrm>
          <a:prstGeom prst="rect">
            <a:avLst/>
          </a:prstGeom>
        </p:spPr>
      </p:pic>
      <p:pic>
        <p:nvPicPr>
          <p:cNvPr id="2097153" name="图片 1"/>
          <p:cNvPicPr/>
          <p:nvPr/>
        </p:nvPicPr>
        <p:blipFill>
          <a:blip r:embed="rId12"/>
          <a:stretch>
            <a:fillRect/>
          </a:stretch>
        </p:blipFill>
        <p:spPr>
          <a:xfrm>
            <a:off x="7031355" y="27715210"/>
            <a:ext cx="6924040" cy="1816100"/>
          </a:xfrm>
          <a:prstGeom prst="rect">
            <a:avLst/>
          </a:prstGeom>
        </p:spPr>
      </p:pic>
      <p:pic>
        <p:nvPicPr>
          <p:cNvPr id="2097154" name="图片 3"/>
          <p:cNvPicPr/>
          <p:nvPr/>
        </p:nvPicPr>
        <p:blipFill>
          <a:blip r:embed="rId13"/>
          <a:stretch>
            <a:fillRect/>
          </a:stretch>
        </p:blipFill>
        <p:spPr>
          <a:xfrm>
            <a:off x="15064740" y="27844750"/>
            <a:ext cx="5711825" cy="176911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15670" y="38943915"/>
            <a:ext cx="12421235" cy="1425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实现了部分负载的场景化测试脚本</a:t>
            </a:r>
            <a:endParaRPr lang="zh-CN" altLang="en-US" sz="5000" kern="1200" dirty="0">
              <a:latin typeface="Georgia" panose="02040502050405020303" pitchFamily="18" charset="0"/>
              <a:ea typeface="Microsoft YaHei UI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rect 2"/>
          <p:cNvSpPr/>
          <p:nvPr/>
        </p:nvSpPr>
        <p:spPr>
          <a:xfrm>
            <a:off x="707390" y="13557250"/>
            <a:ext cx="31727140" cy="841819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098550" y="13987780"/>
            <a:ext cx="225806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功耗模型的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初步验证（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任德上）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/>
          <p:cNvPicPr/>
          <p:nvPr/>
        </p:nvPicPr>
        <p:blipFill>
          <a:blip r:embed="rId14"/>
          <a:srcRect t="5556"/>
          <a:stretch>
            <a:fillRect/>
          </a:stretch>
        </p:blipFill>
        <p:spPr>
          <a:xfrm>
            <a:off x="21836380" y="13737590"/>
            <a:ext cx="9965690" cy="823341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449070" y="15199360"/>
            <a:ext cx="19660870" cy="2609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jetson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上的数据对功耗模型进行初步验证，右图为可视化呈现。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总体来说，各点均匀分布在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直线附近，拟合效果良好。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66365" y="18226405"/>
            <a:ext cx="6514465" cy="23749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6"/>
          <a:srcRect b="14085"/>
          <a:stretch>
            <a:fillRect/>
          </a:stretch>
        </p:blipFill>
        <p:spPr>
          <a:xfrm>
            <a:off x="10908030" y="18578195"/>
            <a:ext cx="8841105" cy="1204595"/>
          </a:xfrm>
          <a:prstGeom prst="rect">
            <a:avLst/>
          </a:prstGeom>
        </p:spPr>
      </p:pic>
      <p:pic>
        <p:nvPicPr>
          <p:cNvPr id="41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15035" y="22357969"/>
            <a:ext cx="30886400" cy="76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4.95,&quot;left&quot;:98.45000610351562,&quot;top&quot;:131.75,&quot;width&quot;:832.799993896484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演示</Application>
  <PresentationFormat/>
  <Paragraphs>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黑体</vt:lpstr>
      <vt:lpstr>微软雅黑</vt:lpstr>
      <vt:lpstr>Microsoft YaHei UI</vt:lpstr>
      <vt:lpstr>Georgia</vt:lpstr>
      <vt:lpstr>Times New Roman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Shijie Sun</dc:creator>
  <cp:lastModifiedBy>Queenie.</cp:lastModifiedBy>
  <cp:revision>20</cp:revision>
  <dcterms:created xsi:type="dcterms:W3CDTF">2025-11-12T09:06:00Z</dcterms:created>
  <dcterms:modified xsi:type="dcterms:W3CDTF">2025-12-10T14:28:56Z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2025-11-16T09:03:57Z</vt:filetime>
  </property>
  <property fmtid="{D5CDD505-2E9C-101B-9397-08002B2CF9AE}" pid="4" name="ICV">
    <vt:lpwstr>A5F96D1879B74072A2B8B3B801EDF66E_13</vt:lpwstr>
  </property>
  <property fmtid="{D5CDD505-2E9C-101B-9397-08002B2CF9AE}" pid="5" name="KSOProductBuildVer">
    <vt:lpwstr>2052-12.1.0.24034</vt:lpwstr>
  </property>
</Properties>
</file>