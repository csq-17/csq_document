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57" r:id="rId5"/>
    <p:sldId id="259" r:id="rId6"/>
    <p:sldId id="260" r:id="rId7"/>
    <p:sldId id="261" r:id="rId8"/>
    <p:sldId id="262" r:id="rId9"/>
    <p:sldId id="265" r:id="rId10"/>
    <p:sldId id="266" r:id="rId11"/>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2" autoAdjust="0"/>
    <p:restoredTop sz="94660"/>
  </p:normalViewPr>
  <p:slideViewPr>
    <p:cSldViewPr snapToGrid="0" showGuides="1">
      <p:cViewPr>
        <p:scale>
          <a:sx n="107" d="100"/>
          <a:sy n="107" d="100"/>
        </p:scale>
        <p:origin x="84" y="172"/>
      </p:cViewPr>
      <p:guideLst>
        <p:guide orient="horz" pos="216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09" name=""/>
        <p:cNvGrpSpPr/>
        <p:nvPr/>
      </p:nvGrpSpPr>
      <p:grpSpPr>
        <a:xfrm>
          <a:off x="0" y="0"/>
          <a:ext cx="0" cy="0"/>
          <a:chOff x="0" y="0"/>
          <a:chExt cx="0" cy="0"/>
        </a:xfrm>
      </p:grpSpPr>
      <p:sp>
        <p:nvSpPr>
          <p:cNvPr id="104901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01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AF312-0D2C-4C84-BCFF-9BC35B643405}" type="datetimeFigureOut">
              <a:rPr lang="zh-CN" altLang="en-US" smtClean="0"/>
            </a:fld>
            <a:endParaRPr lang="zh-CN" altLang="en-US"/>
          </a:p>
        </p:txBody>
      </p:sp>
      <p:sp>
        <p:nvSpPr>
          <p:cNvPr id="104902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02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902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02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239B51-9664-47E0-AEB1-4AC9E14A752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1" name="幻灯片图像占位符 1"/>
          <p:cNvSpPr>
            <a:spLocks noGrp="1" noRot="1" noChangeAspect="1"/>
          </p:cNvSpPr>
          <p:nvPr>
            <p:ph type="sldImg"/>
          </p:nvPr>
        </p:nvSpPr>
        <p:spPr/>
      </p:sp>
      <p:sp>
        <p:nvSpPr>
          <p:cNvPr id="1048612" name="备注占位符 2"/>
          <p:cNvSpPr>
            <a:spLocks noGrp="1"/>
          </p:cNvSpPr>
          <p:nvPr>
            <p:ph type="body" idx="1"/>
          </p:nvPr>
        </p:nvSpPr>
        <p:spPr/>
        <p:txBody>
          <a:bodyPr/>
          <a:p>
            <a:r>
              <a:rPr lang="zh-CN" altLang="en-US" dirty="0"/>
              <a:t>首先，我们参考</a:t>
            </a:r>
            <a:r>
              <a:rPr lang="en-US" altLang="zh-CN" dirty="0"/>
              <a:t>crave</a:t>
            </a:r>
            <a:r>
              <a:rPr lang="zh-CN" altLang="en-US" dirty="0"/>
              <a:t>这篇论文，</a:t>
            </a:r>
            <a:r>
              <a:rPr lang="zh-CN" altLang="en-US" dirty="0"/>
              <a:t>就是之前鲍师弟介绍过的一篇</a:t>
            </a:r>
            <a:r>
              <a:rPr lang="zh-CN" altLang="en-US" dirty="0"/>
              <a:t>论文，在负载向量的表示中额外考虑了资源交互影响。</a:t>
            </a:r>
            <a:endParaRPr lang="zh-CN" altLang="en-US" dirty="0"/>
          </a:p>
          <a:p>
            <a:r>
              <a:rPr lang="zh-CN" altLang="en-US" dirty="0"/>
              <a:t>考虑资源交互的核心就是这个</a:t>
            </a:r>
            <a:r>
              <a:rPr lang="en-US" altLang="zh-CN" dirty="0"/>
              <a:t>3*3</a:t>
            </a:r>
            <a:r>
              <a:rPr lang="zh-CN" altLang="en-US" dirty="0"/>
              <a:t>的资源影响矩阵，竖着代表</a:t>
            </a:r>
            <a:r>
              <a:rPr lang="en-US" altLang="zh-CN" dirty="0"/>
              <a:t>gpu</a:t>
            </a:r>
            <a:r>
              <a:rPr lang="zh-CN" altLang="en-US" dirty="0"/>
              <a:t>，</a:t>
            </a:r>
            <a:r>
              <a:rPr lang="en-US" altLang="zh-CN" dirty="0"/>
              <a:t>cpu</a:t>
            </a:r>
            <a:r>
              <a:rPr lang="zh-CN" altLang="en-US" dirty="0"/>
              <a:t>，</a:t>
            </a:r>
            <a:r>
              <a:rPr lang="en-US" altLang="zh-CN" dirty="0"/>
              <a:t>ddr</a:t>
            </a:r>
            <a:r>
              <a:rPr lang="zh-CN" altLang="en-US" dirty="0"/>
              <a:t>的频率，横着的代表内存、</a:t>
            </a:r>
            <a:r>
              <a:rPr lang="en-US" altLang="zh-CN" dirty="0"/>
              <a:t>cpu</a:t>
            </a:r>
            <a:r>
              <a:rPr lang="zh-CN" altLang="en-US" dirty="0"/>
              <a:t>，</a:t>
            </a:r>
            <a:r>
              <a:rPr lang="en-US" altLang="zh-CN" dirty="0"/>
              <a:t>gpu</a:t>
            </a:r>
            <a:r>
              <a:rPr lang="zh-CN" altLang="en-US" dirty="0"/>
              <a:t>的性能。比如第一行第一列这个</a:t>
            </a:r>
            <a:r>
              <a:rPr lang="en-US" altLang="zh-CN" dirty="0"/>
              <a:t>0.01</a:t>
            </a:r>
            <a:r>
              <a:rPr lang="zh-CN" altLang="en-US" dirty="0"/>
              <a:t>，它的值代表</a:t>
            </a:r>
            <a:r>
              <a:rPr lang="en-US" altLang="zh-CN" dirty="0"/>
              <a:t>gpu</a:t>
            </a:r>
            <a:r>
              <a:rPr lang="zh-CN" altLang="en-US" dirty="0"/>
              <a:t>频率和内存性能的相关系数。值越接近</a:t>
            </a:r>
            <a:r>
              <a:rPr lang="en-US" altLang="zh-CN" dirty="0"/>
              <a:t>1</a:t>
            </a:r>
            <a:r>
              <a:rPr lang="zh-CN" altLang="en-US" dirty="0"/>
              <a:t>，表示相关性越强。我们按照</a:t>
            </a:r>
            <a:r>
              <a:rPr lang="en-US" altLang="zh-CN" dirty="0"/>
              <a:t>crave</a:t>
            </a:r>
            <a:r>
              <a:rPr lang="zh-CN" altLang="en-US" dirty="0"/>
              <a:t>中描述的方法，在</a:t>
            </a:r>
            <a:r>
              <a:rPr lang="en-US" altLang="zh-CN" dirty="0"/>
              <a:t>jetson</a:t>
            </a:r>
            <a:r>
              <a:rPr lang="zh-CN" altLang="en-US" dirty="0"/>
              <a:t>上复现了这个矩阵。根据</a:t>
            </a:r>
            <a:r>
              <a:rPr lang="en-US" altLang="zh-CN" dirty="0"/>
              <a:t>crave</a:t>
            </a:r>
            <a:r>
              <a:rPr lang="zh-CN" altLang="en-US" dirty="0"/>
              <a:t>的描述，这个矩阵主要和设备</a:t>
            </a:r>
            <a:r>
              <a:rPr lang="zh-CN" altLang="en-US" dirty="0"/>
              <a:t>有关。</a:t>
            </a:r>
            <a:endParaRPr lang="zh-CN" altLang="en-US" dirty="0"/>
          </a:p>
        </p:txBody>
      </p:sp>
      <p:sp>
        <p:nvSpPr>
          <p:cNvPr id="1048613"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p>
            <a:r>
              <a:rPr lang="zh-CN" altLang="en-US" dirty="0"/>
              <a:t>一般的确定主导资源的方法是根据资源利用率，哪一个大就认为哪一个是主导资源。但是仅凭利用率没法展示出总体的表现，比如</a:t>
            </a:r>
            <a:r>
              <a:rPr lang="en-US" altLang="zh-CN" dirty="0"/>
              <a:t>1ghz</a:t>
            </a:r>
            <a:r>
              <a:rPr lang="zh-CN" altLang="en-US" dirty="0"/>
              <a:t>下的</a:t>
            </a:r>
            <a:r>
              <a:rPr lang="en-US" altLang="zh-CN" dirty="0"/>
              <a:t>50%</a:t>
            </a:r>
            <a:r>
              <a:rPr lang="zh-CN" altLang="en-US" dirty="0"/>
              <a:t>利用率需要的算力显然大于</a:t>
            </a:r>
            <a:r>
              <a:rPr lang="en-US" altLang="zh-CN" dirty="0"/>
              <a:t>0.5ghz</a:t>
            </a:r>
            <a:r>
              <a:rPr lang="zh-CN" altLang="en-US" dirty="0"/>
              <a:t>下的</a:t>
            </a:r>
            <a:r>
              <a:rPr lang="en-US" altLang="zh-CN" dirty="0"/>
              <a:t>50%</a:t>
            </a:r>
            <a:r>
              <a:rPr lang="zh-CN" altLang="en-US" dirty="0"/>
              <a:t>利用率，但是它们的利用率是相同的。</a:t>
            </a:r>
            <a:endParaRPr lang="zh-CN" altLang="en-US" dirty="0"/>
          </a:p>
          <a:p>
            <a:r>
              <a:rPr lang="zh-CN" altLang="en-US" dirty="0"/>
              <a:t>所以</a:t>
            </a:r>
            <a:r>
              <a:rPr lang="en-US" altLang="zh-CN" dirty="0"/>
              <a:t>crave</a:t>
            </a:r>
            <a:r>
              <a:rPr lang="zh-CN" altLang="en-US" dirty="0"/>
              <a:t>首先取用了一个归一化指标，令利用率</a:t>
            </a:r>
            <a:r>
              <a:rPr lang="en-US" altLang="zh-CN" dirty="0"/>
              <a:t>*</a:t>
            </a:r>
            <a:r>
              <a:rPr lang="zh-CN" altLang="en-US" dirty="0"/>
              <a:t>当前频率</a:t>
            </a:r>
            <a:r>
              <a:rPr lang="en-US" altLang="zh-CN" dirty="0"/>
              <a:t>/</a:t>
            </a:r>
            <a:r>
              <a:rPr lang="zh-CN" altLang="en-US" dirty="0"/>
              <a:t>最大利用率</a:t>
            </a:r>
            <a:r>
              <a:rPr lang="en-US" altLang="zh-CN" dirty="0"/>
              <a:t>*</a:t>
            </a:r>
            <a:r>
              <a:rPr lang="zh-CN" altLang="en-US" dirty="0"/>
              <a:t>最大频率，这样任何频率下的任何利用率都可以进行一个比较；</a:t>
            </a:r>
            <a:endParaRPr lang="zh-CN" altLang="en-US" dirty="0"/>
          </a:p>
          <a:p>
            <a:r>
              <a:rPr lang="zh-CN" altLang="en-US" dirty="0"/>
              <a:t>然后他通过之前计算的</a:t>
            </a:r>
            <a:r>
              <a:rPr lang="en-US" altLang="zh-CN" dirty="0"/>
              <a:t>RI</a:t>
            </a:r>
            <a:r>
              <a:rPr lang="zh-CN" altLang="en-US" dirty="0"/>
              <a:t>矩阵的值和资源地</a:t>
            </a:r>
            <a:r>
              <a:rPr lang="en-US" altLang="zh-CN" dirty="0"/>
              <a:t>cost</a:t>
            </a:r>
            <a:r>
              <a:rPr lang="zh-CN" altLang="en-US" dirty="0"/>
              <a:t>，来计算资源的效用值，在确定主导资源的</a:t>
            </a:r>
            <a:r>
              <a:rPr lang="zh-CN" altLang="en-US" dirty="0"/>
              <a:t>过程中考虑资源间的交互影响。</a:t>
            </a:r>
            <a:endParaRPr lang="zh-CN" altLang="en-US" dirty="0"/>
          </a:p>
          <a:p>
            <a:r>
              <a:rPr lang="zh-CN" altLang="en-US" dirty="0"/>
              <a:t>比如说，在计算</a:t>
            </a:r>
            <a:r>
              <a:rPr lang="en-US" altLang="zh-CN" dirty="0"/>
              <a:t>gpu</a:t>
            </a:r>
            <a:r>
              <a:rPr lang="zh-CN" altLang="en-US" dirty="0"/>
              <a:t>的效用时，</a:t>
            </a:r>
            <a:r>
              <a:rPr lang="zh-CN" altLang="en-US" dirty="0"/>
              <a:t>综合考虑它对</a:t>
            </a:r>
            <a:r>
              <a:rPr lang="en-US" altLang="zh-CN" dirty="0"/>
              <a:t>cpu</a:t>
            </a:r>
            <a:r>
              <a:rPr lang="zh-CN" altLang="en-US" dirty="0"/>
              <a:t>、</a:t>
            </a:r>
            <a:r>
              <a:rPr lang="en-US" altLang="zh-CN" dirty="0"/>
              <a:t>gpu</a:t>
            </a:r>
            <a:r>
              <a:rPr lang="zh-CN" altLang="en-US" dirty="0"/>
              <a:t>、</a:t>
            </a:r>
            <a:r>
              <a:rPr lang="en-US" altLang="zh-CN" dirty="0"/>
              <a:t>ddr</a:t>
            </a:r>
            <a:r>
              <a:rPr lang="zh-CN" altLang="en-US" dirty="0"/>
              <a:t>三者产生的</a:t>
            </a:r>
            <a:r>
              <a:rPr lang="zh-CN" altLang="en-US" dirty="0"/>
              <a:t>影响。</a:t>
            </a:r>
            <a:endParaRPr lang="zh-CN" altLang="en-US" dirty="0"/>
          </a:p>
        </p:txBody>
      </p:sp>
      <p:sp>
        <p:nvSpPr>
          <p:cNvPr id="1048600"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0" name="幻灯片图像占位符 1"/>
          <p:cNvSpPr>
            <a:spLocks noGrp="1" noRot="1" noChangeAspect="1"/>
          </p:cNvSpPr>
          <p:nvPr>
            <p:ph type="sldImg"/>
          </p:nvPr>
        </p:nvSpPr>
        <p:spPr/>
      </p:sp>
      <p:sp>
        <p:nvSpPr>
          <p:cNvPr id="1048621" name="备注占位符 2"/>
          <p:cNvSpPr>
            <a:spLocks noGrp="1"/>
          </p:cNvSpPr>
          <p:nvPr>
            <p:ph type="body" idx="1"/>
          </p:nvPr>
        </p:nvSpPr>
        <p:spPr/>
        <p:txBody>
          <a:bodyPr/>
          <a:p>
            <a:r>
              <a:rPr lang="zh-CN" altLang="en-US" dirty="0"/>
              <a:t>因此，我们考虑用</a:t>
            </a:r>
            <a:r>
              <a:rPr lang="en-US" altLang="zh-CN" dirty="0"/>
              <a:t>CPU</a:t>
            </a:r>
            <a:r>
              <a:rPr lang="zh-CN" altLang="en-US" dirty="0"/>
              <a:t>、</a:t>
            </a:r>
            <a:r>
              <a:rPr lang="en-US" altLang="zh-CN" dirty="0"/>
              <a:t>GPU</a:t>
            </a:r>
            <a:r>
              <a:rPr lang="zh-CN" altLang="en-US" dirty="0"/>
              <a:t>、内存的效用来替代利用率，这样能考虑资源间的耦合关系，在负载向量匹配时能更</a:t>
            </a:r>
            <a:r>
              <a:rPr lang="zh-CN" altLang="en-US" dirty="0"/>
              <a:t>准确。</a:t>
            </a:r>
            <a:endParaRPr lang="zh-CN" altLang="en-US" dirty="0"/>
          </a:p>
        </p:txBody>
      </p:sp>
      <p:sp>
        <p:nvSpPr>
          <p:cNvPr id="1048622"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36" name="幻灯片图像占位符 1"/>
          <p:cNvSpPr>
            <a:spLocks noGrp="1" noRot="1" noChangeAspect="1"/>
          </p:cNvSpPr>
          <p:nvPr>
            <p:ph type="sldImg"/>
          </p:nvPr>
        </p:nvSpPr>
        <p:spPr/>
      </p:sp>
      <p:sp>
        <p:nvSpPr>
          <p:cNvPr id="1048637" name="备注占位符 2"/>
          <p:cNvSpPr>
            <a:spLocks noGrp="1"/>
          </p:cNvSpPr>
          <p:nvPr>
            <p:ph type="body" idx="1"/>
          </p:nvPr>
        </p:nvSpPr>
        <p:spPr/>
        <p:txBody>
          <a:bodyPr/>
          <a:p>
            <a:r>
              <a:rPr lang="zh-CN" altLang="en-US" dirty="0"/>
              <a:t>然后通过调研和一些理论分析，我们初步得到了功耗模型，认为它和三个频点符合上面这个式子，具体的理论分析等会让鲍师弟来介绍，我主要是用</a:t>
            </a:r>
            <a:r>
              <a:rPr lang="en-US" altLang="zh-CN" dirty="0"/>
              <a:t>jetson</a:t>
            </a:r>
            <a:r>
              <a:rPr lang="zh-CN" altLang="en-US" dirty="0"/>
              <a:t>上的数据对他进行了一个</a:t>
            </a:r>
            <a:r>
              <a:rPr lang="zh-CN" altLang="en-US" dirty="0"/>
              <a:t>验证。</a:t>
            </a:r>
            <a:endParaRPr lang="zh-CN" altLang="en-US" dirty="0"/>
          </a:p>
          <a:p>
            <a:r>
              <a:rPr lang="zh-CN" altLang="en-US" dirty="0"/>
              <a:t>拟合后的结果如下，这是</a:t>
            </a:r>
            <a:r>
              <a:rPr lang="en-US" altLang="zh-CN" dirty="0"/>
              <a:t>a,b,c,d</a:t>
            </a:r>
            <a:r>
              <a:rPr lang="zh-CN" altLang="en-US" dirty="0"/>
              <a:t>的值，下面这部分是一些判定拟合效果的指标，比如说平均相对误差只有</a:t>
            </a:r>
            <a:r>
              <a:rPr lang="en-US" altLang="zh-CN" dirty="0"/>
              <a:t>1.43</a:t>
            </a:r>
            <a:r>
              <a:rPr lang="zh-CN" altLang="en-US" dirty="0"/>
              <a:t>，</a:t>
            </a:r>
            <a:r>
              <a:rPr lang="en-US" altLang="zh-CN" dirty="0"/>
              <a:t>R^2</a:t>
            </a:r>
            <a:r>
              <a:rPr lang="zh-CN" altLang="en-US" dirty="0"/>
              <a:t>达到了</a:t>
            </a:r>
            <a:r>
              <a:rPr lang="en-US" altLang="zh-CN" dirty="0"/>
              <a:t>0.86</a:t>
            </a:r>
            <a:r>
              <a:rPr lang="zh-CN" altLang="en-US" dirty="0"/>
              <a:t>，总体效果还是比较好的，然后右侧是一个可视化呈现，纵坐标代表预测的功耗值，横坐标代表真实的功耗值，红色直线是</a:t>
            </a:r>
            <a:r>
              <a:rPr lang="en-US" altLang="zh-CN" dirty="0"/>
              <a:t>y=x</a:t>
            </a:r>
            <a:r>
              <a:rPr lang="zh-CN" altLang="en-US" dirty="0"/>
              <a:t>，点离这个直线越近说明拟合效果越好。可以看到，总体来说点都均匀分布在这个直线</a:t>
            </a:r>
            <a:r>
              <a:rPr lang="zh-CN" altLang="en-US" dirty="0"/>
              <a:t>附近。</a:t>
            </a:r>
            <a:endParaRPr lang="zh-CN" altLang="en-US" dirty="0"/>
          </a:p>
          <a:p>
            <a:r>
              <a:rPr lang="zh-CN" altLang="en-US" dirty="0"/>
              <a:t>平均相对误差：平均每次预测误差占真实值的</a:t>
            </a:r>
            <a:r>
              <a:rPr lang="en-US" altLang="zh-CN" dirty="0"/>
              <a:t>1.43%</a:t>
            </a:r>
            <a:endParaRPr lang="zh-CN" altLang="en-US" dirty="0"/>
          </a:p>
          <a:p>
            <a:r>
              <a:rPr lang="en-US" altLang="zh-CN" dirty="0"/>
              <a:t>R^2</a:t>
            </a:r>
            <a:r>
              <a:rPr lang="zh-CN" altLang="en-US" dirty="0"/>
              <a:t>：模型能解释</a:t>
            </a:r>
            <a:r>
              <a:rPr lang="en-US" altLang="zh-CN" dirty="0"/>
              <a:t> 86.2% </a:t>
            </a:r>
            <a:r>
              <a:rPr lang="zh-CN" altLang="en-US" dirty="0"/>
              <a:t>的功耗变化趋势，属于良好拟合</a:t>
            </a:r>
            <a:endParaRPr lang="zh-CN" altLang="en-US" dirty="0"/>
          </a:p>
        </p:txBody>
      </p:sp>
      <p:sp>
        <p:nvSpPr>
          <p:cNvPr id="1048638"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r>
              <a:rPr lang="zh-CN" altLang="en-US" dirty="0"/>
              <a:t>然后介绍一下我们进行终端数据测试的进展，首先我们</a:t>
            </a:r>
            <a:r>
              <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rPr>
              <a:t>跑通</a:t>
            </a:r>
            <a:r>
              <a:rPr lang="en-US" altLang="zh-CN" b="1" dirty="0">
                <a:latin typeface="Georgia" panose="02040502050405020303" pitchFamily="18" charset="0"/>
                <a:ea typeface="Microsoft YaHei UI" panose="020B0503020204020204" pitchFamily="34" charset="-122"/>
                <a:cs typeface="Times New Roman" panose="02020603050405020304" pitchFamily="18" charset="0"/>
                <a:sym typeface="+mn-ea"/>
              </a:rPr>
              <a:t>ptrace</a:t>
            </a:r>
            <a:r>
              <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rPr>
              <a:t>、</a:t>
            </a:r>
            <a:r>
              <a:rPr lang="en-US" altLang="zh-CN" b="1" dirty="0">
                <a:latin typeface="Georgia" panose="02040502050405020303" pitchFamily="18" charset="0"/>
                <a:ea typeface="Microsoft YaHei UI" panose="020B0503020204020204" pitchFamily="34" charset="-122"/>
                <a:cs typeface="Times New Roman" panose="02020603050405020304" pitchFamily="18" charset="0"/>
                <a:sym typeface="+mn-ea"/>
              </a:rPr>
              <a:t>deveco testing</a:t>
            </a:r>
            <a:r>
              <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rPr>
              <a:t>和</a:t>
            </a:r>
            <a:r>
              <a:rPr lang="en-US" altLang="zh-CN" b="1" dirty="0">
                <a:latin typeface="Georgia" panose="02040502050405020303" pitchFamily="18" charset="0"/>
                <a:ea typeface="Microsoft YaHei UI" panose="020B0503020204020204" pitchFamily="34" charset="-122"/>
                <a:cs typeface="Times New Roman" panose="02020603050405020304" pitchFamily="18" charset="0"/>
                <a:sym typeface="+mn-ea"/>
              </a:rPr>
              <a:t>deveco testing hypuim</a:t>
            </a:r>
            <a:r>
              <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rPr>
              <a:t>的操作流程；然后我们从路总在群里发的场景中选取了一些，明确了我们需要测试的负载场景；最后就是昨天我们实现了部分负载的场景化测试脚本，通过这个脚本模拟在终端上进行的一些</a:t>
            </a:r>
            <a:r>
              <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rPr>
              <a:t>操作。</a:t>
            </a:r>
            <a:endParaRPr lang="zh-CN" altLang="en-US" b="1" dirty="0">
              <a:latin typeface="Georgia" panose="02040502050405020303" pitchFamily="18" charset="0"/>
              <a:ea typeface="Microsoft YaHei UI" panose="020B0503020204020204" pitchFamily="34" charset="-122"/>
              <a:cs typeface="Times New Roman" panose="02020603050405020304" pitchFamily="18" charset="0"/>
              <a:sym typeface="+mn-ea"/>
            </a:endParaRPr>
          </a:p>
        </p:txBody>
      </p:sp>
      <p:sp>
        <p:nvSpPr>
          <p:cNvPr id="1048654"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p>
            <a:r>
              <a:rPr lang="zh-CN" altLang="en-US" dirty="0"/>
              <a:t>最后就是我们在终端数据测试中遇到的一些问题向。第一点，就是我们测试时，操作</a:t>
            </a:r>
            <a:r>
              <a:rPr lang="en-US" altLang="zh-CN" dirty="0"/>
              <a:t>ptrace</a:t>
            </a:r>
            <a:r>
              <a:rPr lang="zh-CN" altLang="en-US" dirty="0"/>
              <a:t>这个功耗测试软件时，还是需要手动操作；第二点就是发现测得的功耗数据存在负值，不知道是要更改</a:t>
            </a:r>
            <a:r>
              <a:rPr lang="en-US" altLang="zh-CN" dirty="0"/>
              <a:t>ptrace</a:t>
            </a:r>
            <a:r>
              <a:rPr lang="zh-CN" altLang="en-US" dirty="0"/>
              <a:t>上的一些设置还是人为处理一下数据；第三点就是终端上存在锁帧现象，可能影响实验结果。比如说</a:t>
            </a:r>
            <a:r>
              <a:rPr lang="en-US" altLang="zh-CN" dirty="0"/>
              <a:t>dy</a:t>
            </a:r>
            <a:r>
              <a:rPr lang="zh-CN" altLang="en-US" dirty="0"/>
              <a:t>视频播放时，默认帧率上限就是</a:t>
            </a:r>
            <a:r>
              <a:rPr lang="en-US" altLang="zh-CN" dirty="0"/>
              <a:t>30</a:t>
            </a:r>
            <a:r>
              <a:rPr lang="zh-CN" altLang="en-US" dirty="0"/>
              <a:t>帧，假设一个极端情况，各种频点都调到最低，仍然可以满足</a:t>
            </a:r>
            <a:r>
              <a:rPr lang="en-US" altLang="zh-CN" dirty="0"/>
              <a:t>30</a:t>
            </a:r>
            <a:r>
              <a:rPr lang="zh-CN" altLang="en-US" dirty="0"/>
              <a:t>帧的资源需求，那我们后续调频得到的实验结果就是没有意义的。所以我们想要知道是否有什么方法能够解除这个限制或者避免出现这种问题。如果路总您们那边有什么成熟的方案或者经验，希望会后可以分享</a:t>
            </a:r>
            <a:r>
              <a:rPr lang="zh-CN" altLang="en-US" dirty="0"/>
              <a:t>给我们。</a:t>
            </a:r>
            <a:endParaRPr lang="zh-CN" altLang="en-US" dirty="0"/>
          </a:p>
        </p:txBody>
      </p:sp>
      <p:sp>
        <p:nvSpPr>
          <p:cNvPr id="1048654" name="灯片编号占位符 3"/>
          <p:cNvSpPr>
            <a:spLocks noGrp="1"/>
          </p:cNvSpPr>
          <p:nvPr>
            <p:ph type="sldNum" sz="quarter" idx="5"/>
          </p:nvPr>
        </p:nvSpPr>
        <p:spPr/>
        <p:txBody>
          <a:bodyPr/>
          <a:p>
            <a:fld id="{27A46B69-4058-4C3E-B837-513E949B984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A46B69-4058-4C3E-B837-513E949B984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A46B69-4058-4C3E-B837-513E949B984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24" name=""/>
        <p:cNvGrpSpPr/>
        <p:nvPr/>
      </p:nvGrpSpPr>
      <p:grpSpPr>
        <a:xfrm>
          <a:off x="0" y="0"/>
          <a:ext cx="0" cy="0"/>
          <a:chOff x="0" y="0"/>
          <a:chExt cx="0" cy="0"/>
        </a:xfrm>
      </p:grpSpPr>
      <p:sp>
        <p:nvSpPr>
          <p:cNvPr id="1048581"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104858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583" name="日期占位符 3"/>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584" name="页脚占位符 4"/>
          <p:cNvSpPr>
            <a:spLocks noGrp="1"/>
          </p:cNvSpPr>
          <p:nvPr>
            <p:ph type="ftr" sz="quarter" idx="11"/>
          </p:nvPr>
        </p:nvSpPr>
        <p:spPr/>
        <p:txBody>
          <a:bodyPr/>
          <a:p>
            <a:endParaRPr lang="zh-CN" altLang="en-US"/>
          </a:p>
        </p:txBody>
      </p:sp>
      <p:sp>
        <p:nvSpPr>
          <p:cNvPr id="1048585" name="灯片编号占位符 5"/>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01" name=""/>
        <p:cNvGrpSpPr/>
        <p:nvPr/>
      </p:nvGrpSpPr>
      <p:grpSpPr>
        <a:xfrm>
          <a:off x="0" y="0"/>
          <a:ext cx="0" cy="0"/>
          <a:chOff x="0" y="0"/>
          <a:chExt cx="0" cy="0"/>
        </a:xfrm>
      </p:grpSpPr>
      <p:sp>
        <p:nvSpPr>
          <p:cNvPr id="1048974" name="标题 1"/>
          <p:cNvSpPr>
            <a:spLocks noGrp="1"/>
          </p:cNvSpPr>
          <p:nvPr>
            <p:ph type="title"/>
          </p:nvPr>
        </p:nvSpPr>
        <p:spPr/>
        <p:txBody>
          <a:bodyPr/>
          <a:p>
            <a:r>
              <a:rPr lang="zh-CN" altLang="en-US"/>
              <a:t>单击此处编辑母版标题样式</a:t>
            </a:r>
            <a:endParaRPr lang="zh-CN" altLang="en-US"/>
          </a:p>
        </p:txBody>
      </p:sp>
      <p:sp>
        <p:nvSpPr>
          <p:cNvPr id="1048975" name="内容占位符 2"/>
          <p:cNvSpPr>
            <a:spLocks noGrp="1"/>
          </p:cNvSpPr>
          <p:nvPr>
            <p:ph idx="1"/>
          </p:nvPr>
        </p:nvSpPr>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76" name="日期占位符 3"/>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77" name="页脚占位符 4"/>
          <p:cNvSpPr>
            <a:spLocks noGrp="1"/>
          </p:cNvSpPr>
          <p:nvPr>
            <p:ph type="ftr" sz="quarter" idx="11"/>
          </p:nvPr>
        </p:nvSpPr>
        <p:spPr/>
        <p:txBody>
          <a:bodyPr/>
          <a:p>
            <a:endParaRPr lang="zh-CN" altLang="en-US"/>
          </a:p>
        </p:txBody>
      </p:sp>
      <p:sp>
        <p:nvSpPr>
          <p:cNvPr id="1048978" name="灯片编号占位符 5"/>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04" name=""/>
        <p:cNvGrpSpPr/>
        <p:nvPr/>
      </p:nvGrpSpPr>
      <p:grpSpPr>
        <a:xfrm>
          <a:off x="0" y="0"/>
          <a:ext cx="0" cy="0"/>
          <a:chOff x="0" y="0"/>
          <a:chExt cx="0" cy="0"/>
        </a:xfrm>
      </p:grpSpPr>
      <p:sp>
        <p:nvSpPr>
          <p:cNvPr id="104899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1048991"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48992" name="日期占位符 3"/>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93" name="页脚占位符 4"/>
          <p:cNvSpPr>
            <a:spLocks noGrp="1"/>
          </p:cNvSpPr>
          <p:nvPr>
            <p:ph type="ftr" sz="quarter" idx="11"/>
          </p:nvPr>
        </p:nvSpPr>
        <p:spPr/>
        <p:txBody>
          <a:bodyPr/>
          <a:p>
            <a:endParaRPr lang="zh-CN" altLang="en-US"/>
          </a:p>
        </p:txBody>
      </p:sp>
      <p:sp>
        <p:nvSpPr>
          <p:cNvPr id="1048994" name="灯片编号占位符 5"/>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05" name=""/>
        <p:cNvGrpSpPr/>
        <p:nvPr/>
      </p:nvGrpSpPr>
      <p:grpSpPr>
        <a:xfrm>
          <a:off x="0" y="0"/>
          <a:ext cx="0" cy="0"/>
          <a:chOff x="0" y="0"/>
          <a:chExt cx="0" cy="0"/>
        </a:xfrm>
      </p:grpSpPr>
      <p:sp>
        <p:nvSpPr>
          <p:cNvPr id="1048995" name="标题 1"/>
          <p:cNvSpPr>
            <a:spLocks noGrp="1"/>
          </p:cNvSpPr>
          <p:nvPr>
            <p:ph type="title"/>
          </p:nvPr>
        </p:nvSpPr>
        <p:spPr/>
        <p:txBody>
          <a:bodyPr/>
          <a:p>
            <a:r>
              <a:rPr lang="zh-CN" altLang="en-US"/>
              <a:t>单击此处编辑母版标题样式</a:t>
            </a:r>
            <a:endParaRPr lang="zh-CN" altLang="en-US"/>
          </a:p>
        </p:txBody>
      </p:sp>
      <p:sp>
        <p:nvSpPr>
          <p:cNvPr id="1048996" name="内容占位符 2"/>
          <p:cNvSpPr>
            <a:spLocks noGrp="1"/>
          </p:cNvSpPr>
          <p:nvPr>
            <p:ph sz="half" idx="1"/>
          </p:nvPr>
        </p:nvSpPr>
        <p:spPr>
          <a:xfrm>
            <a:off x="838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97" name="内容占位符 3"/>
          <p:cNvSpPr>
            <a:spLocks noGrp="1"/>
          </p:cNvSpPr>
          <p:nvPr>
            <p:ph sz="half" idx="2"/>
          </p:nvPr>
        </p:nvSpPr>
        <p:spPr>
          <a:xfrm>
            <a:off x="6172200" y="1825625"/>
            <a:ext cx="5181600" cy="435133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98" name="日期占位符 4"/>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99" name="页脚占位符 5"/>
          <p:cNvSpPr>
            <a:spLocks noGrp="1"/>
          </p:cNvSpPr>
          <p:nvPr>
            <p:ph type="ftr" sz="quarter" idx="11"/>
          </p:nvPr>
        </p:nvSpPr>
        <p:spPr/>
        <p:txBody>
          <a:bodyPr/>
          <a:p>
            <a:endParaRPr lang="zh-CN" altLang="en-US"/>
          </a:p>
        </p:txBody>
      </p:sp>
      <p:sp>
        <p:nvSpPr>
          <p:cNvPr id="1049000" name="灯片编号占位符 6"/>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06" name=""/>
        <p:cNvGrpSpPr/>
        <p:nvPr/>
      </p:nvGrpSpPr>
      <p:grpSpPr>
        <a:xfrm>
          <a:off x="0" y="0"/>
          <a:ext cx="0" cy="0"/>
          <a:chOff x="0" y="0"/>
          <a:chExt cx="0" cy="0"/>
        </a:xfrm>
      </p:grpSpPr>
      <p:sp>
        <p:nvSpPr>
          <p:cNvPr id="1049001" name="标题 1"/>
          <p:cNvSpPr>
            <a:spLocks noGrp="1"/>
          </p:cNvSpPr>
          <p:nvPr>
            <p:ph type="title"/>
          </p:nvPr>
        </p:nvSpPr>
        <p:spPr>
          <a:xfrm>
            <a:off x="839788" y="365125"/>
            <a:ext cx="10515600" cy="1325563"/>
          </a:xfrm>
        </p:spPr>
        <p:txBody>
          <a:bodyPr/>
          <a:p>
            <a:r>
              <a:rPr lang="zh-CN" altLang="en-US"/>
              <a:t>单击此处编辑母版标题样式</a:t>
            </a:r>
            <a:endParaRPr lang="zh-CN" altLang="en-US"/>
          </a:p>
        </p:txBody>
      </p:sp>
      <p:sp>
        <p:nvSpPr>
          <p:cNvPr id="1049002"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9003" name="内容占位符 3"/>
          <p:cNvSpPr>
            <a:spLocks noGrp="1"/>
          </p:cNvSpPr>
          <p:nvPr>
            <p:ph sz="half" idx="2"/>
          </p:nvPr>
        </p:nvSpPr>
        <p:spPr>
          <a:xfrm>
            <a:off x="839788" y="2505075"/>
            <a:ext cx="5157787"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9004"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49005" name="内容占位符 5"/>
          <p:cNvSpPr>
            <a:spLocks noGrp="1"/>
          </p:cNvSpPr>
          <p:nvPr>
            <p:ph sz="quarter" idx="4"/>
          </p:nvPr>
        </p:nvSpPr>
        <p:spPr>
          <a:xfrm>
            <a:off x="6172200" y="2505075"/>
            <a:ext cx="5183188" cy="3684588"/>
          </a:xfrm>
        </p:spPr>
        <p:txBody>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9006" name="日期占位符 6"/>
          <p:cNvSpPr>
            <a:spLocks noGrp="1"/>
          </p:cNvSpPr>
          <p:nvPr>
            <p:ph type="dt" sz="half" idx="10"/>
          </p:nvPr>
        </p:nvSpPr>
        <p:spPr/>
        <p:txBody>
          <a:bodyPr/>
          <a:p>
            <a:fld id="{5E1E117F-39BC-40EB-91B5-137FD300B4E5}" type="datetimeFigureOut">
              <a:rPr lang="zh-CN" altLang="en-US" smtClean="0"/>
            </a:fld>
            <a:endParaRPr lang="zh-CN" altLang="en-US"/>
          </a:p>
        </p:txBody>
      </p:sp>
      <p:sp>
        <p:nvSpPr>
          <p:cNvPr id="1049007" name="页脚占位符 7"/>
          <p:cNvSpPr>
            <a:spLocks noGrp="1"/>
          </p:cNvSpPr>
          <p:nvPr>
            <p:ph type="ftr" sz="quarter" idx="11"/>
          </p:nvPr>
        </p:nvSpPr>
        <p:spPr/>
        <p:txBody>
          <a:bodyPr/>
          <a:p>
            <a:endParaRPr lang="zh-CN" altLang="en-US"/>
          </a:p>
        </p:txBody>
      </p:sp>
      <p:sp>
        <p:nvSpPr>
          <p:cNvPr id="1049008" name="灯片编号占位符 8"/>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99" name=""/>
        <p:cNvGrpSpPr/>
        <p:nvPr/>
      </p:nvGrpSpPr>
      <p:grpSpPr>
        <a:xfrm>
          <a:off x="0" y="0"/>
          <a:ext cx="0" cy="0"/>
          <a:chOff x="0" y="0"/>
          <a:chExt cx="0" cy="0"/>
        </a:xfrm>
      </p:grpSpPr>
      <p:sp>
        <p:nvSpPr>
          <p:cNvPr id="1048965" name="标题 1"/>
          <p:cNvSpPr>
            <a:spLocks noGrp="1"/>
          </p:cNvSpPr>
          <p:nvPr>
            <p:ph type="title"/>
          </p:nvPr>
        </p:nvSpPr>
        <p:spPr/>
        <p:txBody>
          <a:bodyPr/>
          <a:p>
            <a:r>
              <a:rPr lang="zh-CN" altLang="en-US"/>
              <a:t>单击此处编辑母版标题样式</a:t>
            </a:r>
            <a:endParaRPr lang="zh-CN" altLang="en-US"/>
          </a:p>
        </p:txBody>
      </p:sp>
      <p:sp>
        <p:nvSpPr>
          <p:cNvPr id="1048966" name="日期占位符 2"/>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67" name="页脚占位符 3"/>
          <p:cNvSpPr>
            <a:spLocks noGrp="1"/>
          </p:cNvSpPr>
          <p:nvPr>
            <p:ph type="ftr" sz="quarter" idx="11"/>
          </p:nvPr>
        </p:nvSpPr>
        <p:spPr/>
        <p:txBody>
          <a:bodyPr/>
          <a:p>
            <a:endParaRPr lang="zh-CN" altLang="en-US"/>
          </a:p>
        </p:txBody>
      </p:sp>
      <p:sp>
        <p:nvSpPr>
          <p:cNvPr id="1048968" name="灯片编号占位符 4"/>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7" name=""/>
        <p:cNvGrpSpPr/>
        <p:nvPr/>
      </p:nvGrpSpPr>
      <p:grpSpPr>
        <a:xfrm>
          <a:off x="0" y="0"/>
          <a:ext cx="0" cy="0"/>
          <a:chOff x="0" y="0"/>
          <a:chExt cx="0" cy="0"/>
        </a:xfrm>
      </p:grpSpPr>
      <p:sp>
        <p:nvSpPr>
          <p:cNvPr id="1049009" name="日期占位符 1"/>
          <p:cNvSpPr>
            <a:spLocks noGrp="1"/>
          </p:cNvSpPr>
          <p:nvPr>
            <p:ph type="dt" sz="half" idx="10"/>
          </p:nvPr>
        </p:nvSpPr>
        <p:spPr/>
        <p:txBody>
          <a:bodyPr/>
          <a:p>
            <a:fld id="{5E1E117F-39BC-40EB-91B5-137FD300B4E5}" type="datetimeFigureOut">
              <a:rPr lang="zh-CN" altLang="en-US" smtClean="0"/>
            </a:fld>
            <a:endParaRPr lang="zh-CN" altLang="en-US"/>
          </a:p>
        </p:txBody>
      </p:sp>
      <p:sp>
        <p:nvSpPr>
          <p:cNvPr id="1049010" name="页脚占位符 2"/>
          <p:cNvSpPr>
            <a:spLocks noGrp="1"/>
          </p:cNvSpPr>
          <p:nvPr>
            <p:ph type="ftr" sz="quarter" idx="11"/>
          </p:nvPr>
        </p:nvSpPr>
        <p:spPr/>
        <p:txBody>
          <a:bodyPr/>
          <a:p>
            <a:endParaRPr lang="zh-CN" altLang="en-US"/>
          </a:p>
        </p:txBody>
      </p:sp>
      <p:sp>
        <p:nvSpPr>
          <p:cNvPr id="1049011" name="灯片编号占位符 3"/>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08" name=""/>
        <p:cNvGrpSpPr/>
        <p:nvPr/>
      </p:nvGrpSpPr>
      <p:grpSpPr>
        <a:xfrm>
          <a:off x="0" y="0"/>
          <a:ext cx="0" cy="0"/>
          <a:chOff x="0" y="0"/>
          <a:chExt cx="0" cy="0"/>
        </a:xfrm>
      </p:grpSpPr>
      <p:sp>
        <p:nvSpPr>
          <p:cNvPr id="104901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901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901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9015" name="日期占位符 4"/>
          <p:cNvSpPr>
            <a:spLocks noGrp="1"/>
          </p:cNvSpPr>
          <p:nvPr>
            <p:ph type="dt" sz="half" idx="10"/>
          </p:nvPr>
        </p:nvSpPr>
        <p:spPr/>
        <p:txBody>
          <a:bodyPr/>
          <a:p>
            <a:fld id="{5E1E117F-39BC-40EB-91B5-137FD300B4E5}" type="datetimeFigureOut">
              <a:rPr lang="zh-CN" altLang="en-US" smtClean="0"/>
            </a:fld>
            <a:endParaRPr lang="zh-CN" altLang="en-US"/>
          </a:p>
        </p:txBody>
      </p:sp>
      <p:sp>
        <p:nvSpPr>
          <p:cNvPr id="1049016" name="页脚占位符 5"/>
          <p:cNvSpPr>
            <a:spLocks noGrp="1"/>
          </p:cNvSpPr>
          <p:nvPr>
            <p:ph type="ftr" sz="quarter" idx="11"/>
          </p:nvPr>
        </p:nvSpPr>
        <p:spPr/>
        <p:txBody>
          <a:bodyPr/>
          <a:p>
            <a:endParaRPr lang="zh-CN" altLang="en-US"/>
          </a:p>
        </p:txBody>
      </p:sp>
      <p:sp>
        <p:nvSpPr>
          <p:cNvPr id="1049017" name="灯片编号占位符 6"/>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02" name=""/>
        <p:cNvGrpSpPr/>
        <p:nvPr/>
      </p:nvGrpSpPr>
      <p:grpSpPr>
        <a:xfrm>
          <a:off x="0" y="0"/>
          <a:ext cx="0" cy="0"/>
          <a:chOff x="0" y="0"/>
          <a:chExt cx="0" cy="0"/>
        </a:xfrm>
      </p:grpSpPr>
      <p:sp>
        <p:nvSpPr>
          <p:cNvPr id="104897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980"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98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48982" name="日期占位符 4"/>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83" name="页脚占位符 5"/>
          <p:cNvSpPr>
            <a:spLocks noGrp="1"/>
          </p:cNvSpPr>
          <p:nvPr>
            <p:ph type="ftr" sz="quarter" idx="11"/>
          </p:nvPr>
        </p:nvSpPr>
        <p:spPr/>
        <p:txBody>
          <a:bodyPr/>
          <a:p>
            <a:endParaRPr lang="zh-CN" altLang="en-US"/>
          </a:p>
        </p:txBody>
      </p:sp>
      <p:sp>
        <p:nvSpPr>
          <p:cNvPr id="1048984" name="灯片编号占位符 6"/>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03" name=""/>
        <p:cNvGrpSpPr/>
        <p:nvPr/>
      </p:nvGrpSpPr>
      <p:grpSpPr>
        <a:xfrm>
          <a:off x="0" y="0"/>
          <a:ext cx="0" cy="0"/>
          <a:chOff x="0" y="0"/>
          <a:chExt cx="0" cy="0"/>
        </a:xfrm>
      </p:grpSpPr>
      <p:sp>
        <p:nvSpPr>
          <p:cNvPr id="1048985" name="标题 1"/>
          <p:cNvSpPr>
            <a:spLocks noGrp="1"/>
          </p:cNvSpPr>
          <p:nvPr>
            <p:ph type="title"/>
          </p:nvPr>
        </p:nvSpPr>
        <p:spPr/>
        <p:txBody>
          <a:bodyPr/>
          <a:p>
            <a:r>
              <a:rPr lang="zh-CN" altLang="en-US"/>
              <a:t>单击此处编辑母版标题样式</a:t>
            </a:r>
            <a:endParaRPr lang="zh-CN" altLang="en-US"/>
          </a:p>
        </p:txBody>
      </p:sp>
      <p:sp>
        <p:nvSpPr>
          <p:cNvPr id="1048986" name="竖排文字占位符 2"/>
          <p:cNvSpPr>
            <a:spLocks noGrp="1"/>
          </p:cNvSpPr>
          <p:nvPr>
            <p:ph type="body" orient="vert" idx="1"/>
          </p:nvPr>
        </p:nvSpPr>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87" name="日期占位符 3"/>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88" name="页脚占位符 4"/>
          <p:cNvSpPr>
            <a:spLocks noGrp="1"/>
          </p:cNvSpPr>
          <p:nvPr>
            <p:ph type="ftr" sz="quarter" idx="11"/>
          </p:nvPr>
        </p:nvSpPr>
        <p:spPr/>
        <p:txBody>
          <a:bodyPr/>
          <a:p>
            <a:endParaRPr lang="zh-CN" altLang="en-US"/>
          </a:p>
        </p:txBody>
      </p:sp>
      <p:sp>
        <p:nvSpPr>
          <p:cNvPr id="1048989" name="灯片编号占位符 5"/>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00" name=""/>
        <p:cNvGrpSpPr/>
        <p:nvPr/>
      </p:nvGrpSpPr>
      <p:grpSpPr>
        <a:xfrm>
          <a:off x="0" y="0"/>
          <a:ext cx="0" cy="0"/>
          <a:chOff x="0" y="0"/>
          <a:chExt cx="0" cy="0"/>
        </a:xfrm>
      </p:grpSpPr>
      <p:sp>
        <p:nvSpPr>
          <p:cNvPr id="1048969" name="竖排标题 1"/>
          <p:cNvSpPr>
            <a:spLocks noGrp="1"/>
          </p:cNvSpPr>
          <p:nvPr>
            <p:ph type="title" orient="vert"/>
          </p:nvPr>
        </p:nvSpPr>
        <p:spPr>
          <a:xfrm>
            <a:off x="8724900" y="365125"/>
            <a:ext cx="2628900" cy="5811838"/>
          </a:xfrm>
        </p:spPr>
        <p:txBody>
          <a:bodyPr vert="eaVert"/>
          <a:p>
            <a:r>
              <a:rPr lang="zh-CN" altLang="en-US"/>
              <a:t>单击此处编辑母版标题样式</a:t>
            </a:r>
            <a:endParaRPr lang="zh-CN" altLang="en-US"/>
          </a:p>
        </p:txBody>
      </p:sp>
      <p:sp>
        <p:nvSpPr>
          <p:cNvPr id="1048970" name="竖排文字占位符 2"/>
          <p:cNvSpPr>
            <a:spLocks noGrp="1"/>
          </p:cNvSpPr>
          <p:nvPr>
            <p:ph type="body" orient="vert" idx="1"/>
          </p:nvPr>
        </p:nvSpPr>
        <p:spPr>
          <a:xfrm>
            <a:off x="838200" y="365125"/>
            <a:ext cx="7734300" cy="5811838"/>
          </a:xfrm>
        </p:spPr>
        <p:txBody>
          <a:bodyPr vert="eaVert"/>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971" name="日期占位符 3"/>
          <p:cNvSpPr>
            <a:spLocks noGrp="1"/>
          </p:cNvSpPr>
          <p:nvPr>
            <p:ph type="dt" sz="half" idx="10"/>
          </p:nvPr>
        </p:nvSpPr>
        <p:spPr/>
        <p:txBody>
          <a:bodyPr/>
          <a:p>
            <a:fld id="{5E1E117F-39BC-40EB-91B5-137FD300B4E5}" type="datetimeFigureOut">
              <a:rPr lang="zh-CN" altLang="en-US" smtClean="0"/>
            </a:fld>
            <a:endParaRPr lang="zh-CN" altLang="en-US"/>
          </a:p>
        </p:txBody>
      </p:sp>
      <p:sp>
        <p:nvSpPr>
          <p:cNvPr id="1048972" name="页脚占位符 4"/>
          <p:cNvSpPr>
            <a:spLocks noGrp="1"/>
          </p:cNvSpPr>
          <p:nvPr>
            <p:ph type="ftr" sz="quarter" idx="11"/>
          </p:nvPr>
        </p:nvSpPr>
        <p:spPr/>
        <p:txBody>
          <a:bodyPr/>
          <a:p>
            <a:endParaRPr lang="zh-CN" altLang="en-US"/>
          </a:p>
        </p:txBody>
      </p:sp>
      <p:sp>
        <p:nvSpPr>
          <p:cNvPr id="1048973" name="灯片编号占位符 5"/>
          <p:cNvSpPr>
            <a:spLocks noGrp="1"/>
          </p:cNvSpPr>
          <p:nvPr>
            <p:ph type="sldNum" sz="quarter" idx="12"/>
          </p:nvPr>
        </p:nvSpPr>
        <p:spPr/>
        <p:txBody>
          <a:bodyPr/>
          <a:p>
            <a:fld id="{05022FEC-3EA2-407D-9EF7-09AC3AEC6C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1E117F-39BC-40EB-91B5-137FD300B4E5}"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22FEC-3EA2-407D-9EF7-09AC3AEC6C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image" Target="../media/image5.png"/><Relationship Id="rId10" Type="http://schemas.openxmlformats.org/officeDocument/2006/relationships/image" Target="../media/image4.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tags" Target="../tags/tag10.xml"/><Relationship Id="rId3" Type="http://schemas.openxmlformats.org/officeDocument/2006/relationships/image" Target="../media/image10.png"/><Relationship Id="rId2" Type="http://schemas.openxmlformats.org/officeDocument/2006/relationships/tags" Target="../tags/tag9.xml"/><Relationship Id="rId12" Type="http://schemas.openxmlformats.org/officeDocument/2006/relationships/notesSlide" Target="../notesSlides/notesSlide7.xml"/><Relationship Id="rId11" Type="http://schemas.openxmlformats.org/officeDocument/2006/relationships/slideLayout" Target="../slideLayouts/slideLayout1.xml"/><Relationship Id="rId10" Type="http://schemas.openxmlformats.org/officeDocument/2006/relationships/image" Target="../media/image16.png"/><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tags" Target="../tags/tag13.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tags" Target="../tags/tag12.xml"/><Relationship Id="rId16" Type="http://schemas.openxmlformats.org/officeDocument/2006/relationships/notesSlide" Target="../notesSlides/notesSlide8.xml"/><Relationship Id="rId15" Type="http://schemas.openxmlformats.org/officeDocument/2006/relationships/slideLayout" Target="../slideLayouts/slideLayout1.xml"/><Relationship Id="rId14"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01"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02"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29"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603"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04" name="文本框 11"/>
          <p:cNvSpPr txBox="1"/>
          <p:nvPr/>
        </p:nvSpPr>
        <p:spPr>
          <a:xfrm>
            <a:off x="370148" y="188438"/>
            <a:ext cx="1781035" cy="523220"/>
          </a:xfrm>
          <a:prstGeom prst="rect">
            <a:avLst/>
          </a:prstGeom>
          <a:noFill/>
        </p:spPr>
        <p:txBody>
          <a:bodyPr wrap="square" rtlCol="0">
            <a:spAutoFit/>
          </a:bodyPr>
          <a:p>
            <a:pPr algn="ctr"/>
            <a:r>
              <a:rPr lang="zh-CN" altLang="en-US" sz="2800" b="1" dirty="0">
                <a:solidFill>
                  <a:schemeClr val="accent1"/>
                </a:solidFill>
                <a:latin typeface="微软雅黑" panose="020B0503020204020204" pitchFamily="34" charset="-122"/>
                <a:ea typeface="微软雅黑" panose="020B0503020204020204" pitchFamily="34" charset="-122"/>
              </a:rPr>
              <a:t>研究内容</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605" name="文本框 12"/>
          <p:cNvSpPr txBox="1"/>
          <p:nvPr/>
        </p:nvSpPr>
        <p:spPr>
          <a:xfrm>
            <a:off x="2205572" y="390469"/>
            <a:ext cx="1554479" cy="358140"/>
          </a:xfrm>
          <a:prstGeom prst="rect">
            <a:avLst/>
          </a:prstGeom>
          <a:noFill/>
        </p:spPr>
        <p:txBody>
          <a:bodyPr wrap="none" rtlCol="0">
            <a:spAutoFit/>
          </a:bodyPr>
          <a:p>
            <a:r>
              <a:rPr lang="en-US" altLang="en-US" b="1" dirty="0">
                <a:solidFill>
                  <a:schemeClr val="bg2">
                    <a:lumMod val="50000"/>
                  </a:schemeClr>
                </a:solidFill>
                <a:latin typeface="微软雅黑" panose="020B0503020204020204" pitchFamily="34" charset="-122"/>
                <a:ea typeface="微软雅黑" panose="020B0503020204020204" pitchFamily="34" charset="-122"/>
              </a:rPr>
              <a:t>资源交互</a:t>
            </a:r>
            <a:r>
              <a:rPr lang="en-US" altLang="en-US" b="1" dirty="0">
                <a:solidFill>
                  <a:schemeClr val="bg2">
                    <a:lumMod val="50000"/>
                  </a:schemeClr>
                </a:solidFill>
                <a:latin typeface="微软雅黑" panose="020B0503020204020204" pitchFamily="34" charset="-122"/>
                <a:ea typeface="微软雅黑" panose="020B0503020204020204" pitchFamily="34" charset="-122"/>
              </a:rPr>
              <a:t>影响</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606"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pic>
        <p:nvPicPr>
          <p:cNvPr id="2097182" name="图片 2097181"/>
          <p:cNvPicPr/>
          <p:nvPr/>
        </p:nvPicPr>
        <p:blipFill>
          <a:blip r:embed="rId1"/>
          <a:stretch>
            <a:fillRect/>
          </a:stretch>
        </p:blipFill>
        <p:spPr>
          <a:xfrm>
            <a:off x="3760051" y="1262792"/>
            <a:ext cx="4440041" cy="4190255"/>
          </a:xfrm>
          <a:prstGeom prst="rect">
            <a:avLst/>
          </a:prstGeom>
        </p:spPr>
      </p:pic>
      <p:sp>
        <p:nvSpPr>
          <p:cNvPr id="1049025" name="文本框 18"/>
          <p:cNvSpPr txBox="1"/>
          <p:nvPr/>
        </p:nvSpPr>
        <p:spPr>
          <a:xfrm>
            <a:off x="3658061" y="5754676"/>
            <a:ext cx="4875879" cy="398780"/>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altLang="en-US" sz="2000">
                <a:ea typeface="等线" panose="02010600030101010101" charset="-122"/>
              </a:rPr>
              <a:t>jetson</a:t>
            </a:r>
            <a:r>
              <a:rPr lang="en-US" altLang="en-US" sz="2000">
                <a:ea typeface="等线" panose="02010600030101010101" charset="-122"/>
              </a:rPr>
              <a:t> </a:t>
            </a:r>
            <a:r>
              <a:rPr lang="en-US" altLang="en-US" sz="2000">
                <a:ea typeface="等线" panose="02010600030101010101" charset="-122"/>
              </a:rPr>
              <a:t>tx</a:t>
            </a:r>
            <a:r>
              <a:rPr lang="en-US" altLang="en-US" sz="2000">
                <a:ea typeface="等线" panose="02010600030101010101" charset="-122"/>
              </a:rPr>
              <a:t>2</a:t>
            </a:r>
            <a:r>
              <a:rPr lang="en-US" altLang="en-US" sz="2000">
                <a:ea typeface="等线" panose="02010600030101010101" charset="-122"/>
              </a:rPr>
              <a:t> </a:t>
            </a:r>
            <a:r>
              <a:rPr lang="en-US" altLang="en-US" sz="2000">
                <a:ea typeface="等线" panose="02010600030101010101" charset="-122"/>
              </a:rPr>
              <a:t>nx</a:t>
            </a:r>
            <a:r>
              <a:rPr lang="en-US" altLang="en-US" sz="2000">
                <a:ea typeface="等线" panose="02010600030101010101" charset="-122"/>
              </a:rPr>
              <a:t>上</a:t>
            </a:r>
            <a:r>
              <a:rPr lang="en-US" altLang="en-US" sz="2000">
                <a:ea typeface="等线" panose="02010600030101010101" charset="-122"/>
              </a:rPr>
              <a:t>测试</a:t>
            </a:r>
            <a:r>
              <a:rPr lang="en-US" altLang="en-US" sz="2000">
                <a:ea typeface="等线" panose="02010600030101010101" charset="-122"/>
              </a:rPr>
              <a:t>得到的RI</a:t>
            </a:r>
            <a:r>
              <a:rPr lang="en-US" altLang="en-US" sz="2000">
                <a:ea typeface="等线" panose="02010600030101010101" charset="-122"/>
              </a:rPr>
              <a:t>矩阵</a:t>
            </a:r>
            <a:endParaRPr lang="zh-CN"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587"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28"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588"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589" name="文本框 11"/>
          <p:cNvSpPr txBox="1"/>
          <p:nvPr/>
        </p:nvSpPr>
        <p:spPr>
          <a:xfrm>
            <a:off x="370148" y="188438"/>
            <a:ext cx="1781035" cy="523220"/>
          </a:xfrm>
          <a:prstGeom prst="rect">
            <a:avLst/>
          </a:prstGeom>
          <a:noFill/>
        </p:spPr>
        <p:txBody>
          <a:bodyPr wrap="square" rtlCol="0">
            <a:spAutoFit/>
          </a:bodyPr>
          <a:p>
            <a:pPr algn="ctr"/>
            <a:r>
              <a:rPr lang="zh-CN" altLang="en-US" sz="2800" b="1" dirty="0">
                <a:solidFill>
                  <a:schemeClr val="accent1"/>
                </a:solidFill>
                <a:latin typeface="微软雅黑" panose="020B0503020204020204" pitchFamily="34" charset="-122"/>
                <a:ea typeface="微软雅黑" panose="020B0503020204020204" pitchFamily="34" charset="-122"/>
              </a:rPr>
              <a:t>研究内容</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590" name="文本框 12"/>
          <p:cNvSpPr txBox="1"/>
          <p:nvPr/>
        </p:nvSpPr>
        <p:spPr>
          <a:xfrm>
            <a:off x="2205572" y="390469"/>
            <a:ext cx="1554480" cy="368300"/>
          </a:xfrm>
          <a:prstGeom prst="rect">
            <a:avLst/>
          </a:prstGeom>
          <a:noFill/>
        </p:spPr>
        <p:txBody>
          <a:bodyPr wrap="none" rtlCol="0">
            <a:spAutoFit/>
          </a:bodyPr>
          <a:p>
            <a:r>
              <a:rPr lang="zh-CN" altLang="en-US" b="1" dirty="0">
                <a:solidFill>
                  <a:schemeClr val="bg2">
                    <a:lumMod val="50000"/>
                  </a:schemeClr>
                </a:solidFill>
                <a:latin typeface="微软雅黑" panose="020B0503020204020204" pitchFamily="34" charset="-122"/>
                <a:ea typeface="微软雅黑" panose="020B0503020204020204" pitchFamily="34" charset="-122"/>
              </a:rPr>
              <a:t>资源交互</a:t>
            </a:r>
            <a:r>
              <a:rPr lang="zh-CN" altLang="en-US" b="1" dirty="0">
                <a:solidFill>
                  <a:schemeClr val="bg2">
                    <a:lumMod val="50000"/>
                  </a:schemeClr>
                </a:solidFill>
                <a:latin typeface="微软雅黑" panose="020B0503020204020204" pitchFamily="34" charset="-122"/>
                <a:ea typeface="微软雅黑" panose="020B0503020204020204" pitchFamily="34" charset="-122"/>
              </a:rPr>
              <a:t>影响</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591"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48592" name="文本框 10"/>
          <p:cNvSpPr txBox="1"/>
          <p:nvPr>
            <p:custDataLst>
              <p:tags r:id="rId1"/>
            </p:custDataLst>
          </p:nvPr>
        </p:nvSpPr>
        <p:spPr>
          <a:xfrm>
            <a:off x="5974080" y="1573530"/>
            <a:ext cx="5139055" cy="901065"/>
          </a:xfrm>
          <a:prstGeom prst="roundRect">
            <a:avLst>
              <a:gd name="adj" fmla="val 7719"/>
            </a:avLst>
          </a:prstGeom>
          <a:solidFill>
            <a:srgbClr val="D9D9D9"/>
          </a:solidFill>
          <a:ln w="12700" cap="flat" cmpd="sng" algn="ctr">
            <a:noFill/>
            <a:prstDash val="dash"/>
          </a:ln>
          <a:effectLst>
            <a:outerShdw blurRad="50800" dist="38100" dir="2700000" algn="tl" rotWithShape="0">
              <a:prstClr val="black">
                <a:alpha val="40000"/>
              </a:prstClr>
            </a:outerShdw>
          </a:effectLst>
        </p:spPr>
        <p:txBody>
          <a:bodyPr rtlCol="0" anchor="b"/>
          <a:lstStyle>
            <a:defPPr>
              <a:defRPr lang="zh-CN"/>
            </a:defPPr>
            <a:lvl1pPr marR="0" lvl="0" indent="0" algn="ctr" fontAlgn="auto">
              <a:lnSpc>
                <a:spcPct val="100000"/>
              </a:lnSpc>
              <a:spcBef>
                <a:spcPts val="0"/>
              </a:spcBef>
              <a:spcAft>
                <a:spcPts val="0"/>
              </a:spcAft>
              <a:buClrTx/>
              <a:buSzTx/>
              <a:buFontTx/>
              <a:buNone/>
              <a:defRPr kumimoji="0" sz="140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457200"/>
            <a:endParaRPr lang="zh-CN" altLang="en-US" sz="1600" kern="0" dirty="0">
              <a:latin typeface="Times New Roman" panose="02020603050405020304" pitchFamily="18" charset="0"/>
            </a:endParaRPr>
          </a:p>
        </p:txBody>
      </p:sp>
      <p:sp>
        <p:nvSpPr>
          <p:cNvPr id="1048593" name="文本框 18"/>
          <p:cNvSpPr txBox="1"/>
          <p:nvPr>
            <p:custDataLst>
              <p:tags r:id="rId2"/>
            </p:custDataLst>
          </p:nvPr>
        </p:nvSpPr>
        <p:spPr>
          <a:xfrm>
            <a:off x="6186805" y="1826895"/>
            <a:ext cx="4219575" cy="398780"/>
          </a:xfrm>
          <a:prstGeom prst="rect">
            <a:avLst/>
          </a:prstGeom>
          <a:noFill/>
        </p:spPr>
        <p:txBody>
          <a:bodyPr wrap="square" rtlCol="0">
            <a:spAutoFit/>
          </a:bodyPr>
          <a:p>
            <a:r>
              <a:rPr lang="zh-CN" altLang="en-US" sz="2000"/>
              <a:t>根据资源利用率来确定主导</a:t>
            </a:r>
            <a:r>
              <a:rPr lang="zh-CN" altLang="en-US" sz="2000"/>
              <a:t>资源</a:t>
            </a:r>
            <a:endParaRPr lang="zh-CN" altLang="en-US" sz="2000"/>
          </a:p>
        </p:txBody>
      </p:sp>
      <p:sp>
        <p:nvSpPr>
          <p:cNvPr id="1048594" name="文本框 22"/>
          <p:cNvSpPr txBox="1"/>
          <p:nvPr>
            <p:custDataLst>
              <p:tags r:id="rId3"/>
            </p:custDataLst>
          </p:nvPr>
        </p:nvSpPr>
        <p:spPr>
          <a:xfrm>
            <a:off x="5974080" y="2985135"/>
            <a:ext cx="5139055" cy="901065"/>
          </a:xfrm>
          <a:prstGeom prst="roundRect">
            <a:avLst>
              <a:gd name="adj" fmla="val 7719"/>
            </a:avLst>
          </a:prstGeom>
          <a:solidFill>
            <a:srgbClr val="D9D9D9"/>
          </a:solidFill>
          <a:ln w="12700" cap="flat" cmpd="sng" algn="ctr">
            <a:noFill/>
            <a:prstDash val="dash"/>
          </a:ln>
          <a:effectLst>
            <a:outerShdw blurRad="50800" dist="38100" dir="2700000" algn="tl" rotWithShape="0">
              <a:prstClr val="black">
                <a:alpha val="40000"/>
              </a:prstClr>
            </a:outerShdw>
          </a:effectLst>
        </p:spPr>
        <p:txBody>
          <a:bodyPr rtlCol="0" anchor="b"/>
          <a:lstStyle>
            <a:defPPr>
              <a:defRPr lang="zh-CN"/>
            </a:defPPr>
            <a:lvl1pPr marR="0" lvl="0" indent="0" algn="ctr" fontAlgn="auto">
              <a:lnSpc>
                <a:spcPct val="100000"/>
              </a:lnSpc>
              <a:spcBef>
                <a:spcPts val="0"/>
              </a:spcBef>
              <a:spcAft>
                <a:spcPts val="0"/>
              </a:spcAft>
              <a:buClrTx/>
              <a:buSzTx/>
              <a:buFontTx/>
              <a:buNone/>
              <a:defRPr kumimoji="0" sz="140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457200"/>
            <a:endParaRPr lang="zh-CN" altLang="en-US" sz="1600" kern="0" dirty="0">
              <a:latin typeface="Times New Roman" panose="02020603050405020304" pitchFamily="18" charset="0"/>
            </a:endParaRPr>
          </a:p>
        </p:txBody>
      </p:sp>
      <p:sp>
        <p:nvSpPr>
          <p:cNvPr id="1048595" name="文本框 24"/>
          <p:cNvSpPr txBox="1"/>
          <p:nvPr>
            <p:custDataLst>
              <p:tags r:id="rId4"/>
            </p:custDataLst>
          </p:nvPr>
        </p:nvSpPr>
        <p:spPr>
          <a:xfrm>
            <a:off x="5974080" y="4645025"/>
            <a:ext cx="5126189" cy="901065"/>
          </a:xfrm>
          <a:prstGeom prst="roundRect">
            <a:avLst>
              <a:gd name="adj" fmla="val 7719"/>
            </a:avLst>
          </a:prstGeom>
          <a:solidFill>
            <a:srgbClr val="D9D9D9"/>
          </a:solidFill>
          <a:ln w="12700" cap="flat" cmpd="sng" algn="ctr">
            <a:noFill/>
            <a:prstDash val="dash"/>
          </a:ln>
          <a:effectLst>
            <a:outerShdw blurRad="50800" dist="38100" dir="2700000" algn="tl" rotWithShape="0">
              <a:prstClr val="black">
                <a:alpha val="40000"/>
              </a:prstClr>
            </a:outerShdw>
          </a:effectLst>
        </p:spPr>
        <p:txBody>
          <a:bodyPr rtlCol="0" anchor="b"/>
          <a:lstStyle>
            <a:defPPr>
              <a:defRPr lang="zh-CN"/>
            </a:defPPr>
            <a:lvl1pPr marR="0" lvl="0" indent="0" algn="ctr" fontAlgn="auto">
              <a:lnSpc>
                <a:spcPct val="100000"/>
              </a:lnSpc>
              <a:spcBef>
                <a:spcPts val="0"/>
              </a:spcBef>
              <a:spcAft>
                <a:spcPts val="0"/>
              </a:spcAft>
              <a:buClrTx/>
              <a:buSzTx/>
              <a:buFontTx/>
              <a:buNone/>
              <a:defRPr kumimoji="0" sz="140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457200"/>
            <a:endParaRPr lang="zh-CN" altLang="en-US" sz="1600" kern="0" dirty="0">
              <a:latin typeface="Times New Roman" panose="02020603050405020304" pitchFamily="18" charset="0"/>
            </a:endParaRPr>
          </a:p>
        </p:txBody>
      </p:sp>
      <p:sp>
        <p:nvSpPr>
          <p:cNvPr id="1048596" name="文本框 25"/>
          <p:cNvSpPr txBox="1"/>
          <p:nvPr>
            <p:custDataLst>
              <p:tags r:id="rId5"/>
            </p:custDataLst>
          </p:nvPr>
        </p:nvSpPr>
        <p:spPr>
          <a:xfrm>
            <a:off x="6186805" y="4772660"/>
            <a:ext cx="4901868" cy="706755"/>
          </a:xfrm>
          <a:prstGeom prst="rect">
            <a:avLst/>
          </a:prstGeom>
          <a:noFill/>
        </p:spPr>
        <p:txBody>
          <a:bodyPr wrap="square" rtlCol="0">
            <a:spAutoFit/>
          </a:bodyPr>
          <a:p>
            <a:r>
              <a:rPr lang="zh-CN" altLang="en-US" sz="2000"/>
              <a:t>考虑资源间的交互影响，根据效用来确定主导</a:t>
            </a:r>
            <a:r>
              <a:rPr lang="zh-CN" altLang="en-US" sz="2000"/>
              <a:t>资源</a:t>
            </a:r>
            <a:endParaRPr lang="zh-CN" altLang="en-US" sz="2000"/>
          </a:p>
        </p:txBody>
      </p:sp>
      <p:pic>
        <p:nvPicPr>
          <p:cNvPr id="2097152" name="图片 0"/>
          <p:cNvPicPr/>
          <p:nvPr>
            <p:custDataLst>
              <p:tags r:id="rId6"/>
            </p:custDataLst>
          </p:nvPr>
        </p:nvPicPr>
        <p:blipFill>
          <a:blip r:embed="rId7"/>
          <a:stretch>
            <a:fillRect/>
          </a:stretch>
        </p:blipFill>
        <p:spPr>
          <a:xfrm>
            <a:off x="1728470" y="1682115"/>
            <a:ext cx="2346960" cy="792480"/>
          </a:xfrm>
          <a:prstGeom prst="rect">
            <a:avLst/>
          </a:prstGeom>
        </p:spPr>
      </p:pic>
      <p:pic>
        <p:nvPicPr>
          <p:cNvPr id="2097153" name="图片 1"/>
          <p:cNvPicPr/>
          <p:nvPr/>
        </p:nvPicPr>
        <p:blipFill>
          <a:blip r:embed="rId8"/>
          <a:stretch>
            <a:fillRect/>
          </a:stretch>
        </p:blipFill>
        <p:spPr>
          <a:xfrm>
            <a:off x="1367155" y="3194685"/>
            <a:ext cx="3230880" cy="784860"/>
          </a:xfrm>
          <a:prstGeom prst="rect">
            <a:avLst/>
          </a:prstGeom>
        </p:spPr>
      </p:pic>
      <p:sp>
        <p:nvSpPr>
          <p:cNvPr id="1048597" name="文本框 18"/>
          <p:cNvSpPr txBox="1"/>
          <p:nvPr>
            <p:custDataLst>
              <p:tags r:id="rId9"/>
            </p:custDataLst>
          </p:nvPr>
        </p:nvSpPr>
        <p:spPr>
          <a:xfrm>
            <a:off x="6186805" y="3300095"/>
            <a:ext cx="4219575" cy="398780"/>
          </a:xfrm>
          <a:prstGeom prst="rect">
            <a:avLst/>
          </a:prstGeom>
          <a:noFill/>
        </p:spPr>
        <p:txBody>
          <a:bodyPr wrap="square" rtlCol="0">
            <a:spAutoFit/>
          </a:bodyPr>
          <a:p>
            <a:r>
              <a:rPr lang="zh-CN" altLang="en-US" sz="2000"/>
              <a:t>不采用利用率，取用归一化</a:t>
            </a:r>
            <a:r>
              <a:rPr lang="zh-CN" altLang="en-US" sz="2000"/>
              <a:t>指标</a:t>
            </a:r>
            <a:endParaRPr lang="zh-CN" altLang="en-US" sz="2000"/>
          </a:p>
        </p:txBody>
      </p:sp>
      <p:pic>
        <p:nvPicPr>
          <p:cNvPr id="2097154" name="图片 3"/>
          <p:cNvPicPr/>
          <p:nvPr/>
        </p:nvPicPr>
        <p:blipFill>
          <a:blip r:embed="rId10"/>
          <a:stretch>
            <a:fillRect/>
          </a:stretch>
        </p:blipFill>
        <p:spPr>
          <a:xfrm>
            <a:off x="1542415" y="4700270"/>
            <a:ext cx="2880360" cy="845820"/>
          </a:xfrm>
          <a:prstGeom prst="rect">
            <a:avLst/>
          </a:prstGeom>
        </p:spPr>
      </p:pic>
      <p:pic>
        <p:nvPicPr>
          <p:cNvPr id="2" name="图片 1"/>
          <p:cNvPicPr/>
          <p:nvPr/>
        </p:nvPicPr>
        <p:blipFill>
          <a:blip r:embed="rId11"/>
          <a:stretch>
            <a:fillRect/>
          </a:stretch>
        </p:blipFill>
        <p:spPr>
          <a:xfrm>
            <a:off x="1542415" y="5636260"/>
            <a:ext cx="7444740" cy="7086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4"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15"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30"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616"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17" name="文本框 11"/>
          <p:cNvSpPr txBox="1"/>
          <p:nvPr/>
        </p:nvSpPr>
        <p:spPr>
          <a:xfrm>
            <a:off x="370148" y="188438"/>
            <a:ext cx="1781035" cy="523220"/>
          </a:xfrm>
          <a:prstGeom prst="rect">
            <a:avLst/>
          </a:prstGeom>
          <a:noFill/>
        </p:spPr>
        <p:txBody>
          <a:bodyPr wrap="square" rtlCol="0">
            <a:spAutoFit/>
          </a:bodyPr>
          <a:p>
            <a:pPr algn="ctr"/>
            <a:r>
              <a:rPr lang="zh-CN" altLang="en-US" sz="2800" b="1" dirty="0">
                <a:solidFill>
                  <a:schemeClr val="accent1"/>
                </a:solidFill>
                <a:latin typeface="微软雅黑" panose="020B0503020204020204" pitchFamily="34" charset="-122"/>
                <a:ea typeface="微软雅黑" panose="020B0503020204020204" pitchFamily="34" charset="-122"/>
              </a:rPr>
              <a:t>研究内容</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618" name="文本框 12"/>
          <p:cNvSpPr txBox="1"/>
          <p:nvPr/>
        </p:nvSpPr>
        <p:spPr>
          <a:xfrm>
            <a:off x="2205572" y="390469"/>
            <a:ext cx="1554479" cy="358140"/>
          </a:xfrm>
          <a:prstGeom prst="rect">
            <a:avLst/>
          </a:prstGeom>
          <a:noFill/>
        </p:spPr>
        <p:txBody>
          <a:bodyPr wrap="none" rtlCol="0">
            <a:spAutoFit/>
          </a:bodyPr>
          <a:p>
            <a:r>
              <a:rPr lang="en-US" altLang="en-US" b="1" dirty="0">
                <a:solidFill>
                  <a:schemeClr val="bg2">
                    <a:lumMod val="50000"/>
                  </a:schemeClr>
                </a:solidFill>
                <a:latin typeface="微软雅黑" panose="020B0503020204020204" pitchFamily="34" charset="-122"/>
                <a:ea typeface="微软雅黑" panose="020B0503020204020204" pitchFamily="34" charset="-122"/>
              </a:rPr>
              <a:t>资源交互影响</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619"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graphicFrame>
        <p:nvGraphicFramePr>
          <p:cNvPr id="4194304" name="表格 4194303"/>
          <p:cNvGraphicFramePr/>
          <p:nvPr/>
        </p:nvGraphicFramePr>
        <p:xfrm>
          <a:off x="1524000" y="1804208"/>
          <a:ext cx="9144000" cy="870871"/>
        </p:xfrm>
        <a:graphic>
          <a:graphicData uri="http://schemas.openxmlformats.org/drawingml/2006/table">
            <a:tbl>
              <a:tblPr firstRow="1" bandRow="1">
                <a:tableStyleId>{5940675A-B579-460E-94D1-54222C63F5DA}</a:tableStyleId>
              </a:tblPr>
              <a:tblGrid>
                <a:gridCol w="1828800"/>
                <a:gridCol w="1828800"/>
                <a:gridCol w="1828800"/>
                <a:gridCol w="1828800"/>
                <a:gridCol w="1828800"/>
              </a:tblGrid>
              <a:tr h="870871">
                <a:tc>
                  <a:txBody>
                    <a:bodyPr/>
                    <a:lstStyle/>
                    <a:p>
                      <a:pPr algn="ctr"/>
                      <a:r>
                        <a:rPr lang="en-US" altLang="en-US"/>
                        <a:t>…</a:t>
                      </a:r>
                      <a:endParaRPr lang="en-US" altLang="en-US"/>
                    </a:p>
                  </a:txBody>
                  <a:tcPr anchor="ctr" anchorCtr="0"/>
                </a:tc>
                <a:tc>
                  <a:txBody>
                    <a:bodyPr/>
                    <a:lstStyle/>
                    <a:p>
                      <a:r>
                        <a:rPr lang="en-US" altLang="en-US"/>
                        <a:t>uti</a:t>
                      </a:r>
                      <a:r>
                        <a:rPr lang="en-US" altLang="en-US"/>
                        <a:t>_</a:t>
                      </a:r>
                      <a:r>
                        <a:rPr lang="en-US" altLang="en-US"/>
                        <a:t>cpu</a:t>
                      </a:r>
                      <a:endParaRPr lang="en-US" altLang="en-US"/>
                    </a:p>
                  </a:txBody>
                  <a:tcPr anchor="ctr" anchorCtr="1"/>
                </a:tc>
                <a:tc>
                  <a:txBody>
                    <a:bodyPr/>
                    <a:lstStyle/>
                    <a:p>
                      <a:r>
                        <a:rPr lang="en-US" altLang="en-US"/>
                        <a:t>uti</a:t>
                      </a:r>
                      <a:r>
                        <a:rPr lang="en-US" altLang="en-US"/>
                        <a:t>_</a:t>
                      </a:r>
                      <a:r>
                        <a:rPr lang="en-US" altLang="en-US"/>
                        <a:t>gpu</a:t>
                      </a:r>
                      <a:endParaRPr lang="en-US" altLang="en-US"/>
                    </a:p>
                  </a:txBody>
                  <a:tcPr anchor="ctr" anchorCtr="1"/>
                </a:tc>
                <a:tc>
                  <a:txBody>
                    <a:bodyPr/>
                    <a:lstStyle/>
                    <a:p>
                      <a:r>
                        <a:rPr lang="en-US" altLang="en-US"/>
                        <a:t>uti</a:t>
                      </a:r>
                      <a:r>
                        <a:rPr lang="en-US" altLang="en-US"/>
                        <a:t>_</a:t>
                      </a:r>
                      <a:r>
                        <a:rPr lang="en-US" altLang="en-US"/>
                        <a:t>bw</a:t>
                      </a:r>
                      <a:endParaRPr lang="en-US" altLang="en-US"/>
                    </a:p>
                  </a:txBody>
                  <a:tcPr anchor="ctr" anchorCtr="1"/>
                </a:tc>
                <a:tc>
                  <a:txBody>
                    <a:bodyPr/>
                    <a:lstStyle/>
                    <a:p>
                      <a:r>
                        <a:rPr lang="en-US" altLang="en-US"/>
                        <a:t>…</a:t>
                      </a:r>
                      <a:endParaRPr lang="en-US" altLang="en-US"/>
                    </a:p>
                  </a:txBody>
                  <a:tcPr anchor="ctr" anchorCtr="1"/>
                </a:tc>
              </a:tr>
            </a:tbl>
          </a:graphicData>
        </a:graphic>
      </p:graphicFrame>
      <p:graphicFrame>
        <p:nvGraphicFramePr>
          <p:cNvPr id="4194306" name="表格 4194305"/>
          <p:cNvGraphicFramePr/>
          <p:nvPr/>
        </p:nvGraphicFramePr>
        <p:xfrm>
          <a:off x="1524000" y="4535954"/>
          <a:ext cx="9144000" cy="870871"/>
        </p:xfrm>
        <a:graphic>
          <a:graphicData uri="http://schemas.openxmlformats.org/drawingml/2006/table">
            <a:tbl>
              <a:tblPr firstRow="1" bandRow="1">
                <a:tableStyleId>{5940675A-B579-460E-94D1-54222C63F5DA}</a:tableStyleId>
              </a:tblPr>
              <a:tblGrid>
                <a:gridCol w="1828800"/>
                <a:gridCol w="1828800"/>
                <a:gridCol w="1828800"/>
                <a:gridCol w="1828800"/>
                <a:gridCol w="1828800"/>
              </a:tblGrid>
              <a:tr h="870871">
                <a:tc>
                  <a:txBody>
                    <a:bodyPr/>
                    <a:p>
                      <a:pPr algn="ctr"/>
                      <a:r>
                        <a:rPr lang="en-US" altLang="en-US"/>
                        <a:t>…</a:t>
                      </a:r>
                      <a:endParaRPr lang="en-US" altLang="en-US"/>
                    </a:p>
                  </a:txBody>
                  <a:tcPr anchor="ctr" anchorCtr="0"/>
                </a:tc>
                <a:tc>
                  <a:txBody>
                    <a:bodyPr/>
                    <a:p>
                      <a:r>
                        <a:rPr lang="en-US" altLang="en-US"/>
                        <a:t>U</a:t>
                      </a:r>
                      <a:r>
                        <a:rPr lang="en-US" altLang="en-US"/>
                        <a:t>_</a:t>
                      </a:r>
                      <a:r>
                        <a:rPr lang="en-US" altLang="en-US"/>
                        <a:t>cpu</a:t>
                      </a:r>
                      <a:endParaRPr lang="en-US" altLang="en-US"/>
                    </a:p>
                  </a:txBody>
                  <a:tcPr anchor="ctr" anchorCtr="1"/>
                </a:tc>
                <a:tc>
                  <a:txBody>
                    <a:bodyPr/>
                    <a:p>
                      <a:r>
                        <a:rPr lang="en-US" altLang="en-US"/>
                        <a:t>U</a:t>
                      </a:r>
                      <a:r>
                        <a:rPr lang="en-US" altLang="en-US"/>
                        <a:t>_</a:t>
                      </a:r>
                      <a:r>
                        <a:rPr lang="en-US" altLang="en-US"/>
                        <a:t>gpu</a:t>
                      </a:r>
                      <a:endParaRPr lang="en-US" altLang="en-US"/>
                    </a:p>
                  </a:txBody>
                  <a:tcPr anchor="ctr" anchorCtr="1"/>
                </a:tc>
                <a:tc>
                  <a:txBody>
                    <a:bodyPr/>
                    <a:p>
                      <a:r>
                        <a:rPr lang="en-US" altLang="en-US"/>
                        <a:t>U</a:t>
                      </a:r>
                      <a:r>
                        <a:rPr lang="en-US" altLang="en-US"/>
                        <a:t>_</a:t>
                      </a:r>
                      <a:r>
                        <a:rPr lang="en-US" altLang="en-US"/>
                        <a:t>me</a:t>
                      </a:r>
                      <a:r>
                        <a:rPr lang="en-US" altLang="en-US"/>
                        <a:t>m</a:t>
                      </a:r>
                      <a:endParaRPr lang="en-US" altLang="en-US"/>
                    </a:p>
                  </a:txBody>
                  <a:tcPr anchor="ctr" anchorCtr="1"/>
                </a:tc>
                <a:tc>
                  <a:txBody>
                    <a:bodyPr/>
                    <a:p>
                      <a:r>
                        <a:rPr lang="en-US" altLang="en-US"/>
                        <a:t>…</a:t>
                      </a:r>
                      <a:endParaRPr lang="en-US" altLang="en-US"/>
                    </a:p>
                  </a:txBody>
                  <a:tcPr anchor="ctr" anchorCtr="1"/>
                </a:tc>
              </a:tr>
            </a:tbl>
          </a:graphicData>
        </a:graphic>
      </p:graphicFrame>
      <p:cxnSp>
        <p:nvCxnSpPr>
          <p:cNvPr id="3145751" name="直接箭头连接符 3145750"/>
          <p:cNvCxnSpPr/>
          <p:nvPr/>
        </p:nvCxnSpPr>
        <p:spPr>
          <a:xfrm flipH="1">
            <a:off x="6181925" y="2872806"/>
            <a:ext cx="2540" cy="1287780"/>
          </a:xfrm>
          <a:prstGeom prst="straightConnector1">
            <a:avLst/>
          </a:prstGeom>
          <a:solidFill>
            <a:srgbClr val="FFFFFF"/>
          </a:solidFill>
          <a:ln w="25400">
            <a:solidFill>
              <a:srgbClr val="666666"/>
            </a:solidFill>
            <a:tailEnd type="triangle" w="lg" len="lg"/>
          </a:ln>
        </p:spPr>
      </p:cxnSp>
      <p:sp>
        <p:nvSpPr>
          <p:cNvPr id="1049029" name="文本框 18"/>
          <p:cNvSpPr txBox="1"/>
          <p:nvPr/>
        </p:nvSpPr>
        <p:spPr>
          <a:xfrm>
            <a:off x="4437316" y="1088489"/>
            <a:ext cx="2988902" cy="396240"/>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altLang="en-US" sz="2000">
                <a:latin typeface="Arial" panose="020B0604020202020204"/>
                <a:ea typeface="等线" panose="02010600030101010101" charset="-122"/>
              </a:rPr>
              <a:t>优化</a:t>
            </a:r>
            <a:r>
              <a:rPr lang="en-US" altLang="en-US" sz="2000">
                <a:latin typeface="Arial" panose="020B0604020202020204"/>
                <a:ea typeface="等线" panose="02010600030101010101" charset="-122"/>
              </a:rPr>
              <a:t>负载的</a:t>
            </a:r>
            <a:r>
              <a:rPr lang="en-US" altLang="en-US" sz="2000">
                <a:latin typeface="Arial" panose="020B0604020202020204"/>
                <a:ea typeface="等线" panose="02010600030101010101" charset="-122"/>
              </a:rPr>
              <a:t>向量化</a:t>
            </a:r>
            <a:r>
              <a:rPr lang="en-US" altLang="en-US" sz="2000">
                <a:latin typeface="Arial" panose="020B0604020202020204"/>
                <a:ea typeface="等线" panose="02010600030101010101" charset="-122"/>
              </a:rPr>
              <a:t>表示</a:t>
            </a:r>
            <a:endParaRPr lang="zh-CN"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3"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24"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31"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625"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26" name="文本框 11"/>
          <p:cNvSpPr txBox="1"/>
          <p:nvPr/>
        </p:nvSpPr>
        <p:spPr>
          <a:xfrm>
            <a:off x="370148" y="188438"/>
            <a:ext cx="1781035" cy="523220"/>
          </a:xfrm>
          <a:prstGeom prst="rect">
            <a:avLst/>
          </a:prstGeom>
          <a:noFill/>
        </p:spPr>
        <p:txBody>
          <a:bodyPr wrap="square" rtlCol="0">
            <a:spAutoFit/>
          </a:bodyPr>
          <a:p>
            <a:pPr algn="ctr"/>
            <a:r>
              <a:rPr lang="zh-CN" altLang="en-US" sz="2800" b="1" dirty="0">
                <a:solidFill>
                  <a:schemeClr val="accent1"/>
                </a:solidFill>
                <a:latin typeface="微软雅黑" panose="020B0503020204020204" pitchFamily="34" charset="-122"/>
                <a:ea typeface="微软雅黑" panose="020B0503020204020204" pitchFamily="34" charset="-122"/>
              </a:rPr>
              <a:t>研究内容</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627" name="文本框 12"/>
          <p:cNvSpPr txBox="1"/>
          <p:nvPr/>
        </p:nvSpPr>
        <p:spPr>
          <a:xfrm>
            <a:off x="2205572" y="390469"/>
            <a:ext cx="1554480" cy="358140"/>
          </a:xfrm>
          <a:prstGeom prst="rect">
            <a:avLst/>
          </a:prstGeom>
          <a:noFill/>
        </p:spPr>
        <p:txBody>
          <a:bodyPr wrap="none" rtlCol="0">
            <a:spAutoFit/>
          </a:bodyPr>
          <a:p>
            <a:r>
              <a:rPr lang="en-US" altLang="en-US" b="1" dirty="0">
                <a:solidFill>
                  <a:schemeClr val="bg2">
                    <a:lumMod val="50000"/>
                  </a:schemeClr>
                </a:solidFill>
                <a:latin typeface="微软雅黑" panose="020B0503020204020204" pitchFamily="34" charset="-122"/>
                <a:ea typeface="微软雅黑" panose="020B0503020204020204" pitchFamily="34" charset="-122"/>
              </a:rPr>
              <a:t>功耗</a:t>
            </a:r>
            <a:r>
              <a:rPr lang="en-US" altLang="en-US" b="1" dirty="0">
                <a:solidFill>
                  <a:schemeClr val="bg2">
                    <a:lumMod val="50000"/>
                  </a:schemeClr>
                </a:solidFill>
                <a:latin typeface="微软雅黑" panose="020B0503020204020204" pitchFamily="34" charset="-122"/>
                <a:ea typeface="微软雅黑" panose="020B0503020204020204" pitchFamily="34" charset="-122"/>
              </a:rPr>
              <a:t>模型</a:t>
            </a:r>
            <a:r>
              <a:rPr lang="en-US" altLang="en-US" b="1" dirty="0">
                <a:solidFill>
                  <a:schemeClr val="bg2">
                    <a:lumMod val="50000"/>
                  </a:schemeClr>
                </a:solidFill>
                <a:latin typeface="微软雅黑" panose="020B0503020204020204" pitchFamily="34" charset="-122"/>
                <a:ea typeface="微软雅黑" panose="020B0503020204020204" pitchFamily="34" charset="-122"/>
              </a:rPr>
              <a:t>验证</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628"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pic>
        <p:nvPicPr>
          <p:cNvPr id="2097184" name="图片 2097183"/>
          <p:cNvPicPr/>
          <p:nvPr/>
        </p:nvPicPr>
        <p:blipFill>
          <a:blip r:embed="rId1"/>
          <a:stretch>
            <a:fillRect/>
          </a:stretch>
        </p:blipFill>
        <p:spPr>
          <a:xfrm>
            <a:off x="2205571" y="1252062"/>
            <a:ext cx="6351638" cy="1208486"/>
          </a:xfrm>
          <a:prstGeom prst="rect">
            <a:avLst/>
          </a:prstGeom>
        </p:spPr>
      </p:pic>
      <p:pic>
        <p:nvPicPr>
          <p:cNvPr id="2" name="图片 1"/>
          <p:cNvPicPr/>
          <p:nvPr/>
        </p:nvPicPr>
        <p:blipFill>
          <a:blip r:embed="rId2"/>
          <a:stretch>
            <a:fillRect/>
          </a:stretch>
        </p:blipFill>
        <p:spPr>
          <a:xfrm>
            <a:off x="6793230" y="2254885"/>
            <a:ext cx="4577715" cy="3804285"/>
          </a:xfrm>
          <a:prstGeom prst="rect">
            <a:avLst/>
          </a:prstGeom>
        </p:spPr>
      </p:pic>
      <p:pic>
        <p:nvPicPr>
          <p:cNvPr id="3" name="图片 2"/>
          <p:cNvPicPr>
            <a:picLocks noChangeAspect="1"/>
          </p:cNvPicPr>
          <p:nvPr/>
        </p:nvPicPr>
        <p:blipFill>
          <a:blip r:embed="rId3"/>
          <a:stretch>
            <a:fillRect/>
          </a:stretch>
        </p:blipFill>
        <p:spPr>
          <a:xfrm>
            <a:off x="1750695" y="2460625"/>
            <a:ext cx="2446020" cy="891540"/>
          </a:xfrm>
          <a:prstGeom prst="rect">
            <a:avLst/>
          </a:prstGeom>
        </p:spPr>
      </p:pic>
      <p:pic>
        <p:nvPicPr>
          <p:cNvPr id="5" name="图片 4"/>
          <p:cNvPicPr>
            <a:picLocks noChangeAspect="1"/>
          </p:cNvPicPr>
          <p:nvPr/>
        </p:nvPicPr>
        <p:blipFill>
          <a:blip r:embed="rId4"/>
          <a:stretch>
            <a:fillRect/>
          </a:stretch>
        </p:blipFill>
        <p:spPr>
          <a:xfrm>
            <a:off x="1750695" y="4505325"/>
            <a:ext cx="2979420" cy="472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9"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0"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32"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641"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2" name="文本框 11"/>
          <p:cNvSpPr txBox="1"/>
          <p:nvPr/>
        </p:nvSpPr>
        <p:spPr>
          <a:xfrm>
            <a:off x="370148" y="188438"/>
            <a:ext cx="1781035" cy="521970"/>
          </a:xfrm>
          <a:prstGeom prst="rect">
            <a:avLst/>
          </a:prstGeom>
          <a:noFill/>
        </p:spPr>
        <p:txBody>
          <a:bodyPr wrap="square" rtlCol="0">
            <a:spAutoFit/>
          </a:bodyPr>
          <a:p>
            <a:pPr algn="ctr"/>
            <a:r>
              <a:rPr lang="zh-CN" altLang="en-US" sz="2800" b="1" dirty="0">
                <a:solidFill>
                  <a:schemeClr val="accent1"/>
                </a:solidFill>
                <a:latin typeface="微软雅黑" panose="020B0503020204020204" pitchFamily="34" charset="-122"/>
                <a:ea typeface="微软雅黑" panose="020B0503020204020204" pitchFamily="34" charset="-122"/>
              </a:rPr>
              <a:t>当前</a:t>
            </a:r>
            <a:r>
              <a:rPr lang="zh-CN" altLang="en-US" sz="2800" b="1" dirty="0">
                <a:solidFill>
                  <a:schemeClr val="accent1"/>
                </a:solidFill>
                <a:latin typeface="微软雅黑" panose="020B0503020204020204" pitchFamily="34" charset="-122"/>
                <a:ea typeface="微软雅黑" panose="020B0503020204020204" pitchFamily="34" charset="-122"/>
              </a:rPr>
              <a:t>进展</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643" name="文本框 12"/>
          <p:cNvSpPr txBox="1"/>
          <p:nvPr/>
        </p:nvSpPr>
        <p:spPr>
          <a:xfrm>
            <a:off x="2205572" y="390469"/>
            <a:ext cx="2011680" cy="368300"/>
          </a:xfrm>
          <a:prstGeom prst="rect">
            <a:avLst/>
          </a:prstGeom>
          <a:noFill/>
        </p:spPr>
        <p:txBody>
          <a:bodyPr wrap="none" rtlCol="0">
            <a:spAutoFit/>
          </a:bodyPr>
          <a:p>
            <a:r>
              <a:rPr lang="en-US" altLang="en-US" b="1" dirty="0">
                <a:solidFill>
                  <a:schemeClr val="bg2">
                    <a:lumMod val="50000"/>
                  </a:schemeClr>
                </a:solidFill>
                <a:latin typeface="微软雅黑" panose="020B0503020204020204" pitchFamily="34" charset="-122"/>
                <a:ea typeface="微软雅黑" panose="020B0503020204020204" pitchFamily="34" charset="-122"/>
              </a:rPr>
              <a:t>终端数据测试</a:t>
            </a:r>
            <a:r>
              <a:rPr lang="zh-CN" altLang="en-US" b="1" dirty="0">
                <a:solidFill>
                  <a:schemeClr val="bg2">
                    <a:lumMod val="50000"/>
                  </a:schemeClr>
                </a:solidFill>
                <a:latin typeface="微软雅黑" panose="020B0503020204020204" pitchFamily="34" charset="-122"/>
                <a:ea typeface="微软雅黑" panose="020B0503020204020204" pitchFamily="34" charset="-122"/>
              </a:rPr>
              <a:t>进展</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644"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48649" name="Freeform 9"/>
          <p:cNvSpPr/>
          <p:nvPr/>
        </p:nvSpPr>
        <p:spPr>
          <a:xfrm>
            <a:off x="1831340" y="1622425"/>
            <a:ext cx="7243445" cy="970915"/>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p>
            <a:pPr lvl="0" algn="ctr" defTabSz="889000">
              <a:lnSpc>
                <a:spcPct val="90000"/>
              </a:lnSpc>
              <a:spcBef>
                <a:spcPct val="0"/>
              </a:spcBef>
              <a:spcAft>
                <a:spcPct val="35000"/>
              </a:spcAft>
            </a:pP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跑通</a:t>
            </a:r>
            <a:r>
              <a:rPr lang="en-US" altLang="zh-CN" sz="1600" b="1" kern="1200" dirty="0">
                <a:latin typeface="Georgia" panose="02040502050405020303" pitchFamily="18" charset="0"/>
                <a:ea typeface="Microsoft YaHei UI" panose="020B0503020204020204" pitchFamily="34" charset="-122"/>
                <a:cs typeface="Times New Roman" panose="02020603050405020304" pitchFamily="18" charset="0"/>
              </a:rPr>
              <a:t>ptrace</a:t>
            </a: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a:t>
            </a:r>
            <a:r>
              <a:rPr lang="en-US" altLang="zh-CN" sz="1600" b="1" kern="1200" dirty="0">
                <a:latin typeface="Georgia" panose="02040502050405020303" pitchFamily="18" charset="0"/>
                <a:ea typeface="Microsoft YaHei UI" panose="020B0503020204020204" pitchFamily="34" charset="-122"/>
                <a:cs typeface="Times New Roman" panose="02020603050405020304" pitchFamily="18" charset="0"/>
              </a:rPr>
              <a:t>deveco testing</a:t>
            </a: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和</a:t>
            </a:r>
            <a:r>
              <a:rPr lang="en-US" altLang="zh-CN" sz="1600" b="1" kern="1200" dirty="0">
                <a:latin typeface="Georgia" panose="02040502050405020303" pitchFamily="18" charset="0"/>
                <a:ea typeface="Microsoft YaHei UI" panose="020B0503020204020204" pitchFamily="34" charset="-122"/>
                <a:cs typeface="Times New Roman" panose="02020603050405020304" pitchFamily="18" charset="0"/>
              </a:rPr>
              <a:t>deveco testing hypuim</a:t>
            </a: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的操作流程</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049033" name="Freeform 9"/>
          <p:cNvSpPr/>
          <p:nvPr/>
        </p:nvSpPr>
        <p:spPr>
          <a:xfrm>
            <a:off x="1831340" y="3154680"/>
            <a:ext cx="7243445" cy="970915"/>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rgbClr val="4472C4"/>
          </a:solidFill>
          <a:ln>
            <a:noFill/>
          </a:ln>
        </p:spPr>
        <p:txBody>
          <a:bodyPr spcFirstLastPara="0" vert="horz" wrap="square" lIns="250696" tIns="27171" rIns="250696" bIns="27171" numCol="1" spcCol="1270" anchor="ctr" anchorCtr="0">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defTabSz="889000">
              <a:lnSpc>
                <a:spcPct val="90000"/>
              </a:lnSpc>
              <a:spcBef>
                <a:spcPct val="0"/>
              </a:spcBef>
              <a:spcAft>
                <a:spcPct val="35000"/>
              </a:spcAft>
            </a:pP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明确需要测试的负载</a:t>
            </a: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场景</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049034" name="Freeform 9"/>
          <p:cNvSpPr/>
          <p:nvPr/>
        </p:nvSpPr>
        <p:spPr>
          <a:xfrm>
            <a:off x="1831340" y="4926965"/>
            <a:ext cx="7243445" cy="970915"/>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rgbClr val="4472C4"/>
          </a:solidFill>
          <a:ln>
            <a:noFill/>
          </a:ln>
        </p:spPr>
        <p:txBody>
          <a:bodyPr spcFirstLastPara="0" vert="horz" wrap="square" lIns="250696" tIns="27171" rIns="250696" bIns="27171" numCol="1" spcCol="1270" anchor="ctr" anchorCtr="0">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defTabSz="889000">
              <a:lnSpc>
                <a:spcPct val="90000"/>
              </a:lnSpc>
              <a:spcBef>
                <a:spcPct val="0"/>
              </a:spcBef>
              <a:spcAft>
                <a:spcPct val="35000"/>
              </a:spcAft>
            </a:pP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实现了部分负载的场景化测试</a:t>
            </a: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脚本</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9"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0"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3145732"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48641"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8642" name="文本框 11"/>
          <p:cNvSpPr txBox="1"/>
          <p:nvPr/>
        </p:nvSpPr>
        <p:spPr>
          <a:xfrm>
            <a:off x="370148" y="188438"/>
            <a:ext cx="1781035" cy="521970"/>
          </a:xfrm>
          <a:prstGeom prst="rect">
            <a:avLst/>
          </a:prstGeom>
          <a:noFill/>
        </p:spPr>
        <p:txBody>
          <a:bodyPr wrap="square" rtlCol="0">
            <a:spAutoFit/>
          </a:bodyPr>
          <a:p>
            <a:pPr algn="ctr"/>
            <a:r>
              <a:rPr lang="en-US" altLang="en-US" sz="2800" b="1" dirty="0">
                <a:solidFill>
                  <a:schemeClr val="accent1"/>
                </a:solidFill>
                <a:latin typeface="微软雅黑" panose="020B0503020204020204" pitchFamily="34" charset="-122"/>
                <a:ea typeface="微软雅黑" panose="020B0503020204020204" pitchFamily="34" charset="-122"/>
              </a:rPr>
              <a:t>当前</a:t>
            </a:r>
            <a:r>
              <a:rPr lang="zh-CN" altLang="en-US" sz="2800" b="1" dirty="0">
                <a:solidFill>
                  <a:schemeClr val="accent1"/>
                </a:solidFill>
                <a:latin typeface="微软雅黑" panose="020B0503020204020204" pitchFamily="34" charset="-122"/>
                <a:ea typeface="微软雅黑" panose="020B0503020204020204" pitchFamily="34" charset="-122"/>
              </a:rPr>
              <a:t>问题</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048643" name="文本框 12"/>
          <p:cNvSpPr txBox="1"/>
          <p:nvPr/>
        </p:nvSpPr>
        <p:spPr>
          <a:xfrm>
            <a:off x="2205572" y="390469"/>
            <a:ext cx="2011680" cy="368300"/>
          </a:xfrm>
          <a:prstGeom prst="rect">
            <a:avLst/>
          </a:prstGeom>
          <a:noFill/>
        </p:spPr>
        <p:txBody>
          <a:bodyPr wrap="none" rtlCol="0">
            <a:spAutoFit/>
          </a:bodyPr>
          <a:p>
            <a:r>
              <a:rPr lang="en-US" altLang="en-US" b="1" dirty="0">
                <a:solidFill>
                  <a:schemeClr val="bg2">
                    <a:lumMod val="50000"/>
                  </a:schemeClr>
                </a:solidFill>
                <a:latin typeface="微软雅黑" panose="020B0503020204020204" pitchFamily="34" charset="-122"/>
                <a:ea typeface="微软雅黑" panose="020B0503020204020204" pitchFamily="34" charset="-122"/>
              </a:rPr>
              <a:t>终端数据测试</a:t>
            </a:r>
            <a:r>
              <a:rPr lang="zh-CN" altLang="en-US" b="1" dirty="0">
                <a:solidFill>
                  <a:schemeClr val="bg2">
                    <a:lumMod val="50000"/>
                  </a:schemeClr>
                </a:solidFill>
                <a:latin typeface="微软雅黑" panose="020B0503020204020204" pitchFamily="34" charset="-122"/>
                <a:ea typeface="微软雅黑" panose="020B0503020204020204" pitchFamily="34" charset="-122"/>
              </a:rPr>
              <a:t>问题</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048644" name="灯片编号占位符 1"/>
          <p:cNvSpPr>
            <a:spLocks noGrp="1"/>
          </p:cNvSpPr>
          <p:nvPr>
            <p:ph type="sldNum" sz="quarter" idx="12"/>
          </p:nvPr>
        </p:nvSpPr>
        <p:spPr>
          <a:xfrm>
            <a:off x="11439784" y="209348"/>
            <a:ext cx="555675" cy="365125"/>
          </a:xfrm>
        </p:spPr>
        <p:txBody>
          <a:bodyPr/>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48649" name="Freeform 9"/>
          <p:cNvSpPr/>
          <p:nvPr/>
        </p:nvSpPr>
        <p:spPr>
          <a:xfrm>
            <a:off x="2205572" y="1622623"/>
            <a:ext cx="6869188" cy="970603"/>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p>
            <a:pPr lvl="0" algn="ctr" defTabSz="889000">
              <a:lnSpc>
                <a:spcPct val="90000"/>
              </a:lnSpc>
              <a:spcBef>
                <a:spcPct val="0"/>
              </a:spcBef>
              <a:spcAft>
                <a:spcPct val="35000"/>
              </a:spcAft>
            </a:pP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是否需要</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windows</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上</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写脚本</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实现</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开启</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ptrace</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导出</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功耗</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数据</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等操作</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049033" name="Freeform 9"/>
          <p:cNvSpPr/>
          <p:nvPr/>
        </p:nvSpPr>
        <p:spPr>
          <a:xfrm>
            <a:off x="2205572" y="3154920"/>
            <a:ext cx="6869188" cy="970603"/>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rgbClr val="4472C4"/>
          </a:solidFill>
          <a:ln>
            <a:noFill/>
          </a:ln>
        </p:spPr>
        <p:txBody>
          <a:bodyPr spcFirstLastPara="0" vert="horz" wrap="square" lIns="250696" tIns="27171" rIns="250696" bIns="27171" numCol="1" spcCol="1270" anchor="ctr" anchorCtr="0">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defTabSz="889000">
              <a:lnSpc>
                <a:spcPct val="90000"/>
              </a:lnSpc>
              <a:spcBef>
                <a:spcPct val="0"/>
              </a:spcBef>
              <a:spcAft>
                <a:spcPct val="35000"/>
              </a:spcAft>
            </a:pP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功耗数据</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存在</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负值</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是要</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调节</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ptrace</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还是</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人为处理</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049034" name="Freeform 9"/>
          <p:cNvSpPr/>
          <p:nvPr/>
        </p:nvSpPr>
        <p:spPr>
          <a:xfrm>
            <a:off x="2205571" y="4926916"/>
            <a:ext cx="6869188" cy="970603"/>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rgbClr val="4472C4"/>
          </a:solidFill>
          <a:ln>
            <a:noFill/>
          </a:ln>
        </p:spPr>
        <p:txBody>
          <a:bodyPr spcFirstLastPara="0" vert="horz" wrap="square" lIns="250696" tIns="27171" rIns="250696" bIns="27171" numCol="1" spcCol="1270" anchor="ctr" anchorCtr="0">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defTabSz="889000">
              <a:lnSpc>
                <a:spcPct val="90000"/>
              </a:lnSpc>
              <a:spcBef>
                <a:spcPct val="0"/>
              </a:spcBef>
              <a:spcAft>
                <a:spcPct val="35000"/>
              </a:spcAft>
            </a:pP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终端上</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存在</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锁帧</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现象</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可能影响</a:t>
            </a:r>
            <a:r>
              <a:rPr lang="en-US" altLang="en-US" sz="1600" b="1" kern="1200" dirty="0">
                <a:latin typeface="Georgia" panose="02040502050405020303" pitchFamily="18" charset="0"/>
                <a:ea typeface="Microsoft YaHei UI" panose="020B0503020204020204" pitchFamily="34" charset="-122"/>
                <a:cs typeface="Times New Roman" panose="02020603050405020304" pitchFamily="18" charset="0"/>
                <a:sym typeface="+mn-ea"/>
              </a:rPr>
              <a:t>实验结果</a:t>
            </a:r>
            <a:endPar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28"/>
          <p:cNvSpPr/>
          <p:nvPr>
            <p:custDataLst>
              <p:tags r:id="rId1"/>
            </p:custDataLst>
          </p:nvPr>
        </p:nvSpPr>
        <p:spPr>
          <a:xfrm>
            <a:off x="586970" y="4442607"/>
            <a:ext cx="11041913" cy="2137825"/>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3"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6"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11439784" y="209348"/>
            <a:ext cx="555675" cy="365125"/>
          </a:xfrm>
        </p:spPr>
        <p:txBody>
          <a:bodyPr/>
          <a:lstStyle/>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矩形: 圆角 28"/>
          <p:cNvSpPr/>
          <p:nvPr>
            <p:custDataLst>
              <p:tags r:id="rId2"/>
            </p:custDataLst>
          </p:nvPr>
        </p:nvSpPr>
        <p:spPr>
          <a:xfrm>
            <a:off x="586970" y="1313365"/>
            <a:ext cx="3585503" cy="2619696"/>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8" name="Freeform 9"/>
          <p:cNvSpPr/>
          <p:nvPr/>
        </p:nvSpPr>
        <p:spPr>
          <a:xfrm>
            <a:off x="1098987" y="1043004"/>
            <a:ext cx="1960337"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en-US" altLang="zh-CN" sz="1600" b="1" dirty="0">
                <a:latin typeface="Georgia" panose="02040502050405020303" pitchFamily="18" charset="0"/>
                <a:ea typeface="Microsoft YaHei UI" panose="020B0503020204020204" pitchFamily="34" charset="-122"/>
                <a:cs typeface="Times New Roman" panose="02020603050405020304" pitchFamily="18" charset="0"/>
              </a:rPr>
              <a:t>DVFS </a:t>
            </a:r>
            <a:r>
              <a:rPr lang="zh-CN" altLang="en-US" sz="1600" b="1" dirty="0">
                <a:latin typeface="Georgia" panose="02040502050405020303" pitchFamily="18" charset="0"/>
                <a:ea typeface="Microsoft YaHei UI" panose="020B0503020204020204" pitchFamily="34" charset="-122"/>
                <a:cs typeface="Times New Roman" panose="02020603050405020304" pitchFamily="18" charset="0"/>
              </a:rPr>
              <a:t>基本关系</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0" name="文本框 9"/>
          <p:cNvSpPr txBox="1"/>
          <p:nvPr/>
        </p:nvSpPr>
        <p:spPr>
          <a:xfrm>
            <a:off x="370148" y="188438"/>
            <a:ext cx="1781035"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功耗模型</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2205572" y="390469"/>
            <a:ext cx="1107996" cy="369332"/>
          </a:xfrm>
          <a:prstGeom prst="rect">
            <a:avLst/>
          </a:prstGeom>
          <a:noFill/>
        </p:spPr>
        <p:txBody>
          <a:bodyPr wrap="none" rtlCol="0">
            <a:spAutoFit/>
          </a:bodyPr>
          <a:lstStyle/>
          <a:p>
            <a:r>
              <a:rPr lang="zh-CN" altLang="en-US" b="1" dirty="0">
                <a:solidFill>
                  <a:schemeClr val="bg2">
                    <a:lumMod val="50000"/>
                  </a:schemeClr>
                </a:solidFill>
                <a:latin typeface="微软雅黑" panose="020B0503020204020204" pitchFamily="34" charset="-122"/>
                <a:ea typeface="微软雅黑" panose="020B0503020204020204" pitchFamily="34" charset="-122"/>
              </a:rPr>
              <a:t>预设方案</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766575" y="2008971"/>
                <a:ext cx="3073020" cy="562718"/>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动态功耗：</a:t>
                </a:r>
                <a14:m>
                  <m:oMath xmlns:m="http://schemas.openxmlformats.org/officeDocument/2006/math">
                    <m:sSub>
                      <m:sSubPr>
                        <m:ctrlPr>
                          <a:rPr lang="en-US" altLang="zh-CN" sz="1400" b="1" i="1" smtClean="0">
                            <a:solidFill>
                              <a:prstClr val="black"/>
                            </a:solidFill>
                            <a:latin typeface="Cambria Math" panose="02040503050406030204" pitchFamily="18" charset="0"/>
                            <a:ea typeface="Microsoft YaHei UI" panose="020B0503020204020204" pitchFamily="34" charset="-122"/>
                          </a:rPr>
                        </m:ctrlPr>
                      </m:sSubPr>
                      <m:e>
                        <m:r>
                          <m:rPr>
                            <m:sty m:val="p"/>
                          </m:rPr>
                          <a:rPr lang="en-US" altLang="zh-CN" sz="1400" b="1" i="1">
                            <a:solidFill>
                              <a:prstClr val="black"/>
                            </a:solidFill>
                            <a:latin typeface="Cambria Math" panose="02040503050406030204" pitchFamily="18" charset="0"/>
                            <a:ea typeface="Microsoft YaHei UI" panose="020B0503020204020204" pitchFamily="34" charset="-122"/>
                          </a:rPr>
                          <m:t>P</m:t>
                        </m:r>
                      </m:e>
                      <m:sub>
                        <m:r>
                          <a:rPr lang="en-US" altLang="zh-CN" sz="1400" b="1" i="1" smtClean="0">
                            <a:solidFill>
                              <a:prstClr val="black"/>
                            </a:solidFill>
                            <a:latin typeface="Cambria Math" panose="02040503050406030204" pitchFamily="18" charset="0"/>
                            <a:ea typeface="Microsoft YaHei UI" panose="020B0503020204020204" pitchFamily="34" charset="-122"/>
                          </a:rPr>
                          <m:t>𝒅𝒚𝒏</m:t>
                        </m:r>
                      </m:sub>
                    </m:sSub>
                    <m:r>
                      <m:rPr>
                        <m:nor/>
                      </m:rPr>
                      <a:rPr lang="zh-CN" altLang="en-US" sz="1400">
                        <a:latin typeface="Cambria Math" panose="02040503050406030204" pitchFamily="18" charset="0"/>
                      </a:rPr>
                      <m:t>≈</m:t>
                    </m:r>
                  </m:oMath>
                </a14:m>
                <a:r>
                  <a:rPr lang="el-GR" altLang="zh-CN" sz="1400" dirty="0"/>
                  <a:t>α</a:t>
                </a:r>
                <a:r>
                  <a:rPr lang="en-US" altLang="zh-CN" sz="1400" dirty="0"/>
                  <a:t>C</a:t>
                </a:r>
                <a14:m>
                  <m:oMath xmlns:m="http://schemas.openxmlformats.org/officeDocument/2006/math">
                    <m:sSup>
                      <m:sSupPr>
                        <m:ctrlPr>
                          <a:rPr lang="en-US" altLang="zh-CN" sz="1400" i="1" smtClean="0">
                            <a:latin typeface="Cambria Math" panose="02040503050406030204" pitchFamily="18" charset="0"/>
                          </a:rPr>
                        </m:ctrlPr>
                      </m:sSupPr>
                      <m:e>
                        <m:r>
                          <a:rPr lang="en-US" altLang="zh-CN" sz="1400" b="0" i="1" smtClean="0">
                            <a:latin typeface="Cambria Math" panose="02040503050406030204" pitchFamily="18" charset="0"/>
                          </a:rPr>
                          <m:t>𝑉</m:t>
                        </m:r>
                      </m:e>
                      <m:sup>
                        <m:r>
                          <a:rPr lang="en-US" altLang="zh-CN" sz="1400" b="0" i="1" smtClean="0">
                            <a:latin typeface="Cambria Math" panose="02040503050406030204" pitchFamily="18" charset="0"/>
                          </a:rPr>
                          <m:t>2</m:t>
                        </m:r>
                      </m:sup>
                    </m:sSup>
                  </m:oMath>
                </a14:m>
                <a:r>
                  <a:rPr lang="en-US" altLang="zh-CN" sz="1400" dirty="0"/>
                  <a:t>f</a:t>
                </a:r>
                <a:r>
                  <a:rPr lang="zh-CN" altLang="en-US" sz="1400" b="1" dirty="0">
                    <a:solidFill>
                      <a:prstClr val="black"/>
                    </a:solidFill>
                    <a:latin typeface="Georgia" panose="02040502050405020303" pitchFamily="18" charset="0"/>
                    <a:ea typeface="Microsoft YaHei UI" panose="020B0503020204020204" pitchFamily="34" charset="-122"/>
                  </a:rPr>
                  <a:t>，工艺曲线下通常有 𝑉∝𝑓</a:t>
                </a:r>
                <a:r>
                  <a:rPr lang="en-US" altLang="zh-CN" sz="1400" b="1" dirty="0">
                    <a:solidFill>
                      <a:prstClr val="black"/>
                    </a:solidFill>
                    <a:latin typeface="Georgia" panose="02040502050405020303" pitchFamily="18" charset="0"/>
                    <a:ea typeface="Microsoft YaHei UI" panose="020B0503020204020204" pitchFamily="34" charset="-122"/>
                  </a:rPr>
                  <a:t> ⇒ </a:t>
                </a:r>
                <a14:m>
                  <m:oMath xmlns:m="http://schemas.openxmlformats.org/officeDocument/2006/math">
                    <m:sSub>
                      <m:sSubPr>
                        <m:ctrlPr>
                          <a:rPr lang="en-US" altLang="zh-CN" sz="1400" b="1" i="1">
                            <a:solidFill>
                              <a:prstClr val="black"/>
                            </a:solidFill>
                            <a:latin typeface="Cambria Math" panose="02040503050406030204" pitchFamily="18" charset="0"/>
                            <a:ea typeface="Microsoft YaHei UI" panose="020B0503020204020204" pitchFamily="34" charset="-122"/>
                          </a:rPr>
                        </m:ctrlPr>
                      </m:sSubPr>
                      <m:e>
                        <m:r>
                          <m:rPr>
                            <m:sty m:val="p"/>
                          </m:rPr>
                          <a:rPr lang="en-US" altLang="zh-CN" sz="1400" b="1" i="1">
                            <a:solidFill>
                              <a:prstClr val="black"/>
                            </a:solidFill>
                            <a:latin typeface="Cambria Math" panose="02040503050406030204" pitchFamily="18" charset="0"/>
                            <a:ea typeface="Microsoft YaHei UI" panose="020B0503020204020204" pitchFamily="34" charset="-122"/>
                          </a:rPr>
                          <m:t>P</m:t>
                        </m:r>
                      </m:e>
                      <m:sub>
                        <m:r>
                          <a:rPr lang="en-US" altLang="zh-CN" sz="1400" b="1" i="1">
                            <a:solidFill>
                              <a:prstClr val="black"/>
                            </a:solidFill>
                            <a:latin typeface="Cambria Math" panose="02040503050406030204" pitchFamily="18" charset="0"/>
                            <a:ea typeface="Microsoft YaHei UI" panose="020B0503020204020204" pitchFamily="34" charset="-122"/>
                          </a:rPr>
                          <m:t>𝒅𝒚𝒏</m:t>
                        </m:r>
                      </m:sub>
                    </m:sSub>
                    <m:r>
                      <a:rPr lang="en-US" altLang="zh-CN" sz="1400" b="1" i="1">
                        <a:solidFill>
                          <a:prstClr val="black"/>
                        </a:solidFill>
                        <a:latin typeface="Cambria Math" panose="02040503050406030204" pitchFamily="18" charset="0"/>
                        <a:ea typeface="Microsoft YaHei UI" panose="020B0503020204020204" pitchFamily="34" charset="-122"/>
                      </a:rPr>
                      <m:t> </m:t>
                    </m:r>
                  </m:oMath>
                </a14:m>
                <a:r>
                  <a:rPr lang="en-US" altLang="zh-CN" sz="1400" b="1" dirty="0">
                    <a:solidFill>
                      <a:prstClr val="black"/>
                    </a:solidFill>
                    <a:latin typeface="Georgia" panose="02040502050405020303" pitchFamily="18" charset="0"/>
                    <a:ea typeface="Microsoft YaHei UI" panose="020B0503020204020204" pitchFamily="34" charset="-122"/>
                  </a:rPr>
                  <a:t>∝</a:t>
                </a:r>
                <a14:m>
                  <m:oMath xmlns:m="http://schemas.openxmlformats.org/officeDocument/2006/math">
                    <m:sSup>
                      <m:sSupPr>
                        <m:ctrlPr>
                          <a:rPr lang="en-US" altLang="zh-CN" sz="1400" b="1" i="1" dirty="0" smtClean="0">
                            <a:solidFill>
                              <a:prstClr val="black"/>
                            </a:solidFill>
                            <a:latin typeface="Cambria Math" panose="02040503050406030204" pitchFamily="18" charset="0"/>
                            <a:ea typeface="Microsoft YaHei UI" panose="020B0503020204020204" pitchFamily="34" charset="-122"/>
                          </a:rPr>
                        </m:ctrlPr>
                      </m:sSupPr>
                      <m:e>
                        <m:r>
                          <a:rPr lang="en-US" altLang="zh-CN" sz="1400" b="1" i="1" dirty="0" smtClean="0">
                            <a:solidFill>
                              <a:prstClr val="black"/>
                            </a:solidFill>
                            <a:latin typeface="Cambria Math" panose="02040503050406030204" pitchFamily="18" charset="0"/>
                            <a:ea typeface="Microsoft YaHei UI" panose="020B0503020204020204" pitchFamily="34" charset="-122"/>
                          </a:rPr>
                          <m:t>𝒇</m:t>
                        </m:r>
                      </m:e>
                      <m:sup>
                        <m:r>
                          <a:rPr lang="en-US" altLang="zh-CN" sz="1400" b="1" i="1" dirty="0" smtClean="0">
                            <a:solidFill>
                              <a:prstClr val="black"/>
                            </a:solidFill>
                            <a:latin typeface="Cambria Math" panose="02040503050406030204" pitchFamily="18" charset="0"/>
                            <a:ea typeface="Microsoft YaHei UI" panose="020B0503020204020204" pitchFamily="34" charset="-122"/>
                          </a:rPr>
                          <m:t>𝟑</m:t>
                        </m:r>
                      </m:sup>
                    </m:sSup>
                  </m:oMath>
                </a14:m>
                <a:r>
                  <a:rPr lang="zh-CN" altLang="en-US" sz="1400" b="1" dirty="0">
                    <a:solidFill>
                      <a:prstClr val="black"/>
                    </a:solidFill>
                    <a:latin typeface="Georgia" panose="02040502050405020303" pitchFamily="18" charset="0"/>
                    <a:ea typeface="Microsoft YaHei UI" panose="020B0503020204020204" pitchFamily="34" charset="-122"/>
                  </a:rPr>
                  <a:t>。</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66575" y="2008971"/>
                <a:ext cx="3073020" cy="562718"/>
              </a:xfrm>
              <a:prstGeom prst="rect">
                <a:avLst/>
              </a:prstGeom>
              <a:blipFill rotWithShape="1">
                <a:blip r:embed="rId3"/>
                <a:stretch>
                  <a:fillRect l="-4" t="-83" r="13" b="102"/>
                </a:stretch>
              </a:blipFill>
            </p:spPr>
            <p:txBody>
              <a:bodyPr/>
              <a:lstStyle/>
              <a:p>
                <a:r>
                  <a:rPr lang="zh-CN" altLang="en-US">
                    <a:noFill/>
                  </a:rPr>
                  <a:t> </a:t>
                </a:r>
              </a:p>
            </p:txBody>
          </p:sp>
        </mc:Fallback>
      </mc:AlternateContent>
      <p:sp>
        <p:nvSpPr>
          <p:cNvPr id="12" name="文本框 11"/>
          <p:cNvSpPr txBox="1"/>
          <p:nvPr/>
        </p:nvSpPr>
        <p:spPr>
          <a:xfrm>
            <a:off x="765831" y="2957526"/>
            <a:ext cx="3167271" cy="523220"/>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频点每提高一档，功耗往往呈“</a:t>
            </a:r>
            <a:r>
              <a:rPr lang="zh-CN" altLang="en-US" sz="1400" b="1" dirty="0">
                <a:solidFill>
                  <a:srgbClr val="FF0000"/>
                </a:solidFill>
                <a:latin typeface="Georgia" panose="02040502050405020303" pitchFamily="18" charset="0"/>
                <a:ea typeface="Microsoft YaHei UI" panose="020B0503020204020204" pitchFamily="34" charset="-122"/>
              </a:rPr>
              <a:t>立方级</a:t>
            </a:r>
            <a:r>
              <a:rPr lang="zh-CN" altLang="en-US" sz="1400" b="1" dirty="0">
                <a:solidFill>
                  <a:prstClr val="black"/>
                </a:solidFill>
                <a:latin typeface="Georgia" panose="02040502050405020303" pitchFamily="18" charset="0"/>
                <a:ea typeface="Microsoft YaHei UI" panose="020B0503020204020204" pitchFamily="34" charset="-122"/>
              </a:rPr>
              <a:t>”上升，是所有功耗模型的物理基础</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9" name="矩形: 圆角 28"/>
          <p:cNvSpPr/>
          <p:nvPr>
            <p:custDataLst>
              <p:tags r:id="rId4"/>
            </p:custDataLst>
          </p:nvPr>
        </p:nvSpPr>
        <p:spPr>
          <a:xfrm>
            <a:off x="4446447" y="1341721"/>
            <a:ext cx="7158581" cy="2817619"/>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21" name="Freeform 9"/>
          <p:cNvSpPr/>
          <p:nvPr/>
        </p:nvSpPr>
        <p:spPr>
          <a:xfrm>
            <a:off x="4985466" y="1110258"/>
            <a:ext cx="1781035"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zh-CN" altLang="en-US" sz="1600" b="1" dirty="0">
                <a:latin typeface="Georgia" panose="02040502050405020303" pitchFamily="18" charset="0"/>
                <a:ea typeface="Microsoft YaHei UI" panose="020B0503020204020204" pitchFamily="34" charset="-122"/>
                <a:cs typeface="Times New Roman" panose="02020603050405020304" pitchFamily="18" charset="0"/>
              </a:rPr>
              <a:t>预期功耗模型</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pic>
        <p:nvPicPr>
          <p:cNvPr id="23" name="图片 22"/>
          <p:cNvPicPr>
            <a:picLocks noChangeAspect="1"/>
          </p:cNvPicPr>
          <p:nvPr/>
        </p:nvPicPr>
        <p:blipFill>
          <a:blip r:embed="rId5"/>
          <a:stretch>
            <a:fillRect/>
          </a:stretch>
        </p:blipFill>
        <p:spPr>
          <a:xfrm>
            <a:off x="5780129" y="2062962"/>
            <a:ext cx="4610383" cy="350314"/>
          </a:xfrm>
          <a:prstGeom prst="rect">
            <a:avLst/>
          </a:prstGeom>
        </p:spPr>
      </p:pic>
      <p:sp>
        <p:nvSpPr>
          <p:cNvPr id="24" name="文本框 23"/>
          <p:cNvSpPr txBox="1"/>
          <p:nvPr/>
        </p:nvSpPr>
        <p:spPr>
          <a:xfrm>
            <a:off x="6685767" y="1688307"/>
            <a:ext cx="2799118" cy="307777"/>
          </a:xfrm>
          <a:prstGeom prst="rect">
            <a:avLst/>
          </a:prstGeom>
          <a:noFill/>
        </p:spPr>
        <p:txBody>
          <a:bodyPr wrap="square">
            <a:spAutoFit/>
          </a:bodyPr>
          <a:lstStyle/>
          <a:p>
            <a:pPr algn="ctr">
              <a:defRPr/>
            </a:pPr>
            <a:r>
              <a:rPr lang="en-US" altLang="zh-CN" sz="1400" b="1" dirty="0">
                <a:solidFill>
                  <a:prstClr val="black"/>
                </a:solidFill>
                <a:latin typeface="Georgia" panose="02040502050405020303" pitchFamily="18" charset="0"/>
                <a:ea typeface="Microsoft YaHei UI" panose="020B0503020204020204" pitchFamily="34" charset="-122"/>
              </a:rPr>
              <a:t>CPU / GPU / DDR </a:t>
            </a:r>
            <a:r>
              <a:rPr lang="zh-CN" altLang="en-US" sz="1400" b="1" dirty="0">
                <a:solidFill>
                  <a:prstClr val="black"/>
                </a:solidFill>
                <a:latin typeface="Georgia" panose="02040502050405020303" pitchFamily="18" charset="0"/>
                <a:ea typeface="Microsoft YaHei UI" panose="020B0503020204020204" pitchFamily="34" charset="-122"/>
              </a:rPr>
              <a:t>联合调频</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25" name="文本框 24"/>
          <p:cNvSpPr txBox="1"/>
          <p:nvPr/>
        </p:nvSpPr>
        <p:spPr>
          <a:xfrm>
            <a:off x="5473136" y="3628388"/>
            <a:ext cx="5224377"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结构简单、易拟合，天然支持 </a:t>
            </a:r>
            <a:r>
              <a:rPr lang="en-US" altLang="zh-CN" sz="1400" b="1" dirty="0">
                <a:solidFill>
                  <a:srgbClr val="FF0000"/>
                </a:solidFill>
                <a:latin typeface="Georgia" panose="02040502050405020303" pitchFamily="18" charset="0"/>
                <a:ea typeface="Microsoft YaHei UI" panose="020B0503020204020204" pitchFamily="34" charset="-122"/>
              </a:rPr>
              <a:t>CPU+GPU+DDR </a:t>
            </a:r>
            <a:r>
              <a:rPr lang="zh-CN" altLang="en-US" sz="1400" b="1" dirty="0">
                <a:solidFill>
                  <a:srgbClr val="FF0000"/>
                </a:solidFill>
                <a:latin typeface="Georgia" panose="02040502050405020303" pitchFamily="18" charset="0"/>
                <a:ea typeface="Microsoft YaHei UI" panose="020B0503020204020204" pitchFamily="34" charset="-122"/>
              </a:rPr>
              <a:t>三维联合调频</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pic>
        <p:nvPicPr>
          <p:cNvPr id="28" name="图片 27"/>
          <p:cNvPicPr>
            <a:picLocks noChangeAspect="1"/>
          </p:cNvPicPr>
          <p:nvPr/>
        </p:nvPicPr>
        <p:blipFill>
          <a:blip r:embed="rId6"/>
          <a:stretch>
            <a:fillRect/>
          </a:stretch>
        </p:blipFill>
        <p:spPr>
          <a:xfrm>
            <a:off x="6267703" y="2537379"/>
            <a:ext cx="3635237" cy="522304"/>
          </a:xfrm>
          <a:prstGeom prst="rect">
            <a:avLst/>
          </a:prstGeom>
        </p:spPr>
      </p:pic>
      <p:sp>
        <p:nvSpPr>
          <p:cNvPr id="30" name="文本框 29"/>
          <p:cNvSpPr txBox="1"/>
          <p:nvPr/>
        </p:nvSpPr>
        <p:spPr>
          <a:xfrm>
            <a:off x="2028963" y="4705026"/>
            <a:ext cx="2213214" cy="307777"/>
          </a:xfrm>
          <a:prstGeom prst="rect">
            <a:avLst/>
          </a:prstGeom>
          <a:noFill/>
        </p:spPr>
        <p:txBody>
          <a:bodyPr wrap="square">
            <a:spAutoFit/>
          </a:bodyPr>
          <a:lstStyle/>
          <a:p>
            <a:pPr algn="ctr">
              <a:defRPr/>
            </a:pPr>
            <a:r>
              <a:rPr lang="en-US" altLang="zh-CN" sz="1400" b="1" dirty="0">
                <a:solidFill>
                  <a:prstClr val="black"/>
                </a:solidFill>
                <a:latin typeface="Georgia" panose="02040502050405020303" pitchFamily="18" charset="0"/>
                <a:ea typeface="Microsoft YaHei UI" panose="020B0503020204020204" pitchFamily="34" charset="-122"/>
              </a:rPr>
              <a:t>CPU cluster </a:t>
            </a:r>
            <a:r>
              <a:rPr lang="zh-CN" altLang="en-US" sz="1400" b="1" dirty="0">
                <a:solidFill>
                  <a:prstClr val="black"/>
                </a:solidFill>
                <a:latin typeface="Georgia" panose="02040502050405020303" pitchFamily="18" charset="0"/>
                <a:ea typeface="Microsoft YaHei UI" panose="020B0503020204020204" pitchFamily="34" charset="-122"/>
              </a:rPr>
              <a:t>侧常写成</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37" name="Freeform 9"/>
          <p:cNvSpPr/>
          <p:nvPr/>
        </p:nvSpPr>
        <p:spPr>
          <a:xfrm>
            <a:off x="1208443" y="4194401"/>
            <a:ext cx="1441992"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zh-CN" altLang="en-US" sz="1600" b="1" dirty="0">
                <a:latin typeface="Georgia" panose="02040502050405020303" pitchFamily="18" charset="0"/>
                <a:ea typeface="Microsoft YaHei UI" panose="020B0503020204020204" pitchFamily="34" charset="-122"/>
                <a:cs typeface="Times New Roman" panose="02020603050405020304" pitchFamily="18" charset="0"/>
              </a:rPr>
              <a:t>基本经验</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40" name="文本框 39"/>
          <p:cNvSpPr txBox="1"/>
          <p:nvPr/>
        </p:nvSpPr>
        <p:spPr>
          <a:xfrm>
            <a:off x="8025737" y="4661804"/>
            <a:ext cx="1876544"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部分训练任务常写成</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pic>
        <p:nvPicPr>
          <p:cNvPr id="45" name="图片 44"/>
          <p:cNvPicPr>
            <a:picLocks noChangeAspect="1"/>
          </p:cNvPicPr>
          <p:nvPr/>
        </p:nvPicPr>
        <p:blipFill>
          <a:blip r:embed="rId7"/>
          <a:stretch>
            <a:fillRect/>
          </a:stretch>
        </p:blipFill>
        <p:spPr>
          <a:xfrm>
            <a:off x="6875255" y="5231596"/>
            <a:ext cx="4137836" cy="269620"/>
          </a:xfrm>
          <a:prstGeom prst="rect">
            <a:avLst/>
          </a:prstGeom>
        </p:spPr>
      </p:pic>
      <p:pic>
        <p:nvPicPr>
          <p:cNvPr id="48" name="图片 47"/>
          <p:cNvPicPr>
            <a:picLocks noChangeAspect="1"/>
          </p:cNvPicPr>
          <p:nvPr/>
        </p:nvPicPr>
        <p:blipFill>
          <a:blip r:embed="rId8"/>
          <a:stretch>
            <a:fillRect/>
          </a:stretch>
        </p:blipFill>
        <p:spPr>
          <a:xfrm>
            <a:off x="1779426" y="4962875"/>
            <a:ext cx="2701899" cy="542389"/>
          </a:xfrm>
          <a:prstGeom prst="rect">
            <a:avLst/>
          </a:prstGeom>
        </p:spPr>
      </p:pic>
      <p:sp>
        <p:nvSpPr>
          <p:cNvPr id="49" name="文本框 48"/>
          <p:cNvSpPr txBox="1"/>
          <p:nvPr/>
        </p:nvSpPr>
        <p:spPr>
          <a:xfrm>
            <a:off x="4883258" y="3223517"/>
            <a:ext cx="6284958"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在若干 </a:t>
            </a:r>
            <a:r>
              <a:rPr lang="en-US" altLang="zh-CN" sz="1400" b="1" dirty="0">
                <a:solidFill>
                  <a:prstClr val="black"/>
                </a:solidFill>
                <a:latin typeface="Georgia" panose="02040502050405020303" pitchFamily="18" charset="0"/>
                <a:ea typeface="Microsoft YaHei UI" panose="020B0503020204020204" pitchFamily="34" charset="-122"/>
              </a:rPr>
              <a:t>CPU/GPU/DDR </a:t>
            </a:r>
            <a:r>
              <a:rPr lang="zh-CN" altLang="en-US" sz="1400" b="1" dirty="0">
                <a:solidFill>
                  <a:prstClr val="black"/>
                </a:solidFill>
                <a:latin typeface="Georgia" panose="02040502050405020303" pitchFamily="18" charset="0"/>
                <a:ea typeface="Microsoft YaHei UI" panose="020B0503020204020204" pitchFamily="34" charset="-122"/>
              </a:rPr>
              <a:t>频点上采样功率与性能，使用三阶多项式拟合 𝑃</a:t>
            </a:r>
            <a:r>
              <a:rPr lang="en-US" altLang="zh-CN" sz="1400" b="1" dirty="0">
                <a:solidFill>
                  <a:prstClr val="black"/>
                </a:solidFill>
                <a:latin typeface="Georgia" panose="02040502050405020303" pitchFamily="18" charset="0"/>
                <a:ea typeface="Microsoft YaHei UI" panose="020B0503020204020204" pitchFamily="34" charset="-122"/>
              </a:rPr>
              <a:t>(</a:t>
            </a:r>
            <a:r>
              <a:rPr lang="zh-CN" altLang="en-US" sz="1400" b="1" dirty="0">
                <a:solidFill>
                  <a:prstClr val="black"/>
                </a:solidFill>
                <a:latin typeface="Georgia" panose="02040502050405020303" pitchFamily="18" charset="0"/>
                <a:ea typeface="Microsoft YaHei UI" panose="020B0503020204020204" pitchFamily="34" charset="-122"/>
              </a:rPr>
              <a:t>𝑓</a:t>
            </a:r>
            <a:r>
              <a:rPr lang="en-US" altLang="zh-CN" sz="1400" b="1" dirty="0">
                <a:solidFill>
                  <a:prstClr val="black"/>
                </a:solidFill>
                <a:latin typeface="Georgia" panose="02040502050405020303" pitchFamily="18" charset="0"/>
                <a:ea typeface="Microsoft YaHei UI" panose="020B0503020204020204" pitchFamily="34" charset="-122"/>
              </a:rPr>
              <a:t>)</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pic>
        <p:nvPicPr>
          <p:cNvPr id="14" name="图片 13"/>
          <p:cNvPicPr>
            <a:picLocks noChangeAspect="1"/>
          </p:cNvPicPr>
          <p:nvPr/>
        </p:nvPicPr>
        <p:blipFill>
          <a:blip r:embed="rId9"/>
          <a:stretch>
            <a:fillRect/>
          </a:stretch>
        </p:blipFill>
        <p:spPr>
          <a:xfrm>
            <a:off x="954681" y="5681783"/>
            <a:ext cx="4717774" cy="615362"/>
          </a:xfrm>
          <a:prstGeom prst="rect">
            <a:avLst/>
          </a:prstGeom>
        </p:spPr>
      </p:pic>
      <p:pic>
        <p:nvPicPr>
          <p:cNvPr id="17" name="图片 16"/>
          <p:cNvPicPr>
            <a:picLocks noChangeAspect="1"/>
          </p:cNvPicPr>
          <p:nvPr/>
        </p:nvPicPr>
        <p:blipFill>
          <a:blip r:embed="rId10"/>
          <a:stretch>
            <a:fillRect/>
          </a:stretch>
        </p:blipFill>
        <p:spPr>
          <a:xfrm>
            <a:off x="7139266" y="5806196"/>
            <a:ext cx="3649485" cy="2193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439786" y="181403"/>
            <a:ext cx="555675" cy="411776"/>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6"/>
          <p:cNvSpPr>
            <a:spLocks noChangeArrowheads="1"/>
          </p:cNvSpPr>
          <p:nvPr/>
        </p:nvSpPr>
        <p:spPr bwMode="auto">
          <a:xfrm>
            <a:off x="0" y="6698912"/>
            <a:ext cx="12192000" cy="191062"/>
          </a:xfrm>
          <a:prstGeom prst="rect">
            <a:avLst/>
          </a:prstGeom>
          <a:solidFill>
            <a:schemeClr val="accent1"/>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6" name="直接连接符 5"/>
          <p:cNvCxnSpPr/>
          <p:nvPr/>
        </p:nvCxnSpPr>
        <p:spPr>
          <a:xfrm>
            <a:off x="2028963" y="769012"/>
            <a:ext cx="969258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nvSpPr>
        <p:spPr>
          <a:xfrm>
            <a:off x="424537" y="752980"/>
            <a:ext cx="1781035" cy="457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11439784" y="209348"/>
            <a:ext cx="555675" cy="365125"/>
          </a:xfrm>
        </p:spPr>
        <p:txBody>
          <a:bodyPr/>
          <a:lstStyle/>
          <a:p>
            <a:pPr algn="ctr"/>
            <a:fld id="{791702D1-1167-4612-BF8C-6B16D0213C9E}" type="slidenum">
              <a:rPr lang="zh-CN" altLang="en-US" sz="2000" b="1">
                <a:solidFill>
                  <a:schemeClr val="bg1"/>
                </a:solidFill>
                <a:latin typeface="微软雅黑" panose="020B0503020204020204" pitchFamily="34" charset="-122"/>
                <a:ea typeface="微软雅黑" panose="020B0503020204020204" pitchFamily="34" charset="-122"/>
              </a:rPr>
            </a:fld>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70148" y="188438"/>
            <a:ext cx="1781035" cy="523220"/>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性能模型</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2205572" y="390469"/>
            <a:ext cx="1107996" cy="369332"/>
          </a:xfrm>
          <a:prstGeom prst="rect">
            <a:avLst/>
          </a:prstGeom>
          <a:noFill/>
        </p:spPr>
        <p:txBody>
          <a:bodyPr wrap="none" rtlCol="0">
            <a:spAutoFit/>
          </a:bodyPr>
          <a:lstStyle/>
          <a:p>
            <a:r>
              <a:rPr lang="zh-CN" altLang="en-US" b="1" dirty="0">
                <a:solidFill>
                  <a:schemeClr val="bg2">
                    <a:lumMod val="50000"/>
                  </a:schemeClr>
                </a:solidFill>
                <a:latin typeface="微软雅黑" panose="020B0503020204020204" pitchFamily="34" charset="-122"/>
                <a:ea typeface="微软雅黑" panose="020B0503020204020204" pitchFamily="34" charset="-122"/>
              </a:rPr>
              <a:t>预设方案</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5" name="矩形: 圆角 28"/>
          <p:cNvSpPr/>
          <p:nvPr>
            <p:custDataLst>
              <p:tags r:id="rId1"/>
            </p:custDataLst>
          </p:nvPr>
        </p:nvSpPr>
        <p:spPr>
          <a:xfrm>
            <a:off x="470190" y="1305633"/>
            <a:ext cx="5459040" cy="2750380"/>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8" name="Freeform 9"/>
          <p:cNvSpPr/>
          <p:nvPr/>
        </p:nvSpPr>
        <p:spPr>
          <a:xfrm>
            <a:off x="744165" y="1074169"/>
            <a:ext cx="1781035"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zh-CN" altLang="en-US" sz="1600" b="1" dirty="0">
                <a:latin typeface="Georgia" panose="02040502050405020303" pitchFamily="18" charset="0"/>
                <a:ea typeface="Microsoft YaHei UI" panose="020B0503020204020204" pitchFamily="34" charset="-122"/>
                <a:cs typeface="Times New Roman" panose="02020603050405020304" pitchFamily="18" charset="0"/>
              </a:rPr>
              <a:t>预期性能模型</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9" name="文本框 8"/>
          <p:cNvSpPr txBox="1"/>
          <p:nvPr/>
        </p:nvSpPr>
        <p:spPr>
          <a:xfrm>
            <a:off x="587521" y="1692738"/>
            <a:ext cx="5224377"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把“一帧时间”写成三个资源贡献的加权和</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14" name="矩形: 圆角 28"/>
          <p:cNvSpPr/>
          <p:nvPr>
            <p:custDataLst>
              <p:tags r:id="rId2"/>
            </p:custDataLst>
          </p:nvPr>
        </p:nvSpPr>
        <p:spPr>
          <a:xfrm>
            <a:off x="6275616" y="1305632"/>
            <a:ext cx="5459040" cy="2750379"/>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15" name="Freeform 9"/>
          <p:cNvSpPr/>
          <p:nvPr/>
        </p:nvSpPr>
        <p:spPr>
          <a:xfrm>
            <a:off x="6549591" y="1074169"/>
            <a:ext cx="1371996"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zh-CN" altLang="en-US" sz="1600" b="1" kern="1200" dirty="0">
                <a:latin typeface="Georgia" panose="02040502050405020303" pitchFamily="18" charset="0"/>
                <a:ea typeface="Microsoft YaHei UI" panose="020B0503020204020204" pitchFamily="34" charset="-122"/>
                <a:cs typeface="Times New Roman" panose="02020603050405020304" pitchFamily="18" charset="0"/>
              </a:rPr>
              <a:t>推导过程</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20" name="文本框 19"/>
          <p:cNvSpPr txBox="1"/>
          <p:nvPr/>
        </p:nvSpPr>
        <p:spPr>
          <a:xfrm>
            <a:off x="6262772" y="1830125"/>
            <a:ext cx="5459040"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在固定应用 </a:t>
            </a:r>
            <a:r>
              <a:rPr lang="en-US" altLang="zh-CN" sz="1400" b="1" dirty="0">
                <a:solidFill>
                  <a:prstClr val="black"/>
                </a:solidFill>
                <a:latin typeface="Georgia" panose="02040502050405020303" pitchFamily="18" charset="0"/>
                <a:ea typeface="Microsoft YaHei UI" panose="020B0503020204020204" pitchFamily="34" charset="-122"/>
              </a:rPr>
              <a:t>&amp; </a:t>
            </a:r>
            <a:r>
              <a:rPr lang="zh-CN" altLang="en-US" sz="1400" b="1" dirty="0">
                <a:solidFill>
                  <a:prstClr val="black"/>
                </a:solidFill>
                <a:latin typeface="Georgia" panose="02040502050405020303" pitchFamily="18" charset="0"/>
                <a:ea typeface="Microsoft YaHei UI" panose="020B0503020204020204" pitchFamily="34" charset="-122"/>
              </a:rPr>
              <a:t>输入下，</a:t>
            </a:r>
            <a:r>
              <a:rPr lang="zh-CN" altLang="en-US" sz="1400" b="1" dirty="0">
                <a:solidFill>
                  <a:srgbClr val="FF0000"/>
                </a:solidFill>
                <a:latin typeface="Georgia" panose="02040502050405020303" pitchFamily="18" charset="0"/>
                <a:ea typeface="Microsoft YaHei UI" panose="020B0503020204020204" pitchFamily="34" charset="-122"/>
              </a:rPr>
              <a:t>性能（单次计算）与频率近似成线性关系</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pic>
        <p:nvPicPr>
          <p:cNvPr id="27" name="图片 26"/>
          <p:cNvPicPr>
            <a:picLocks noChangeAspect="1"/>
          </p:cNvPicPr>
          <p:nvPr/>
        </p:nvPicPr>
        <p:blipFill>
          <a:blip r:embed="rId3"/>
          <a:stretch>
            <a:fillRect/>
          </a:stretch>
        </p:blipFill>
        <p:spPr>
          <a:xfrm>
            <a:off x="759260" y="2026634"/>
            <a:ext cx="4877481" cy="442975"/>
          </a:xfrm>
          <a:prstGeom prst="rect">
            <a:avLst/>
          </a:prstGeom>
        </p:spPr>
      </p:pic>
      <p:pic>
        <p:nvPicPr>
          <p:cNvPr id="29" name="图片 28"/>
          <p:cNvPicPr>
            <a:picLocks noChangeAspect="1"/>
          </p:cNvPicPr>
          <p:nvPr/>
        </p:nvPicPr>
        <p:blipFill>
          <a:blip r:embed="rId4"/>
          <a:stretch>
            <a:fillRect/>
          </a:stretch>
        </p:blipFill>
        <p:spPr>
          <a:xfrm>
            <a:off x="2250532" y="2518872"/>
            <a:ext cx="1894936" cy="374235"/>
          </a:xfrm>
          <a:prstGeom prst="rect">
            <a:avLst/>
          </a:prstGeom>
        </p:spPr>
      </p:pic>
      <mc:AlternateContent xmlns:mc="http://schemas.openxmlformats.org/markup-compatibility/2006">
        <mc:Choice xmlns:a14="http://schemas.microsoft.com/office/drawing/2010/main" Requires="a14">
          <p:sp>
            <p:nvSpPr>
              <p:cNvPr id="30" name="文本框 29"/>
              <p:cNvSpPr txBox="1"/>
              <p:nvPr/>
            </p:nvSpPr>
            <p:spPr>
              <a:xfrm>
                <a:off x="609279" y="2968992"/>
                <a:ext cx="5224377" cy="365678"/>
              </a:xfrm>
              <a:prstGeom prst="rect">
                <a:avLst/>
              </a:prstGeom>
              <a:noFill/>
            </p:spPr>
            <p:txBody>
              <a:bodyPr wrap="square">
                <a:spAutoFit/>
              </a:bodyPr>
              <a:lstStyle/>
              <a:p>
                <a:pPr algn="ctr">
                  <a:defRPr/>
                </a:pPr>
                <a14:m>
                  <m:oMath xmlns:m="http://schemas.openxmlformats.org/officeDocument/2006/math">
                    <m:sSubSup>
                      <m:sSubSupPr>
                        <m:ctrlPr>
                          <a:rPr lang="en-US" altLang="zh-CN" sz="1400" b="1" i="1" smtClean="0">
                            <a:solidFill>
                              <a:prstClr val="black"/>
                            </a:solidFill>
                            <a:latin typeface="Cambria Math" panose="02040503050406030204" pitchFamily="18" charset="0"/>
                            <a:ea typeface="Microsoft YaHei UI" panose="020B0503020204020204" pitchFamily="34" charset="-122"/>
                          </a:rPr>
                        </m:ctrlPr>
                      </m:sSubSupPr>
                      <m:e>
                        <m:r>
                          <a:rPr lang="en-US" altLang="zh-CN" sz="1400" b="1" i="1" smtClean="0">
                            <a:solidFill>
                              <a:prstClr val="black"/>
                            </a:solidFill>
                            <a:latin typeface="Cambria Math" panose="02040503050406030204" pitchFamily="18" charset="0"/>
                            <a:ea typeface="Microsoft YaHei UI" panose="020B0503020204020204" pitchFamily="34" charset="-122"/>
                          </a:rPr>
                          <m:t>𝑫</m:t>
                        </m:r>
                      </m:e>
                      <m:sub>
                        <m:r>
                          <a:rPr lang="en-US" altLang="zh-CN" sz="1400" b="1" i="1" smtClean="0">
                            <a:solidFill>
                              <a:prstClr val="black"/>
                            </a:solidFill>
                            <a:latin typeface="Cambria Math" panose="02040503050406030204" pitchFamily="18" charset="0"/>
                            <a:ea typeface="Microsoft YaHei UI" panose="020B0503020204020204" pitchFamily="34" charset="-122"/>
                          </a:rPr>
                          <m:t>𝒎𝒊𝒏</m:t>
                        </m:r>
                      </m:sub>
                      <m:sup>
                        <m:r>
                          <a:rPr lang="en-US" altLang="zh-CN" sz="1400" b="1" i="1" smtClean="0">
                            <a:solidFill>
                              <a:prstClr val="black"/>
                            </a:solidFill>
                            <a:latin typeface="Cambria Math" panose="02040503050406030204" pitchFamily="18" charset="0"/>
                            <a:ea typeface="Microsoft YaHei UI" panose="020B0503020204020204" pitchFamily="34" charset="-122"/>
                          </a:rPr>
                          <m:t>(</m:t>
                        </m:r>
                        <m:r>
                          <a:rPr lang="en-US" altLang="zh-CN" sz="1400" b="1" i="1" smtClean="0">
                            <a:solidFill>
                              <a:prstClr val="black"/>
                            </a:solidFill>
                            <a:latin typeface="Cambria Math" panose="02040503050406030204" pitchFamily="18" charset="0"/>
                            <a:ea typeface="Microsoft YaHei UI" panose="020B0503020204020204" pitchFamily="34" charset="-122"/>
                          </a:rPr>
                          <m:t>𝒄</m:t>
                        </m:r>
                        <m:r>
                          <a:rPr lang="en-US" altLang="zh-CN" sz="1400" b="1" i="1" smtClean="0">
                            <a:solidFill>
                              <a:prstClr val="black"/>
                            </a:solidFill>
                            <a:latin typeface="Cambria Math" panose="02040503050406030204" pitchFamily="18" charset="0"/>
                            <a:ea typeface="Microsoft YaHei UI" panose="020B0503020204020204" pitchFamily="34" charset="-122"/>
                          </a:rPr>
                          <m:t>)</m:t>
                        </m:r>
                      </m:sup>
                    </m:sSubSup>
                  </m:oMath>
                </a14:m>
                <a:r>
                  <a:rPr lang="en-US" altLang="zh-CN" sz="1400" b="1" dirty="0">
                    <a:solidFill>
                      <a:prstClr val="black"/>
                    </a:solidFill>
                    <a:latin typeface="Georgia" panose="02040502050405020303" pitchFamily="18" charset="0"/>
                    <a:ea typeface="Microsoft YaHei UI" panose="020B0503020204020204" pitchFamily="34" charset="-122"/>
                  </a:rPr>
                  <a:t>​</a:t>
                </a:r>
                <a:r>
                  <a:rPr lang="zh-CN" altLang="en-US" sz="1400" b="1" dirty="0">
                    <a:solidFill>
                      <a:prstClr val="black"/>
                    </a:solidFill>
                    <a:latin typeface="Georgia" panose="02040502050405020303" pitchFamily="18" charset="0"/>
                    <a:ea typeface="Microsoft YaHei UI" panose="020B0503020204020204" pitchFamily="34" charset="-122"/>
                  </a:rPr>
                  <a:t>：任务类型 𝑐在三路都打满频时测到的</a:t>
                </a:r>
                <a:r>
                  <a:rPr lang="zh-CN" altLang="en-US" sz="1400" b="1" dirty="0">
                    <a:solidFill>
                      <a:srgbClr val="FF0000"/>
                    </a:solidFill>
                    <a:latin typeface="Georgia" panose="02040502050405020303" pitchFamily="18" charset="0"/>
                    <a:ea typeface="Microsoft YaHei UI" panose="020B0503020204020204" pitchFamily="34" charset="-122"/>
                  </a:rPr>
                  <a:t>基准单帧时间</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mc:Choice>
        <mc:Fallback>
          <p:sp>
            <p:nvSpPr>
              <p:cNvPr id="30" name="文本框 29"/>
              <p:cNvSpPr txBox="1">
                <a:spLocks noRot="1" noChangeAspect="1" noMove="1" noResize="1" noEditPoints="1" noAdjustHandles="1" noChangeArrowheads="1" noChangeShapeType="1" noTextEdit="1"/>
              </p:cNvSpPr>
              <p:nvPr/>
            </p:nvSpPr>
            <p:spPr>
              <a:xfrm>
                <a:off x="609279" y="2968992"/>
                <a:ext cx="5224377" cy="365678"/>
              </a:xfrm>
              <a:prstGeom prst="rect">
                <a:avLst/>
              </a:prstGeom>
              <a:blipFill rotWithShape="1">
                <a:blip r:embed="rId5"/>
                <a:stretch>
                  <a:fillRect l="-6" t="-100" r="10" b="78"/>
                </a:stretch>
              </a:blipFill>
            </p:spPr>
            <p:txBody>
              <a:bodyPr/>
              <a:lstStyle/>
              <a:p>
                <a:r>
                  <a:rPr lang="zh-CN" altLang="en-US">
                    <a:noFill/>
                  </a:rPr>
                  <a:t> </a:t>
                </a:r>
              </a:p>
            </p:txBody>
          </p:sp>
        </mc:Fallback>
      </mc:AlternateContent>
      <p:pic>
        <p:nvPicPr>
          <p:cNvPr id="32" name="图片 31"/>
          <p:cNvPicPr>
            <a:picLocks noChangeAspect="1"/>
          </p:cNvPicPr>
          <p:nvPr/>
        </p:nvPicPr>
        <p:blipFill>
          <a:blip r:embed="rId6"/>
          <a:stretch>
            <a:fillRect/>
          </a:stretch>
        </p:blipFill>
        <p:spPr>
          <a:xfrm>
            <a:off x="2185171" y="3358278"/>
            <a:ext cx="2072591" cy="586583"/>
          </a:xfrm>
          <a:prstGeom prst="rect">
            <a:avLst/>
          </a:prstGeom>
        </p:spPr>
      </p:pic>
      <p:pic>
        <p:nvPicPr>
          <p:cNvPr id="34" name="图片 33"/>
          <p:cNvPicPr>
            <a:picLocks noChangeAspect="1"/>
          </p:cNvPicPr>
          <p:nvPr/>
        </p:nvPicPr>
        <p:blipFill>
          <a:blip r:embed="rId7"/>
          <a:stretch>
            <a:fillRect/>
          </a:stretch>
        </p:blipFill>
        <p:spPr>
          <a:xfrm>
            <a:off x="8366846" y="2168807"/>
            <a:ext cx="1032358" cy="483762"/>
          </a:xfrm>
          <a:prstGeom prst="rect">
            <a:avLst/>
          </a:prstGeom>
        </p:spPr>
      </p:pic>
      <p:sp>
        <p:nvSpPr>
          <p:cNvPr id="35" name="文本框 34"/>
          <p:cNvSpPr txBox="1"/>
          <p:nvPr/>
        </p:nvSpPr>
        <p:spPr>
          <a:xfrm>
            <a:off x="6840385" y="2663501"/>
            <a:ext cx="4085279" cy="738664"/>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我们把一次迭代拆成 </a:t>
            </a:r>
            <a:r>
              <a:rPr lang="en-US" altLang="zh-CN" sz="1400" b="1" dirty="0">
                <a:solidFill>
                  <a:prstClr val="black"/>
                </a:solidFill>
                <a:latin typeface="Georgia" panose="02040502050405020303" pitchFamily="18" charset="0"/>
                <a:ea typeface="Microsoft YaHei UI" panose="020B0503020204020204" pitchFamily="34" charset="-122"/>
              </a:rPr>
              <a:t>CPU </a:t>
            </a:r>
            <a:r>
              <a:rPr lang="zh-CN" altLang="en-US" sz="1400" b="1" dirty="0">
                <a:solidFill>
                  <a:prstClr val="black"/>
                </a:solidFill>
                <a:latin typeface="Georgia" panose="02040502050405020303" pitchFamily="18" charset="0"/>
                <a:ea typeface="Microsoft YaHei UI" panose="020B0503020204020204" pitchFamily="34" charset="-122"/>
              </a:rPr>
              <a:t>段 </a:t>
            </a:r>
            <a:r>
              <a:rPr lang="en-US" altLang="zh-CN" sz="1400" b="1" dirty="0">
                <a:solidFill>
                  <a:prstClr val="black"/>
                </a:solidFill>
                <a:latin typeface="Georgia" panose="02040502050405020303" pitchFamily="18" charset="0"/>
                <a:ea typeface="Microsoft YaHei UI" panose="020B0503020204020204" pitchFamily="34" charset="-122"/>
              </a:rPr>
              <a:t>+ GPU </a:t>
            </a:r>
            <a:r>
              <a:rPr lang="zh-CN" altLang="en-US" sz="1400" b="1" dirty="0">
                <a:solidFill>
                  <a:prstClr val="black"/>
                </a:solidFill>
                <a:latin typeface="Georgia" panose="02040502050405020303" pitchFamily="18" charset="0"/>
                <a:ea typeface="Microsoft YaHei UI" panose="020B0503020204020204" pitchFamily="34" charset="-122"/>
              </a:rPr>
              <a:t>段</a:t>
            </a:r>
            <a:r>
              <a:rPr lang="en-US" altLang="zh-CN" sz="1400" b="1" dirty="0">
                <a:solidFill>
                  <a:prstClr val="black"/>
                </a:solidFill>
                <a:latin typeface="Georgia" panose="02040502050405020303" pitchFamily="18" charset="0"/>
                <a:ea typeface="Microsoft YaHei UI" panose="020B0503020204020204" pitchFamily="34" charset="-122"/>
              </a:rPr>
              <a:t>+ DDR </a:t>
            </a:r>
            <a:r>
              <a:rPr lang="zh-CN" altLang="en-US" sz="1400" b="1" dirty="0">
                <a:solidFill>
                  <a:prstClr val="black"/>
                </a:solidFill>
                <a:latin typeface="Georgia" panose="02040502050405020303" pitchFamily="18" charset="0"/>
                <a:ea typeface="Microsoft YaHei UI" panose="020B0503020204020204" pitchFamily="34" charset="-122"/>
              </a:rPr>
              <a:t>段，每一段的时间都跟自己的频率成 </a:t>
            </a:r>
            <a:r>
              <a:rPr lang="en-US" altLang="zh-CN" sz="1400" b="1" dirty="0">
                <a:solidFill>
                  <a:prstClr val="black"/>
                </a:solidFill>
                <a:latin typeface="Georgia" panose="02040502050405020303" pitchFamily="18" charset="0"/>
                <a:ea typeface="Microsoft YaHei UI" panose="020B0503020204020204" pitchFamily="34" charset="-122"/>
              </a:rPr>
              <a:t>1/f </a:t>
            </a:r>
            <a:r>
              <a:rPr lang="zh-CN" altLang="en-US" sz="1400" b="1" dirty="0">
                <a:solidFill>
                  <a:prstClr val="black"/>
                </a:solidFill>
                <a:latin typeface="Georgia" panose="02040502050405020303" pitchFamily="18" charset="0"/>
                <a:ea typeface="Microsoft YaHei UI" panose="020B0503020204020204" pitchFamily="34" charset="-122"/>
              </a:rPr>
              <a:t>反比，所以总时间就是这些“</a:t>
            </a:r>
            <a:r>
              <a:rPr lang="en-US" altLang="zh-CN" sz="1400" b="1" dirty="0">
                <a:solidFill>
                  <a:prstClr val="black"/>
                </a:solidFill>
                <a:latin typeface="Georgia" panose="02040502050405020303" pitchFamily="18" charset="0"/>
                <a:ea typeface="Microsoft YaHei UI" panose="020B0503020204020204" pitchFamily="34" charset="-122"/>
              </a:rPr>
              <a:t>1/f </a:t>
            </a:r>
            <a:r>
              <a:rPr lang="zh-CN" altLang="en-US" sz="1400" b="1" dirty="0">
                <a:solidFill>
                  <a:prstClr val="black"/>
                </a:solidFill>
                <a:latin typeface="Georgia" panose="02040502050405020303" pitchFamily="18" charset="0"/>
                <a:ea typeface="Microsoft YaHei UI" panose="020B0503020204020204" pitchFamily="34" charset="-122"/>
              </a:rPr>
              <a:t>项”的加权和</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38" name="矩形: 圆角 28"/>
          <p:cNvSpPr/>
          <p:nvPr>
            <p:custDataLst>
              <p:tags r:id="rId8"/>
            </p:custDataLst>
          </p:nvPr>
        </p:nvSpPr>
        <p:spPr>
          <a:xfrm>
            <a:off x="447974" y="4518941"/>
            <a:ext cx="11286682" cy="1901736"/>
          </a:xfrm>
          <a:prstGeom prst="roundRect">
            <a:avLst>
              <a:gd name="adj" fmla="val 1147"/>
            </a:avLst>
          </a:prstGeom>
          <a:solidFill>
            <a:schemeClr val="bg1">
              <a:alpha val="0"/>
            </a:schemeClr>
          </a:solidFill>
          <a:ln w="12700">
            <a:solidFill>
              <a:schemeClr val="accent1">
                <a:alpha val="28000"/>
              </a:schemeClr>
            </a:solidFill>
            <a:prstDash val="sysDash"/>
          </a:ln>
          <a:effectLst>
            <a:outerShdw blurRad="203200" dist="88900" dir="5400000" sx="96000" sy="96000" algn="t" rotWithShape="0">
              <a:srgbClr val="003399">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schemeClr val="tx1"/>
              </a:solidFill>
              <a:latin typeface="Georgia" panose="02040502050405020303" pitchFamily="18" charset="0"/>
              <a:ea typeface="Microsoft YaHei UI" panose="020B0503020204020204" pitchFamily="34" charset="-122"/>
              <a:cs typeface="Times New Roman" panose="02020603050405020304" pitchFamily="18" charset="0"/>
            </a:endParaRPr>
          </a:p>
        </p:txBody>
      </p:sp>
      <p:sp>
        <p:nvSpPr>
          <p:cNvPr id="39" name="Freeform 9"/>
          <p:cNvSpPr/>
          <p:nvPr/>
        </p:nvSpPr>
        <p:spPr>
          <a:xfrm>
            <a:off x="721949" y="4287477"/>
            <a:ext cx="1781035" cy="462928"/>
          </a:xfrm>
          <a:custGeom>
            <a:avLst/>
            <a:gdLst>
              <a:gd name="connsiteX0" fmla="*/ 0 w 2836703"/>
              <a:gd name="connsiteY0" fmla="*/ 92768 h 556594"/>
              <a:gd name="connsiteX1" fmla="*/ 92768 w 2836703"/>
              <a:gd name="connsiteY1" fmla="*/ 0 h 556594"/>
              <a:gd name="connsiteX2" fmla="*/ 2743935 w 2836703"/>
              <a:gd name="connsiteY2" fmla="*/ 0 h 556594"/>
              <a:gd name="connsiteX3" fmla="*/ 2836703 w 2836703"/>
              <a:gd name="connsiteY3" fmla="*/ 92768 h 556594"/>
              <a:gd name="connsiteX4" fmla="*/ 2836703 w 2836703"/>
              <a:gd name="connsiteY4" fmla="*/ 463826 h 556594"/>
              <a:gd name="connsiteX5" fmla="*/ 2743935 w 2836703"/>
              <a:gd name="connsiteY5" fmla="*/ 556594 h 556594"/>
              <a:gd name="connsiteX6" fmla="*/ 92768 w 2836703"/>
              <a:gd name="connsiteY6" fmla="*/ 556594 h 556594"/>
              <a:gd name="connsiteX7" fmla="*/ 0 w 2836703"/>
              <a:gd name="connsiteY7" fmla="*/ 463826 h 556594"/>
              <a:gd name="connsiteX8" fmla="*/ 0 w 2836703"/>
              <a:gd name="connsiteY8" fmla="*/ 92768 h 556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6703" h="556594">
                <a:moveTo>
                  <a:pt x="0" y="92768"/>
                </a:moveTo>
                <a:cubicBezTo>
                  <a:pt x="0" y="41534"/>
                  <a:pt x="41534" y="0"/>
                  <a:pt x="92768" y="0"/>
                </a:cubicBezTo>
                <a:lnTo>
                  <a:pt x="2743935" y="0"/>
                </a:lnTo>
                <a:cubicBezTo>
                  <a:pt x="2795169" y="0"/>
                  <a:pt x="2836703" y="41534"/>
                  <a:pt x="2836703" y="92768"/>
                </a:cubicBezTo>
                <a:lnTo>
                  <a:pt x="2836703" y="463826"/>
                </a:lnTo>
                <a:cubicBezTo>
                  <a:pt x="2836703" y="515060"/>
                  <a:pt x="2795169" y="556594"/>
                  <a:pt x="2743935" y="556594"/>
                </a:cubicBezTo>
                <a:lnTo>
                  <a:pt x="92768" y="556594"/>
                </a:lnTo>
                <a:cubicBezTo>
                  <a:pt x="41534" y="556594"/>
                  <a:pt x="0" y="515060"/>
                  <a:pt x="0" y="463826"/>
                </a:cubicBezTo>
                <a:lnTo>
                  <a:pt x="0" y="92768"/>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spcFirstLastPara="0" vert="horz" wrap="square" lIns="250696" tIns="27171" rIns="250696" bIns="27171" numCol="1" spcCol="1270" anchor="ctr" anchorCtr="0">
            <a:noAutofit/>
          </a:bodyPr>
          <a:lstStyle/>
          <a:p>
            <a:pPr lvl="0" algn="ctr" defTabSz="889000">
              <a:lnSpc>
                <a:spcPct val="90000"/>
              </a:lnSpc>
              <a:spcBef>
                <a:spcPct val="0"/>
              </a:spcBef>
              <a:spcAft>
                <a:spcPct val="35000"/>
              </a:spcAft>
            </a:pPr>
            <a:r>
              <a:rPr lang="zh-CN" altLang="en-US" sz="1600" b="1" dirty="0">
                <a:latin typeface="Georgia" panose="02040502050405020303" pitchFamily="18" charset="0"/>
                <a:ea typeface="Microsoft YaHei UI" panose="020B0503020204020204" pitchFamily="34" charset="-122"/>
                <a:cs typeface="Times New Roman" panose="02020603050405020304" pitchFamily="18" charset="0"/>
              </a:rPr>
              <a:t>模型上下界</a:t>
            </a:r>
            <a:endParaRPr lang="en-US" sz="1600" b="1" kern="1200" dirty="0">
              <a:latin typeface="Georgia" panose="02040502050405020303" pitchFamily="18" charset="0"/>
              <a:ea typeface="Microsoft YaHei UI" panose="020B0503020204020204" pitchFamily="34" charset="-122"/>
              <a:cs typeface="Times New Roman" panose="02020603050405020304" pitchFamily="18" charset="0"/>
            </a:endParaRPr>
          </a:p>
        </p:txBody>
      </p:sp>
      <p:pic>
        <p:nvPicPr>
          <p:cNvPr id="41" name="图片 40"/>
          <p:cNvPicPr>
            <a:picLocks noChangeAspect="1"/>
          </p:cNvPicPr>
          <p:nvPr/>
        </p:nvPicPr>
        <p:blipFill>
          <a:blip r:embed="rId9"/>
          <a:stretch>
            <a:fillRect/>
          </a:stretch>
        </p:blipFill>
        <p:spPr>
          <a:xfrm>
            <a:off x="7441096" y="3498755"/>
            <a:ext cx="2911188" cy="446106"/>
          </a:xfrm>
          <a:prstGeom prst="rect">
            <a:avLst/>
          </a:prstGeom>
        </p:spPr>
      </p:pic>
      <p:pic>
        <p:nvPicPr>
          <p:cNvPr id="43" name="图片 42"/>
          <p:cNvPicPr>
            <a:picLocks noChangeAspect="1"/>
          </p:cNvPicPr>
          <p:nvPr/>
        </p:nvPicPr>
        <p:blipFill>
          <a:blip r:embed="rId10"/>
          <a:stretch>
            <a:fillRect/>
          </a:stretch>
        </p:blipFill>
        <p:spPr>
          <a:xfrm>
            <a:off x="1315054" y="4804618"/>
            <a:ext cx="1056037" cy="562454"/>
          </a:xfrm>
          <a:prstGeom prst="rect">
            <a:avLst/>
          </a:prstGeom>
        </p:spPr>
      </p:pic>
      <p:sp>
        <p:nvSpPr>
          <p:cNvPr id="44" name="文本框 43"/>
          <p:cNvSpPr txBox="1"/>
          <p:nvPr/>
        </p:nvSpPr>
        <p:spPr>
          <a:xfrm>
            <a:off x="952556" y="4931957"/>
            <a:ext cx="441249"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设</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sp>
        <p:nvSpPr>
          <p:cNvPr id="45" name="文本框 44"/>
          <p:cNvSpPr txBox="1"/>
          <p:nvPr/>
        </p:nvSpPr>
        <p:spPr>
          <a:xfrm>
            <a:off x="972541" y="5433736"/>
            <a:ext cx="1577196" cy="307777"/>
          </a:xfrm>
          <a:prstGeom prst="rect">
            <a:avLst/>
          </a:prstGeom>
          <a:noFill/>
        </p:spPr>
        <p:txBody>
          <a:bodyPr wrap="square">
            <a:spAutoFit/>
          </a:bodyPr>
          <a:lstStyle/>
          <a:p>
            <a:pPr algn="ctr">
              <a:defRPr/>
            </a:pPr>
            <a:r>
              <a:rPr lang="zh-CN" altLang="en-US" sz="1400" b="1" dirty="0">
                <a:solidFill>
                  <a:prstClr val="black"/>
                </a:solidFill>
                <a:latin typeface="Georgia" panose="02040502050405020303" pitchFamily="18" charset="0"/>
                <a:ea typeface="Microsoft YaHei UI" panose="020B0503020204020204" pitchFamily="34" charset="-122"/>
              </a:rPr>
              <a:t>一帧时间为</a:t>
            </a:r>
            <a:endParaRPr lang="zh-CN" altLang="en-US" sz="1400" b="1" dirty="0">
              <a:solidFill>
                <a:srgbClr val="FF0000"/>
              </a:solidFill>
              <a:latin typeface="Georgia" panose="02040502050405020303" pitchFamily="18" charset="0"/>
              <a:ea typeface="Microsoft YaHei UI" panose="020B0503020204020204" pitchFamily="34" charset="-122"/>
            </a:endParaRPr>
          </a:p>
        </p:txBody>
      </p:sp>
      <p:pic>
        <p:nvPicPr>
          <p:cNvPr id="47" name="图片 46"/>
          <p:cNvPicPr>
            <a:picLocks noChangeAspect="1"/>
          </p:cNvPicPr>
          <p:nvPr/>
        </p:nvPicPr>
        <p:blipFill>
          <a:blip r:embed="rId11"/>
          <a:stretch>
            <a:fillRect/>
          </a:stretch>
        </p:blipFill>
        <p:spPr>
          <a:xfrm>
            <a:off x="898335" y="5748928"/>
            <a:ext cx="1889473" cy="591955"/>
          </a:xfrm>
          <a:prstGeom prst="rect">
            <a:avLst/>
          </a:prstGeom>
        </p:spPr>
      </p:pic>
      <p:pic>
        <p:nvPicPr>
          <p:cNvPr id="49" name="图片 48"/>
          <p:cNvPicPr>
            <a:picLocks noChangeAspect="1"/>
          </p:cNvPicPr>
          <p:nvPr/>
        </p:nvPicPr>
        <p:blipFill>
          <a:blip r:embed="rId12"/>
          <a:stretch>
            <a:fillRect/>
          </a:stretch>
        </p:blipFill>
        <p:spPr>
          <a:xfrm>
            <a:off x="4197205" y="4794958"/>
            <a:ext cx="2678050" cy="610672"/>
          </a:xfrm>
          <a:prstGeom prst="rect">
            <a:avLst/>
          </a:prstGeom>
        </p:spPr>
      </p:pic>
      <p:pic>
        <p:nvPicPr>
          <p:cNvPr id="51" name="图片 50"/>
          <p:cNvPicPr>
            <a:picLocks noChangeAspect="1"/>
          </p:cNvPicPr>
          <p:nvPr/>
        </p:nvPicPr>
        <p:blipFill>
          <a:blip r:embed="rId13"/>
          <a:stretch>
            <a:fillRect/>
          </a:stretch>
        </p:blipFill>
        <p:spPr>
          <a:xfrm>
            <a:off x="3734157" y="5598811"/>
            <a:ext cx="3725260" cy="646983"/>
          </a:xfrm>
          <a:prstGeom prst="rect">
            <a:avLst/>
          </a:prstGeom>
        </p:spPr>
      </p:pic>
      <p:pic>
        <p:nvPicPr>
          <p:cNvPr id="53" name="图片 52"/>
          <p:cNvPicPr>
            <a:picLocks noChangeAspect="1"/>
          </p:cNvPicPr>
          <p:nvPr/>
        </p:nvPicPr>
        <p:blipFill>
          <a:blip r:embed="rId14"/>
          <a:stretch>
            <a:fillRect/>
          </a:stretch>
        </p:blipFill>
        <p:spPr>
          <a:xfrm>
            <a:off x="7738644" y="5036983"/>
            <a:ext cx="3756739" cy="852882"/>
          </a:xfrm>
          <a:prstGeom prst="rect">
            <a:avLst/>
          </a:prstGeom>
        </p:spPr>
      </p:pic>
      <p:cxnSp>
        <p:nvCxnSpPr>
          <p:cNvPr id="55" name="直接连接符 54"/>
          <p:cNvCxnSpPr/>
          <p:nvPr/>
        </p:nvCxnSpPr>
        <p:spPr>
          <a:xfrm>
            <a:off x="3371422" y="4508921"/>
            <a:ext cx="3389" cy="1935175"/>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597336" y="4508921"/>
            <a:ext cx="3389" cy="1935175"/>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WM_DIAGRAM_VIRTUALLY_FRAME" val="{&quot;height&quot;:304.95,&quot;left&quot;:98.45000610351562,&quot;top&quot;:131.75,&quot;width&quot;:832.7999938964844}"/>
</p:tagLst>
</file>

<file path=ppt/tags/tag2.xml><?xml version="1.0" encoding="utf-8"?>
<p:tagLst xmlns:p="http://schemas.openxmlformats.org/presentationml/2006/main">
  <p:tag name="KSO_WM_DIAGRAM_VIRTUALLY_FRAME" val="{&quot;height&quot;:304.95,&quot;left&quot;:98.45000610351562,&quot;top&quot;:131.75,&quot;width&quot;:832.7999938964844}"/>
</p:tagLst>
</file>

<file path=ppt/tags/tag3.xml><?xml version="1.0" encoding="utf-8"?>
<p:tagLst xmlns:p="http://schemas.openxmlformats.org/presentationml/2006/main">
  <p:tag name="KSO_WM_DIAGRAM_VIRTUALLY_FRAME" val="{&quot;height&quot;:304.95,&quot;left&quot;:98.45000610351562,&quot;top&quot;:131.75,&quot;width&quot;:832.7999938964844}"/>
</p:tagLst>
</file>

<file path=ppt/tags/tag4.xml><?xml version="1.0" encoding="utf-8"?>
<p:tagLst xmlns:p="http://schemas.openxmlformats.org/presentationml/2006/main">
  <p:tag name="KSO_WM_DIAGRAM_VIRTUALLY_FRAME" val="{&quot;height&quot;:304.95,&quot;left&quot;:98.45000610351562,&quot;top&quot;:131.75,&quot;width&quot;:832.7999938964844}"/>
</p:tagLst>
</file>

<file path=ppt/tags/tag5.xml><?xml version="1.0" encoding="utf-8"?>
<p:tagLst xmlns:p="http://schemas.openxmlformats.org/presentationml/2006/main">
  <p:tag name="KSO_WM_DIAGRAM_VIRTUALLY_FRAME" val="{&quot;height&quot;:304.95,&quot;left&quot;:98.45000610351562,&quot;top&quot;:131.75,&quot;width&quot;:832.7999938964844}"/>
</p:tagLst>
</file>

<file path=ppt/tags/tag6.xml><?xml version="1.0" encoding="utf-8"?>
<p:tagLst xmlns:p="http://schemas.openxmlformats.org/presentationml/2006/main">
  <p:tag name="KSO_WM_DIAGRAM_VIRTUALLY_FRAME" val="{&quot;height&quot;:304.95,&quot;left&quot;:98.45000610351562,&quot;top&quot;:131.75,&quot;width&quot;:832.7999938964844}"/>
</p:tagLst>
</file>

<file path=ppt/tags/tag7.xml><?xml version="1.0" encoding="utf-8"?>
<p:tagLst xmlns:p="http://schemas.openxmlformats.org/presentationml/2006/main">
  <p:tag name="KSO_WM_DIAGRAM_VIRTUALLY_FRAME" val="{&quot;height&quot;:304.95,&quot;left&quot;:98.45000610351562,&quot;top&quot;:131.75,&quot;width&quot;:832.7999938964844}"/>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784</Words>
  <Application>WPS 演示</Application>
  <PresentationFormat/>
  <Paragraphs>128</Paragraphs>
  <Slides>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宋体</vt:lpstr>
      <vt:lpstr>Wingdings</vt:lpstr>
      <vt:lpstr>Calibri</vt:lpstr>
      <vt:lpstr>微软雅黑</vt:lpstr>
      <vt:lpstr>等线</vt:lpstr>
      <vt:lpstr>Times New Roman</vt:lpstr>
      <vt:lpstr>Arial</vt:lpstr>
      <vt:lpstr>Georgia</vt:lpstr>
      <vt:lpstr>Microsoft YaHei UI</vt:lpstr>
      <vt:lpstr>Arial Unicode MS</vt:lpstr>
      <vt:lpstr>等线 Light</vt:lpstr>
      <vt:lpstr>Cambria Math</vt:lpstr>
      <vt:lpstr>BatangChe</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Guy Hey</dc:creator>
  <cp:lastModifiedBy>Queenie.</cp:lastModifiedBy>
  <cp:revision>48</cp:revision>
  <dcterms:created xsi:type="dcterms:W3CDTF">2025-12-10T00:53:00Z</dcterms:created>
  <dcterms:modified xsi:type="dcterms:W3CDTF">2025-12-10T14:38:37Z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2596F88523F3479ABE15A6BBB728DAAD_13</vt:lpwstr>
  </property>
  <property fmtid="{D5CDD505-2E9C-101B-9397-08002B2CF9AE}" pid="3" name="KSOProductBuildVer">
    <vt:lpwstr>2052-12.1.0.24034</vt:lpwstr>
  </property>
</Properties>
</file>