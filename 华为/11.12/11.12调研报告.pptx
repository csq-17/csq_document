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9" r:id="rId4"/>
    <p:sldId id="281" r:id="rId6"/>
    <p:sldId id="282" r:id="rId7"/>
    <p:sldId id="280" r:id="rId8"/>
    <p:sldId id="284" r:id="rId9"/>
    <p:sldId id="292" r:id="rId10"/>
    <p:sldId id="283" r:id="rId11"/>
    <p:sldId id="297" r:id="rId12"/>
    <p:sldId id="293" r:id="rId13"/>
    <p:sldId id="296" r:id="rId14"/>
    <p:sldId id="299" r:id="rId15"/>
    <p:sldId id="298" r:id="rId16"/>
    <p:sldId id="30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72" y="304"/>
      </p:cViewPr>
      <p:guideLst>
        <p:guide orient="horz" pos="2180"/>
        <p:guide pos="3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4B258-16C5-4EDD-8291-5E15B03DA2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F4838-F312-4B6B-87D0-BB6D33B1D9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1820-13F7-48B8-AF2E-ED858E10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42AB6-55B3-4FEC-9074-B5B0B3CE42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developer.huawei.com/consumer/cn/doc/Tools-Guides/quick-start-0000001791215082" TargetMode="External"/><Relationship Id="rId1" Type="http://schemas.openxmlformats.org/officeDocument/2006/relationships/hyperlink" Target="https://developer.huawei.com/consumer/cn/doc/harmonyos-guides/hitra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不同论文中负载的定义方式对比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4754" y="921870"/>
            <a:ext cx="1674011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2" name="直角三角形 51"/>
          <p:cNvSpPr/>
          <p:nvPr/>
        </p:nvSpPr>
        <p:spPr>
          <a:xfrm>
            <a:off x="2378765" y="920110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直角三角形 52"/>
          <p:cNvSpPr/>
          <p:nvPr/>
        </p:nvSpPr>
        <p:spPr>
          <a:xfrm flipH="1">
            <a:off x="704755" y="83069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文本框 66"/>
          <p:cNvSpPr txBox="1"/>
          <p:nvPr/>
        </p:nvSpPr>
        <p:spPr>
          <a:xfrm>
            <a:off x="774988" y="949441"/>
            <a:ext cx="160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现有相关工作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704754" y="1458941"/>
            <a:ext cx="10902156" cy="1814124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80258" y="1457183"/>
            <a:ext cx="100989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Dietrich &amp; Chakraborty (2014)</a:t>
            </a:r>
            <a:br>
              <a:rPr lang="zh-CN" altLang="en-US" sz="1600" dirty="0"/>
            </a:br>
            <a:r>
              <a:rPr lang="zh-CN" altLang="en-US" sz="1600" dirty="0"/>
              <a:t>把游戏的离散运行阶段（</a:t>
            </a:r>
            <a:r>
              <a:rPr lang="en-US" altLang="zh-CN" sz="1600" dirty="0"/>
              <a:t>loading / menu / gaming</a:t>
            </a:r>
            <a:r>
              <a:rPr lang="zh-CN" altLang="en-US" sz="1600" dirty="0"/>
              <a:t>）当作不同的负载标签。</a:t>
            </a:r>
            <a:br>
              <a:rPr lang="zh-CN" altLang="en-US" sz="1600" dirty="0"/>
            </a:br>
            <a:r>
              <a:rPr lang="zh-CN" altLang="en-US" sz="1600" dirty="0"/>
              <a:t>每个状态都有独立的资源画像：</a:t>
            </a:r>
            <a:endParaRPr lang="zh-CN" altLang="en-US" sz="1600" dirty="0"/>
          </a:p>
          <a:p>
            <a:r>
              <a:rPr lang="en-US" altLang="zh-CN" sz="1600" dirty="0"/>
              <a:t>loading </a:t>
            </a:r>
            <a:r>
              <a:rPr lang="zh-CN" altLang="en-US" sz="1600" dirty="0"/>
              <a:t>阶段 → 内存受限</a:t>
            </a:r>
            <a:endParaRPr lang="zh-CN" altLang="en-US" sz="1600" dirty="0"/>
          </a:p>
          <a:p>
            <a:r>
              <a:rPr lang="en-US" altLang="zh-CN" sz="1600" dirty="0"/>
              <a:t>menu </a:t>
            </a:r>
            <a:r>
              <a:rPr lang="zh-CN" altLang="en-US" sz="1600" dirty="0"/>
              <a:t>阶段 → 交互轻、低帧率需求</a:t>
            </a:r>
            <a:endParaRPr lang="zh-CN" altLang="en-US" sz="1600" dirty="0"/>
          </a:p>
          <a:p>
            <a:r>
              <a:rPr lang="en-US" altLang="zh-CN" sz="1600" dirty="0"/>
              <a:t>gaming </a:t>
            </a:r>
            <a:r>
              <a:rPr lang="zh-CN" altLang="en-US" sz="1600" dirty="0"/>
              <a:t>阶段 → 高算力与带宽需求</a:t>
            </a:r>
            <a:br>
              <a:rPr lang="zh-CN" altLang="en-US" sz="1600" dirty="0"/>
            </a:br>
            <a:r>
              <a:rPr lang="zh-CN" altLang="en-US" sz="1600" dirty="0"/>
              <a:t>因此“状态 </a:t>
            </a:r>
            <a:r>
              <a:rPr lang="en-US" altLang="zh-CN" sz="1600" dirty="0"/>
              <a:t>= </a:t>
            </a:r>
            <a:r>
              <a:rPr lang="zh-CN" altLang="en-US" sz="1600" dirty="0"/>
              <a:t>负载标签”，配上目标 </a:t>
            </a:r>
            <a:r>
              <a:rPr lang="en-US" altLang="zh-CN" sz="1600" dirty="0"/>
              <a:t>FPS</a:t>
            </a:r>
            <a:r>
              <a:rPr lang="zh-CN" altLang="en-US" sz="1600" dirty="0"/>
              <a:t>，可预测当下所需频率。</a:t>
            </a:r>
            <a:endParaRPr lang="zh-CN" altLang="en-US" sz="16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471" y="3584936"/>
            <a:ext cx="8080609" cy="26841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不同论文中负载的定义方式对比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4754" y="921870"/>
            <a:ext cx="1674011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2" name="直角三角形 51"/>
          <p:cNvSpPr/>
          <p:nvPr/>
        </p:nvSpPr>
        <p:spPr>
          <a:xfrm>
            <a:off x="2378765" y="920110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直角三角形 52"/>
          <p:cNvSpPr/>
          <p:nvPr/>
        </p:nvSpPr>
        <p:spPr>
          <a:xfrm flipH="1">
            <a:off x="704755" y="83069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文本框 66"/>
          <p:cNvSpPr txBox="1"/>
          <p:nvPr/>
        </p:nvSpPr>
        <p:spPr>
          <a:xfrm>
            <a:off x="774988" y="949441"/>
            <a:ext cx="160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现有相关工作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704754" y="1458941"/>
            <a:ext cx="10902156" cy="1814124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80258" y="1457183"/>
            <a:ext cx="1009896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Co-Cap</a:t>
            </a:r>
            <a:br>
              <a:rPr lang="en-US" altLang="zh-CN" sz="1600" dirty="0"/>
            </a:br>
            <a:r>
              <a:rPr lang="zh-CN" altLang="en-US" sz="1600" dirty="0"/>
              <a:t>不直接用状态或应用名，而是通过</a:t>
            </a:r>
            <a:r>
              <a:rPr lang="en-US" altLang="zh-CN" sz="1600" b="1" dirty="0"/>
              <a:t>CPU/GPU </a:t>
            </a:r>
            <a:r>
              <a:rPr lang="zh-CN" altLang="en-US" sz="1600" b="1" dirty="0"/>
              <a:t>利用率与频率的乘积归一化</a:t>
            </a:r>
            <a:r>
              <a:rPr lang="zh-CN" altLang="en-US" sz="1600" dirty="0"/>
              <a:t>定义负载：</a:t>
            </a:r>
            <a:endParaRPr lang="en-US" altLang="zh-CN" sz="1600" dirty="0"/>
          </a:p>
          <a:p>
            <a:r>
              <a:rPr lang="en-US" altLang="zh-CN" dirty="0"/>
              <a:t>Cost = (</a:t>
            </a:r>
            <a:r>
              <a:rPr lang="zh-CN" altLang="zh-CN" dirty="0"/>
              <a:t>当前利用率</a:t>
            </a:r>
            <a:r>
              <a:rPr lang="en-US" altLang="zh-CN" dirty="0"/>
              <a:t> × </a:t>
            </a:r>
            <a:r>
              <a:rPr lang="zh-CN" altLang="zh-CN" dirty="0"/>
              <a:t>当前频率</a:t>
            </a:r>
            <a:r>
              <a:rPr lang="en-US" altLang="zh-CN" dirty="0"/>
              <a:t>) / (</a:t>
            </a:r>
            <a:r>
              <a:rPr lang="zh-CN" altLang="zh-CN" dirty="0"/>
              <a:t>最大利用率</a:t>
            </a:r>
            <a:r>
              <a:rPr lang="en-US" altLang="zh-CN" dirty="0"/>
              <a:t> × </a:t>
            </a:r>
            <a:r>
              <a:rPr lang="zh-CN" altLang="zh-CN" dirty="0"/>
              <a:t>最大频率</a:t>
            </a:r>
            <a:r>
              <a:rPr lang="en-US" altLang="zh-CN" dirty="0"/>
              <a:t>)</a:t>
            </a:r>
            <a:endParaRPr lang="zh-CN" altLang="en-US" sz="1600" dirty="0"/>
          </a:p>
          <a:p>
            <a:r>
              <a:rPr lang="zh-CN" altLang="en-US" sz="1600" dirty="0"/>
              <a:t>将 </a:t>
            </a:r>
            <a:r>
              <a:rPr lang="en-US" altLang="zh-CN" sz="1600" dirty="0"/>
              <a:t>CPU-cost </a:t>
            </a:r>
            <a:r>
              <a:rPr lang="zh-CN" altLang="en-US" sz="1600" dirty="0"/>
              <a:t>与 </a:t>
            </a:r>
            <a:r>
              <a:rPr lang="en-US" altLang="zh-CN" sz="1600" dirty="0"/>
              <a:t>GPU-cost </a:t>
            </a:r>
            <a:r>
              <a:rPr lang="zh-CN" altLang="en-US" sz="1600" dirty="0"/>
              <a:t>组成二维网格，每个格子代表一种负载组合。</a:t>
            </a:r>
            <a:br>
              <a:rPr lang="zh-CN" altLang="en-US" sz="1600" dirty="0"/>
            </a:br>
            <a:r>
              <a:rPr lang="zh-CN" altLang="en-US" sz="1600" dirty="0"/>
              <a:t>离线阶段测出维持目标 </a:t>
            </a:r>
            <a:r>
              <a:rPr lang="en-US" altLang="zh-CN" sz="1600" dirty="0"/>
              <a:t>FPS </a:t>
            </a:r>
            <a:r>
              <a:rPr lang="zh-CN" altLang="en-US" sz="1600" dirty="0"/>
              <a:t>的最小频率，生成查找表用于后续调频。</a:t>
            </a:r>
            <a:endParaRPr lang="en-US" altLang="zh-CN" sz="1600" dirty="0"/>
          </a:p>
          <a:p>
            <a:r>
              <a:rPr lang="en-US" altLang="zh-CN" sz="1600" b="1" dirty="0"/>
              <a:t>CRAVE (EuroSys’25)</a:t>
            </a:r>
            <a:br>
              <a:rPr lang="en-US" altLang="zh-CN" sz="1600" dirty="0"/>
            </a:br>
            <a:r>
              <a:rPr lang="zh-CN" altLang="en-US" sz="1600" dirty="0"/>
              <a:t>思路与 </a:t>
            </a:r>
            <a:r>
              <a:rPr lang="en-US" altLang="zh-CN" sz="1600" dirty="0"/>
              <a:t>Co-Cap </a:t>
            </a:r>
            <a:r>
              <a:rPr lang="zh-CN" altLang="en-US" sz="1600" dirty="0"/>
              <a:t>类似，强调 </a:t>
            </a:r>
            <a:r>
              <a:rPr lang="en-US" altLang="zh-CN" sz="1600" dirty="0"/>
              <a:t>CPU / GPU / </a:t>
            </a:r>
            <a:r>
              <a:rPr lang="zh-CN" altLang="en-US" sz="1600" dirty="0"/>
              <a:t>内存三者耦合下的联合负载分析。</a:t>
            </a: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770" y="3554159"/>
            <a:ext cx="5377449" cy="28599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667" y="2055702"/>
            <a:ext cx="3060700" cy="410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不同论文中负载的定义方式对比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4754" y="921870"/>
            <a:ext cx="1674011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2" name="直角三角形 51"/>
          <p:cNvSpPr/>
          <p:nvPr/>
        </p:nvSpPr>
        <p:spPr>
          <a:xfrm>
            <a:off x="2378765" y="920110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直角三角形 52"/>
          <p:cNvSpPr/>
          <p:nvPr/>
        </p:nvSpPr>
        <p:spPr>
          <a:xfrm flipH="1">
            <a:off x="704755" y="83069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文本框 66"/>
          <p:cNvSpPr txBox="1"/>
          <p:nvPr/>
        </p:nvSpPr>
        <p:spPr>
          <a:xfrm>
            <a:off x="774988" y="949441"/>
            <a:ext cx="160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现有相关工作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704754" y="1458941"/>
            <a:ext cx="10902156" cy="2306566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80258" y="1457183"/>
            <a:ext cx="100989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/>
              <a:t>zTT</a:t>
            </a:r>
            <a:r>
              <a:rPr lang="en-US" altLang="zh-CN" sz="1600" b="1" dirty="0"/>
              <a:t> (MobiSys’21)</a:t>
            </a:r>
            <a:br>
              <a:rPr lang="zh-CN" altLang="en-US" sz="1600" dirty="0"/>
            </a:br>
            <a:r>
              <a:rPr lang="zh-CN" altLang="en-US" sz="1600" dirty="0"/>
              <a:t>用系统可读取的</a:t>
            </a:r>
            <a:r>
              <a:rPr lang="zh-CN" altLang="en-US" sz="1600" b="1" dirty="0"/>
              <a:t>七个实时信号</a:t>
            </a:r>
            <a:r>
              <a:rPr lang="zh-CN" altLang="en-US" sz="1600" dirty="0"/>
              <a:t>（</a:t>
            </a:r>
            <a:r>
              <a:rPr lang="en-US" altLang="zh-CN" sz="1600" dirty="0"/>
              <a:t>CPU/GPU </a:t>
            </a:r>
            <a:r>
              <a:rPr lang="zh-CN" altLang="en-US" sz="1600" dirty="0"/>
              <a:t>频点、温度、功耗、帧率等）来表征负载。</a:t>
            </a:r>
            <a:br>
              <a:rPr lang="zh-CN" altLang="en-US" sz="1600" dirty="0"/>
            </a:br>
            <a:r>
              <a:rPr lang="zh-CN" altLang="en-US" sz="1600" dirty="0"/>
              <a:t>通过 </a:t>
            </a:r>
            <a:r>
              <a:rPr lang="en-US" altLang="zh-CN" sz="1600" dirty="0"/>
              <a:t>DQN </a:t>
            </a:r>
            <a:r>
              <a:rPr lang="zh-CN" altLang="en-US" sz="1600" dirty="0"/>
              <a:t>强化学习在试错中学会在不同信号组合下选择最优频率。</a:t>
            </a:r>
            <a:br>
              <a:rPr lang="zh-CN" altLang="en-US" sz="1600" dirty="0"/>
            </a:br>
            <a:r>
              <a:rPr lang="zh-CN" altLang="en-US" sz="1600" dirty="0"/>
              <a:t>能在保持 </a:t>
            </a:r>
            <a:r>
              <a:rPr lang="en-US" altLang="zh-CN" sz="1600" dirty="0"/>
              <a:t>FPS </a:t>
            </a:r>
            <a:r>
              <a:rPr lang="zh-CN" altLang="en-US" sz="1600" dirty="0"/>
              <a:t>稳定的同时减少功耗与过热。</a:t>
            </a:r>
            <a:endParaRPr lang="en-US" altLang="zh-CN" sz="1600" dirty="0"/>
          </a:p>
          <a:p>
            <a:r>
              <a:rPr lang="en-US" altLang="zh-CN" sz="1600" b="1" dirty="0"/>
              <a:t>A Workload</a:t>
            </a:r>
            <a:br>
              <a:rPr lang="zh-CN" altLang="en-US" sz="1600" dirty="0"/>
            </a:br>
            <a:r>
              <a:rPr lang="zh-CN" altLang="en-US" sz="1600" dirty="0"/>
              <a:t>将 </a:t>
            </a:r>
            <a:r>
              <a:rPr lang="en-US" altLang="zh-CN" sz="1600" dirty="0"/>
              <a:t>CPU “</a:t>
            </a:r>
            <a:r>
              <a:rPr lang="zh-CN" altLang="en-US" sz="1600" dirty="0"/>
              <a:t>在算”与“在等”的利用率、</a:t>
            </a:r>
            <a:r>
              <a:rPr lang="en-US" altLang="zh-CN" sz="1600" dirty="0"/>
              <a:t>GPU </a:t>
            </a:r>
            <a:r>
              <a:rPr lang="zh-CN" altLang="en-US" sz="1600" dirty="0"/>
              <a:t>利用率、频率、温度等信号拼接，</a:t>
            </a:r>
            <a:br>
              <a:rPr lang="zh-CN" altLang="en-US" sz="1600" dirty="0"/>
            </a:br>
            <a:r>
              <a:rPr lang="zh-CN" altLang="en-US" sz="1600" dirty="0"/>
              <a:t>经编码器 </a:t>
            </a:r>
            <a:r>
              <a:rPr lang="en-US" altLang="zh-CN" sz="1600" dirty="0"/>
              <a:t>+ LSTM </a:t>
            </a:r>
            <a:r>
              <a:rPr lang="zh-CN" altLang="en-US" sz="1600" dirty="0"/>
              <a:t>压缩为一个时序向量 </a:t>
            </a:r>
            <a:r>
              <a:rPr lang="en-US" altLang="zh-CN" sz="1600" dirty="0"/>
              <a:t>m(t)</a:t>
            </a:r>
            <a:r>
              <a:rPr lang="zh-CN" altLang="en-US" sz="1600" dirty="0"/>
              <a:t>。</a:t>
            </a:r>
            <a:br>
              <a:rPr lang="zh-CN" altLang="en-US" sz="1600" dirty="0"/>
            </a:br>
            <a:r>
              <a:rPr lang="zh-CN" altLang="en-US" sz="1600" dirty="0"/>
              <a:t>这个 </a:t>
            </a:r>
            <a:r>
              <a:rPr lang="en-US" altLang="zh-CN" sz="1600" dirty="0"/>
              <a:t>m(t) </a:t>
            </a:r>
            <a:r>
              <a:rPr lang="zh-CN" altLang="en-US" sz="1600" dirty="0"/>
              <a:t>即为“元状态”，能刻画“算得多 </a:t>
            </a:r>
            <a:r>
              <a:rPr lang="en-US" altLang="zh-CN" sz="1600" dirty="0"/>
              <a:t>/ </a:t>
            </a:r>
            <a:r>
              <a:rPr lang="zh-CN" altLang="en-US" sz="1600" dirty="0"/>
              <a:t>等得多 </a:t>
            </a:r>
            <a:r>
              <a:rPr lang="en-US" altLang="zh-CN" sz="1600" dirty="0"/>
              <a:t>/ </a:t>
            </a:r>
            <a:r>
              <a:rPr lang="zh-CN" altLang="en-US" sz="1600" dirty="0"/>
              <a:t>谁是瓶颈”，</a:t>
            </a:r>
            <a:br>
              <a:rPr lang="zh-CN" altLang="en-US" sz="1600" dirty="0"/>
            </a:br>
            <a:r>
              <a:rPr lang="zh-CN" altLang="en-US" sz="1600" dirty="0"/>
              <a:t>并可自然适应多个应用叠加时的并发负载。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995" y="4200886"/>
            <a:ext cx="7380009" cy="1908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不同论文中负载的定义方式对比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4754" y="921870"/>
            <a:ext cx="2568534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2" name="直角三角形 51"/>
          <p:cNvSpPr/>
          <p:nvPr/>
        </p:nvSpPr>
        <p:spPr>
          <a:xfrm>
            <a:off x="3273288" y="920110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直角三角形 52"/>
          <p:cNvSpPr/>
          <p:nvPr/>
        </p:nvSpPr>
        <p:spPr>
          <a:xfrm flipH="1">
            <a:off x="704755" y="83069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文本框 66"/>
          <p:cNvSpPr txBox="1"/>
          <p:nvPr/>
        </p:nvSpPr>
        <p:spPr>
          <a:xfrm>
            <a:off x="774988" y="949441"/>
            <a:ext cx="249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负载表征的启示与总结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704754" y="1458941"/>
            <a:ext cx="10902156" cy="979105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046519" y="1471631"/>
            <a:ext cx="10098961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从语义层面看：负载定义逐渐摆脱“应用语义”，转向直接用系统信号进行描述。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从量化层面看：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CPU/GPU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的利用率、频率、温度、功耗、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等信号可形成可量化特征集。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从模型层面看：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或编码器结构可以将这些时序信号压缩，实现“实时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可泛化”的负载表征方式。</a:t>
            </a:r>
            <a:endParaRPr lang="en-US" altLang="zh-CN" sz="1600" kern="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04754" y="2673067"/>
          <a:ext cx="10902156" cy="381244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34052"/>
                <a:gridCol w="3634052"/>
                <a:gridCol w="3634052"/>
              </a:tblGrid>
              <a:tr h="18927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论文（会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年）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负载如何被</a:t>
                      </a:r>
                      <a:r>
                        <a:rPr lang="zh-CN" altLang="en-US" sz="1000" b="1" dirty="0"/>
                        <a:t>定义</a:t>
                      </a:r>
                      <a:r>
                        <a:rPr lang="en-US" altLang="zh-CN" sz="1000" b="1" dirty="0"/>
                        <a:t>/</a:t>
                      </a:r>
                      <a:r>
                        <a:rPr lang="zh-CN" altLang="en-US" sz="1000" b="1" dirty="0"/>
                        <a:t>描述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方法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</a:tr>
              <a:tr h="919313">
                <a:tc>
                  <a:txBody>
                    <a:bodyPr/>
                    <a:lstStyle/>
                    <a:p>
                      <a:r>
                        <a:rPr lang="en-US" sz="1000" dirty="0"/>
                        <a:t>Dietrich &amp; Chakraborty, Lightweight graphics instrumentation for game state-specific power management in </a:t>
                      </a:r>
                      <a:r>
                        <a:rPr lang="en-US" sz="1000" dirty="0" err="1"/>
                        <a:t>Android（Multimedia</a:t>
                      </a:r>
                      <a:r>
                        <a:rPr lang="en-US" sz="1000" dirty="0"/>
                        <a:t> Systems, 2014）</a:t>
                      </a:r>
                      <a:endParaRPr 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将</a:t>
                      </a:r>
                      <a:r>
                        <a:rPr lang="zh-CN" altLang="en-US" sz="1000" b="1" dirty="0"/>
                        <a:t>游戏状态</a:t>
                      </a:r>
                      <a:r>
                        <a:rPr lang="zh-CN" altLang="en-US" sz="1000" dirty="0"/>
                        <a:t>（</a:t>
                      </a:r>
                      <a:r>
                        <a:rPr lang="en-US" altLang="zh-CN" sz="1000" dirty="0"/>
                        <a:t>loading / menu / gameplay …</a:t>
                      </a:r>
                      <a:r>
                        <a:rPr lang="zh-CN" altLang="en-US" sz="1000" dirty="0"/>
                        <a:t>）作为离散负载标签；拦截图形栈调用识别当前状态，并为每个状态保存目标 </a:t>
                      </a:r>
                      <a:r>
                        <a:rPr lang="en-US" altLang="zh-CN" sz="1000" dirty="0"/>
                        <a:t>FPS </a:t>
                      </a:r>
                      <a:r>
                        <a:rPr lang="zh-CN" altLang="en-US" sz="1000" dirty="0"/>
                        <a:t>与</a:t>
                      </a:r>
                      <a:r>
                        <a:rPr lang="zh-CN" altLang="en-US" sz="1000" b="1" dirty="0"/>
                        <a:t>该状态的工作负载画像</a:t>
                      </a:r>
                      <a:r>
                        <a:rPr lang="zh-CN" altLang="en-US" sz="1000" dirty="0"/>
                        <a:t>（谁更瓶颈、要多少频率）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运行时依据“当前游戏状态→该状态画像”选频，保证 </a:t>
                      </a:r>
                      <a:r>
                        <a:rPr lang="en-US" altLang="zh-CN" sz="1000" dirty="0"/>
                        <a:t>FPS </a:t>
                      </a:r>
                      <a:r>
                        <a:rPr lang="zh-CN" altLang="en-US" sz="1000" dirty="0"/>
                        <a:t>同时省电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</a:tr>
              <a:tr h="594849">
                <a:tc>
                  <a:txBody>
                    <a:bodyPr/>
                    <a:lstStyle/>
                    <a:p>
                      <a:r>
                        <a:rPr lang="en-US" sz="1000"/>
                        <a:t>Park et al., Co-Cap: Energy-Efficient Cooperative CPU-GPU Frequency Capping for Mobile Games（ACM SAC, 2016）</a:t>
                      </a:r>
                      <a:endParaRPr lang="en-US" sz="100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用</a:t>
                      </a:r>
                      <a:r>
                        <a:rPr lang="en-US" altLang="zh-CN" sz="1000" b="1" dirty="0"/>
                        <a:t>CPU-/GPU-dominated</a:t>
                      </a:r>
                      <a:r>
                        <a:rPr lang="zh-CN" altLang="en-US" sz="1000" dirty="0"/>
                        <a:t>的</a:t>
                      </a:r>
                      <a:r>
                        <a:rPr lang="zh-CN" altLang="en-US" sz="1000" b="1" dirty="0"/>
                        <a:t>主导性标签</a:t>
                      </a:r>
                      <a:r>
                        <a:rPr lang="zh-CN" altLang="en-US" sz="1000" dirty="0"/>
                        <a:t>＋</a:t>
                      </a:r>
                      <a:r>
                        <a:rPr lang="zh-CN" altLang="en-US" sz="1000" b="1" dirty="0"/>
                        <a:t>规范化 </a:t>
                      </a:r>
                      <a:r>
                        <a:rPr lang="en-US" altLang="zh-CN" sz="1000" b="1" dirty="0"/>
                        <a:t>CPU/GPU </a:t>
                      </a:r>
                      <a:r>
                        <a:rPr lang="zh-CN" altLang="en-US" sz="1000" b="1" dirty="0"/>
                        <a:t>成本指数</a:t>
                      </a:r>
                      <a:r>
                        <a:rPr lang="zh-CN" altLang="en-US" sz="1000" dirty="0"/>
                        <a:t>来描述负载；离线为不同类型游戏建立</a:t>
                      </a:r>
                      <a:r>
                        <a:rPr lang="zh-CN" altLang="en-US" sz="1000" b="1" dirty="0"/>
                        <a:t>饱和频率查表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先离线求“饱和频率表”，上线按主导性查表给 </a:t>
                      </a:r>
                      <a:r>
                        <a:rPr lang="en-US" altLang="zh-CN" sz="1000"/>
                        <a:t>CPU/GPU </a:t>
                      </a:r>
                      <a:r>
                        <a:rPr lang="zh-CN" altLang="en-US" sz="1000"/>
                        <a:t>设</a:t>
                      </a:r>
                      <a:r>
                        <a:rPr lang="zh-CN" altLang="en-US" sz="1000" b="1"/>
                        <a:t>频率上限</a:t>
                      </a:r>
                      <a:r>
                        <a:rPr lang="zh-CN" altLang="en-US" sz="1000"/>
                        <a:t>以避过度供给</a:t>
                      </a:r>
                      <a:endParaRPr lang="zh-CN" altLang="en-US" sz="1000"/>
                    </a:p>
                  </a:txBody>
                  <a:tcPr marL="19003" marR="19003" marT="9501" marB="9501" anchor="ctr"/>
                </a:tc>
              </a:tr>
              <a:tr h="675965">
                <a:tc>
                  <a:txBody>
                    <a:bodyPr/>
                    <a:lstStyle/>
                    <a:p>
                      <a:r>
                        <a:rPr lang="en-US" sz="1000"/>
                        <a:t>Kim et al., zTT: Learning-Based DVFS with Zero Thermal Throttling for Mobile Devices（ACM MobiSys, 2021）</a:t>
                      </a:r>
                      <a:endParaRPr lang="en-US" sz="100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以</a:t>
                      </a:r>
                      <a:r>
                        <a:rPr lang="zh-CN" altLang="en-US" sz="1000" b="1" dirty="0"/>
                        <a:t>应用为单位</a:t>
                      </a:r>
                      <a:r>
                        <a:rPr lang="zh-CN" altLang="en-US" sz="1000" dirty="0"/>
                        <a:t>训练 </a:t>
                      </a:r>
                      <a:r>
                        <a:rPr lang="en-US" altLang="zh-CN" sz="1000" dirty="0"/>
                        <a:t>DQN</a:t>
                      </a:r>
                      <a:r>
                        <a:rPr lang="zh-CN" altLang="en-US" sz="1000" dirty="0"/>
                        <a:t>；</a:t>
                      </a:r>
                      <a:r>
                        <a:rPr lang="zh-CN" altLang="en-US" sz="1000" b="1" dirty="0"/>
                        <a:t>状态</a:t>
                      </a:r>
                      <a:r>
                        <a:rPr lang="en-US" altLang="zh-CN" sz="1000" b="1" dirty="0"/>
                        <a:t>/</a:t>
                      </a:r>
                      <a:r>
                        <a:rPr lang="zh-CN" altLang="en-US" sz="1000" b="1" dirty="0"/>
                        <a:t>特征</a:t>
                      </a:r>
                      <a:r>
                        <a:rPr lang="zh-CN" altLang="en-US" sz="1000" dirty="0"/>
                        <a:t>包含 </a:t>
                      </a:r>
                      <a:r>
                        <a:rPr lang="en-US" altLang="zh-CN" sz="1000" dirty="0"/>
                        <a:t>FPS</a:t>
                      </a:r>
                      <a:r>
                        <a:rPr lang="zh-CN" altLang="en-US" sz="1000" dirty="0"/>
                        <a:t>、温度、功耗、当前 </a:t>
                      </a:r>
                      <a:r>
                        <a:rPr lang="en-US" altLang="zh-CN" sz="1000" dirty="0"/>
                        <a:t>CPU/GPU </a:t>
                      </a:r>
                      <a:r>
                        <a:rPr lang="zh-CN" altLang="en-US" sz="1000" dirty="0"/>
                        <a:t>频率等，</a:t>
                      </a:r>
                      <a:r>
                        <a:rPr lang="zh-CN" altLang="en-US" sz="1000" b="1" dirty="0"/>
                        <a:t>奖励</a:t>
                      </a:r>
                      <a:r>
                        <a:rPr lang="zh-CN" altLang="en-US" sz="1000" dirty="0"/>
                        <a:t>以</a:t>
                      </a:r>
                      <a:r>
                        <a:rPr lang="en-US" altLang="zh-CN" sz="1000" b="1" dirty="0" err="1"/>
                        <a:t>QoE</a:t>
                      </a:r>
                      <a:r>
                        <a:rPr lang="zh-CN" altLang="en-US" sz="1000" b="1" dirty="0"/>
                        <a:t>（通常是 </a:t>
                      </a:r>
                      <a:r>
                        <a:rPr lang="en-US" altLang="zh-CN" sz="1000" b="1" dirty="0"/>
                        <a:t>FPS</a:t>
                      </a:r>
                      <a:r>
                        <a:rPr lang="zh-CN" altLang="en-US" sz="1000" b="1" dirty="0"/>
                        <a:t>）</a:t>
                      </a:r>
                      <a:r>
                        <a:rPr lang="en-US" altLang="zh-CN" sz="1000" b="1" dirty="0"/>
                        <a:t>–</a:t>
                      </a:r>
                      <a:r>
                        <a:rPr lang="zh-CN" altLang="en-US" sz="1000" b="1" dirty="0"/>
                        <a:t>功耗</a:t>
                      </a:r>
                      <a:r>
                        <a:rPr lang="zh-CN" altLang="en-US" sz="1000" dirty="0"/>
                        <a:t>权衡并约束热失速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学习“在不同热环境下的联合 </a:t>
                      </a:r>
                      <a:r>
                        <a:rPr lang="en-US" altLang="zh-CN" sz="1000" dirty="0"/>
                        <a:t>CPU/GPU </a:t>
                      </a:r>
                      <a:r>
                        <a:rPr lang="zh-CN" altLang="en-US" sz="1000" dirty="0"/>
                        <a:t>选频”，目标是</a:t>
                      </a:r>
                      <a:r>
                        <a:rPr lang="zh-CN" altLang="en-US" sz="1000" b="1" dirty="0"/>
                        <a:t>零热降频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</a:tr>
              <a:tr h="675965">
                <a:tc>
                  <a:txBody>
                    <a:bodyPr/>
                    <a:lstStyle/>
                    <a:p>
                      <a:r>
                        <a:rPr lang="en-US" sz="1000"/>
                        <a:t>Lin et al., A Workload-Aware DVFS Robust to Concurrent Tasks for Mobile Devices（ACM MobiCom, 2023）</a:t>
                      </a:r>
                      <a:endParaRPr lang="en-US" sz="100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用</a:t>
                      </a:r>
                      <a:r>
                        <a:rPr lang="en-US" altLang="zh-CN" sz="1000" b="1" dirty="0"/>
                        <a:t>meta-state</a:t>
                      </a:r>
                      <a:r>
                        <a:rPr lang="zh-CN" altLang="en-US" sz="1000" b="1" dirty="0"/>
                        <a:t>（元状态）作为负载表达：由</a:t>
                      </a:r>
                      <a:r>
                        <a:rPr lang="en-US" altLang="zh-CN" sz="1000" b="1" dirty="0"/>
                        <a:t>CPU/GPU </a:t>
                      </a:r>
                      <a:r>
                        <a:rPr lang="zh-CN" altLang="en-US" sz="1000" b="1" dirty="0"/>
                        <a:t>利用率等多源硬件元数据</a:t>
                      </a:r>
                      <a:r>
                        <a:rPr lang="zh-CN" altLang="en-US" sz="1000" dirty="0"/>
                        <a:t>融合并用 </a:t>
                      </a:r>
                      <a:r>
                        <a:rPr lang="en-US" altLang="zh-CN" sz="1000" b="1" dirty="0"/>
                        <a:t>LSTM</a:t>
                      </a:r>
                      <a:r>
                        <a:rPr lang="zh-CN" altLang="en-US" sz="1000" dirty="0"/>
                        <a:t> 学到的时间序列上下文；显式面向</a:t>
                      </a:r>
                      <a:r>
                        <a:rPr lang="zh-CN" altLang="en-US" sz="1000" b="1" dirty="0"/>
                        <a:t>并发任务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基于 </a:t>
                      </a:r>
                      <a:r>
                        <a:rPr lang="en-US" altLang="zh-CN" sz="1000"/>
                        <a:t>meta-state </a:t>
                      </a:r>
                      <a:r>
                        <a:rPr lang="zh-CN" altLang="en-US" sz="1000"/>
                        <a:t>的</a:t>
                      </a:r>
                      <a:r>
                        <a:rPr lang="zh-CN" altLang="en-US" sz="1000" b="1"/>
                        <a:t>工作负载上下文指示器</a:t>
                      </a:r>
                      <a:r>
                        <a:rPr lang="zh-CN" altLang="en-US" sz="1000"/>
                        <a:t>＋</a:t>
                      </a:r>
                      <a:r>
                        <a:rPr lang="en-US" altLang="zh-CN" sz="1000"/>
                        <a:t>DQN</a:t>
                      </a:r>
                      <a:r>
                        <a:rPr lang="zh-CN" altLang="en-US" sz="1000"/>
                        <a:t>（</a:t>
                      </a:r>
                      <a:r>
                        <a:rPr lang="en-US" altLang="zh-CN" sz="1000"/>
                        <a:t>GearDVFS</a:t>
                      </a:r>
                      <a:r>
                        <a:rPr lang="zh-CN" altLang="en-US" sz="1000"/>
                        <a:t>），在并发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动态场景下鲁棒选频</a:t>
                      </a:r>
                      <a:endParaRPr lang="zh-CN" altLang="en-US" sz="1000"/>
                    </a:p>
                  </a:txBody>
                  <a:tcPr marL="19003" marR="19003" marT="9501" marB="9501" anchor="ctr"/>
                </a:tc>
              </a:tr>
              <a:tr h="757081">
                <a:tc>
                  <a:txBody>
                    <a:bodyPr/>
                    <a:lstStyle/>
                    <a:p>
                      <a:r>
                        <a:rPr lang="en-US" sz="1000" dirty="0"/>
                        <a:t>Mukherjee et al., CRAVE: Analyzing Cross-Resource Interaction to Improve Energy Efficiency in </a:t>
                      </a:r>
                      <a:r>
                        <a:rPr lang="en-US" sz="1000" dirty="0" err="1"/>
                        <a:t>SoCs（ACM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EuroSys</a:t>
                      </a:r>
                      <a:r>
                        <a:rPr lang="en-US" sz="1000" dirty="0"/>
                        <a:t>, 2025）</a:t>
                      </a:r>
                      <a:endParaRPr lang="en-US" sz="1000" dirty="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（非 </a:t>
                      </a:r>
                      <a:r>
                        <a:rPr lang="en-US" altLang="zh-CN" sz="1000"/>
                        <a:t>workload-specific</a:t>
                      </a:r>
                      <a:r>
                        <a:rPr lang="zh-CN" altLang="en-US" sz="1000"/>
                        <a:t>，对比基线）不以应用特征表征负载；而是通过</a:t>
                      </a:r>
                      <a:r>
                        <a:rPr lang="zh-CN" altLang="en-US" sz="1000" b="1"/>
                        <a:t>微基准</a:t>
                      </a:r>
                      <a:r>
                        <a:rPr lang="zh-CN" altLang="en-US" sz="1000"/>
                        <a:t>学习</a:t>
                      </a:r>
                      <a:r>
                        <a:rPr lang="zh-CN" altLang="en-US" sz="1000" b="1"/>
                        <a:t>资源交互矩阵</a:t>
                      </a:r>
                      <a:r>
                        <a:rPr lang="zh-CN" altLang="en-US" sz="1000"/>
                        <a:t>与</a:t>
                      </a:r>
                      <a:r>
                        <a:rPr lang="zh-CN" altLang="en-US" sz="1000" b="1"/>
                        <a:t>效用指标</a:t>
                      </a:r>
                      <a:r>
                        <a:rPr lang="zh-CN" altLang="en-US" sz="1000"/>
                        <a:t>，在</a:t>
                      </a:r>
                      <a:r>
                        <a:rPr lang="zh-CN" altLang="en-US" sz="1000" b="1"/>
                        <a:t>应用无关</a:t>
                      </a:r>
                      <a:r>
                        <a:rPr lang="zh-CN" altLang="en-US" sz="1000"/>
                        <a:t>前提下识别</a:t>
                      </a:r>
                      <a:r>
                        <a:rPr lang="zh-CN" altLang="en-US" sz="1000" b="1"/>
                        <a:t>主导资源</a:t>
                      </a:r>
                      <a:endParaRPr lang="zh-CN" altLang="en-US" sz="1000"/>
                    </a:p>
                  </a:txBody>
                  <a:tcPr marL="19003" marR="19003" marT="9501" marB="95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一次性平台建模→运行时按</a:t>
                      </a:r>
                      <a:r>
                        <a:rPr lang="zh-CN" altLang="en-US" sz="1000" b="1" dirty="0"/>
                        <a:t>跨资源耦合</a:t>
                      </a:r>
                      <a:r>
                        <a:rPr lang="zh-CN" altLang="en-US" sz="1000" dirty="0"/>
                        <a:t>做协同 </a:t>
                      </a:r>
                      <a:r>
                        <a:rPr lang="en-US" altLang="zh-CN" sz="1000" dirty="0"/>
                        <a:t>DVFS</a:t>
                      </a:r>
                      <a:r>
                        <a:rPr lang="zh-CN" altLang="en-US" sz="1000" dirty="0"/>
                        <a:t>（</a:t>
                      </a:r>
                      <a:r>
                        <a:rPr lang="en-US" altLang="zh-CN" sz="1000" dirty="0"/>
                        <a:t>CPU/GPU/</a:t>
                      </a:r>
                      <a:r>
                        <a:rPr lang="zh-CN" altLang="en-US" sz="1000" dirty="0"/>
                        <a:t>内存）</a:t>
                      </a:r>
                      <a:endParaRPr lang="zh-CN" altLang="en-US" sz="1000" dirty="0"/>
                    </a:p>
                  </a:txBody>
                  <a:tcPr marL="19003" marR="19003" marT="9501" marB="9501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负载描述的设想提出方案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8"/>
          <p:cNvSpPr/>
          <p:nvPr>
            <p:custDataLst>
              <p:tags r:id="rId1"/>
            </p:custDataLst>
          </p:nvPr>
        </p:nvSpPr>
        <p:spPr>
          <a:xfrm>
            <a:off x="300250" y="1318160"/>
            <a:ext cx="4106098" cy="1240174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Freeform 9"/>
          <p:cNvSpPr/>
          <p:nvPr/>
        </p:nvSpPr>
        <p:spPr>
          <a:xfrm>
            <a:off x="574225" y="1086696"/>
            <a:ext cx="1382356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方案目标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770" y="1631049"/>
            <a:ext cx="40156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用实时硬件信号，将任务映射到一组“原型负载”上；可选择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离散分类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，也可得到连续的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混合系数向量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，供调频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建模直接使用。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1" name="矩形: 圆角 28"/>
          <p:cNvSpPr/>
          <p:nvPr>
            <p:custDataLst>
              <p:tags r:id="rId2"/>
            </p:custDataLst>
          </p:nvPr>
        </p:nvSpPr>
        <p:spPr>
          <a:xfrm>
            <a:off x="300249" y="2872167"/>
            <a:ext cx="4102261" cy="1958073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Freeform 9"/>
          <p:cNvSpPr/>
          <p:nvPr/>
        </p:nvSpPr>
        <p:spPr>
          <a:xfrm>
            <a:off x="574225" y="2640704"/>
            <a:ext cx="1454738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负载特征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8083" y="3163772"/>
            <a:ext cx="39453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f_cpu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f_gpu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f_ddr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；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util_cpu_compute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/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util_cpu_stall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/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util_gpu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MB(GB/s), R/W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比；可选：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Temp, Power, FPS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预处理：按设备做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z-score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标准化，滑窗聚合（例如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200–500ms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）。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0" name="矩形: 圆角 28"/>
          <p:cNvSpPr/>
          <p:nvPr>
            <p:custDataLst>
              <p:tags r:id="rId3"/>
            </p:custDataLst>
          </p:nvPr>
        </p:nvSpPr>
        <p:spPr>
          <a:xfrm>
            <a:off x="300249" y="5131842"/>
            <a:ext cx="4102261" cy="1487791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Freeform 9"/>
          <p:cNvSpPr/>
          <p:nvPr/>
        </p:nvSpPr>
        <p:spPr>
          <a:xfrm>
            <a:off x="574225" y="4900379"/>
            <a:ext cx="1382356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离线阶段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0769" y="5444732"/>
            <a:ext cx="36441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构建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m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个原型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采集各典型任务（计算密集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访存密集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混合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/IO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等）特征；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固化为“原型库” 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3" name="矩形: 圆角 28"/>
          <p:cNvSpPr/>
          <p:nvPr>
            <p:custDataLst>
              <p:tags r:id="rId4"/>
            </p:custDataLst>
          </p:nvPr>
        </p:nvSpPr>
        <p:spPr>
          <a:xfrm>
            <a:off x="4711731" y="1318160"/>
            <a:ext cx="3419895" cy="2004844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Freeform 9"/>
          <p:cNvSpPr/>
          <p:nvPr/>
        </p:nvSpPr>
        <p:spPr>
          <a:xfrm>
            <a:off x="4985707" y="1086696"/>
            <a:ext cx="1382356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在线阶段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62252" y="1631049"/>
            <a:ext cx="31884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相似性与表征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对当前窗口特征向量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x_t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计算各原型相似度（马氏或余弦或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MSE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）；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归一化得到混合系数：</a:t>
            </a:r>
            <a:r>
              <a:rPr kumimoji="0" lang="el-GR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α_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i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⇒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负载向量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w_t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 = [</a:t>
            </a:r>
            <a:r>
              <a:rPr kumimoji="0" lang="el-GR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α_1..α_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m]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6" name="矩形: 圆角 28"/>
          <p:cNvSpPr/>
          <p:nvPr>
            <p:custDataLst>
              <p:tags r:id="rId5"/>
            </p:custDataLst>
          </p:nvPr>
        </p:nvSpPr>
        <p:spPr>
          <a:xfrm>
            <a:off x="4711731" y="3822881"/>
            <a:ext cx="3419895" cy="2376154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Freeform 9"/>
          <p:cNvSpPr/>
          <p:nvPr/>
        </p:nvSpPr>
        <p:spPr>
          <a:xfrm>
            <a:off x="4985707" y="3591418"/>
            <a:ext cx="1741188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对比既有工作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915867" y="4136932"/>
            <a:ext cx="301162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原型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相似性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+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软分配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：不依赖应用语义，比离散状态更细腻；比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Co-Cap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网格更通用；比端到端策略学习更可解释。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连续负载向量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可直接作为调频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贝叶斯优化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规则库的输入；跨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SoC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只需重做标准化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原型库。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762" y="1319132"/>
            <a:ext cx="3419894" cy="51298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内存频点对内存带宽的影响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8"/>
          <p:cNvSpPr/>
          <p:nvPr>
            <p:custDataLst>
              <p:tags r:id="rId1"/>
            </p:custDataLst>
          </p:nvPr>
        </p:nvSpPr>
        <p:spPr>
          <a:xfrm>
            <a:off x="519430" y="1135380"/>
            <a:ext cx="8658225" cy="1169035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35" y="1328420"/>
            <a:ext cx="7618095" cy="923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表格 15"/>
          <p:cNvGraphicFramePr/>
          <p:nvPr/>
        </p:nvGraphicFramePr>
        <p:xfrm>
          <a:off x="1069340" y="3054350"/>
          <a:ext cx="8573770" cy="2663825"/>
        </p:xfrm>
        <a:graphic>
          <a:graphicData uri="http://schemas.openxmlformats.org/drawingml/2006/table">
            <a:tbl>
              <a:tblPr/>
              <a:tblGrid>
                <a:gridCol w="1995170"/>
                <a:gridCol w="2586355"/>
                <a:gridCol w="3992245"/>
              </a:tblGrid>
              <a:tr h="2025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内存类型</a:t>
                      </a:r>
                      <a:endParaRPr 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数据传输次数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时钟周期</a:t>
                      </a:r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典型接口</a:t>
                      </a:r>
                      <a:endParaRPr 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(Single Data Rate)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次（上升沿）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SDR SDRAM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、早期系统总线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(Double Data Rate)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次（上升沿和下降沿）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DDR/DDR2/DDR3/DDR4/DDR5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LPDDR 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QDR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(Quad Data Rate)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(0°/90°/180°/270°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相位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QDR SRAM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、某些高速总线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GDDR/LPDDR/HBM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8~16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高预取多相位并行</a:t>
                      </a:r>
                      <a:endParaRPr 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GDDR5/GDDR6/LPDDR5/LPDDR6/HBM2E/HBM3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45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SerDes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≧2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信号调制方式</a:t>
                      </a:r>
                      <a:endParaRPr 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PCIe 5.0/PCIe 6.0/Ethernet 400G/800G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Freeform 9"/>
          <p:cNvSpPr/>
          <p:nvPr/>
        </p:nvSpPr>
        <p:spPr>
          <a:xfrm>
            <a:off x="573405" y="2534285"/>
            <a:ext cx="2369185" cy="392430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5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transfer</a:t>
            </a:r>
            <a:r>
              <a:rPr lang="en-US" altLang="zh-CN" sz="15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s per clock</a:t>
            </a:r>
            <a:endParaRPr lang="en-US" altLang="zh-CN" sz="15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5000" y="892175"/>
            <a:ext cx="2138680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直角三角形 33"/>
          <p:cNvSpPr/>
          <p:nvPr/>
        </p:nvSpPr>
        <p:spPr>
          <a:xfrm>
            <a:off x="2774614" y="894074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直角三角形 34"/>
          <p:cNvSpPr/>
          <p:nvPr/>
        </p:nvSpPr>
        <p:spPr>
          <a:xfrm flipH="1">
            <a:off x="634905" y="801037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66"/>
          <p:cNvSpPr txBox="1"/>
          <p:nvPr/>
        </p:nvSpPr>
        <p:spPr>
          <a:xfrm>
            <a:off x="574040" y="897890"/>
            <a:ext cx="2741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内存带宽的理论峰值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频点、带宽与性能能耗关系的综合分析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4754" y="921870"/>
            <a:ext cx="1700516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2" name="直角三角形 51"/>
          <p:cNvSpPr/>
          <p:nvPr/>
        </p:nvSpPr>
        <p:spPr>
          <a:xfrm>
            <a:off x="2405270" y="920110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直角三角形 52"/>
          <p:cNvSpPr/>
          <p:nvPr/>
        </p:nvSpPr>
        <p:spPr>
          <a:xfrm flipH="1">
            <a:off x="704755" y="830694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文本框 66"/>
          <p:cNvSpPr txBox="1"/>
          <p:nvPr/>
        </p:nvSpPr>
        <p:spPr>
          <a:xfrm>
            <a:off x="774988" y="949441"/>
            <a:ext cx="163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现有相关工作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10"/>
          <p:cNvSpPr txBox="1"/>
          <p:nvPr/>
        </p:nvSpPr>
        <p:spPr>
          <a:xfrm>
            <a:off x="704754" y="1458942"/>
            <a:ext cx="10902156" cy="2676919"/>
          </a:xfrm>
          <a:prstGeom prst="roundRect">
            <a:avLst>
              <a:gd name="adj" fmla="val 7719"/>
            </a:avLst>
          </a:prstGeom>
          <a:solidFill>
            <a:srgbClr val="D9D9D9"/>
          </a:solidFill>
          <a:ln w="12700" cap="flat" cmpd="sng" algn="ctr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b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457200"/>
            <a:endParaRPr lang="en-US" altLang="zh-CN" sz="1600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17910" y="1564301"/>
          <a:ext cx="10475844" cy="24240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91948"/>
                <a:gridCol w="3491948"/>
                <a:gridCol w="3491948"/>
              </a:tblGrid>
              <a:tr h="230545">
                <a:tc>
                  <a:txBody>
                    <a:bodyPr/>
                    <a:lstStyle/>
                    <a:p>
                      <a:r>
                        <a:rPr lang="zh-CN" altLang="en-US" sz="1200"/>
                        <a:t>论文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主要结论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关键含义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</a:tr>
              <a:tr h="699850">
                <a:tc>
                  <a:txBody>
                    <a:bodyPr/>
                    <a:lstStyle/>
                    <a:p>
                      <a:r>
                        <a:rPr lang="en-US" sz="1200" b="1"/>
                        <a:t>JOSS</a:t>
                      </a:r>
                      <a:endParaRPr 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CPU </a:t>
                      </a:r>
                      <a:r>
                        <a:rPr lang="zh-CN" altLang="en-US" sz="1200" dirty="0"/>
                        <a:t>功耗主要由核心频点与负载“内存强度</a:t>
                      </a:r>
                      <a:r>
                        <a:rPr lang="en-US" altLang="zh-CN" sz="1200" dirty="0"/>
                        <a:t>(MB)”</a:t>
                      </a:r>
                      <a:r>
                        <a:rPr lang="zh-CN" altLang="en-US" sz="1200" dirty="0"/>
                        <a:t>决定；内存频点对 </a:t>
                      </a:r>
                      <a:r>
                        <a:rPr lang="en-US" altLang="zh-CN" sz="1200" dirty="0"/>
                        <a:t>CPU </a:t>
                      </a:r>
                      <a:r>
                        <a:rPr lang="zh-CN" altLang="en-US" sz="1200" dirty="0"/>
                        <a:t>功耗影响小。内存功耗同时受 </a:t>
                      </a:r>
                      <a:r>
                        <a:rPr lang="en-US" altLang="zh-CN" sz="1200" dirty="0" err="1"/>
                        <a:t>f_cpu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 err="1"/>
                        <a:t>f_mem</a:t>
                      </a:r>
                      <a:r>
                        <a:rPr lang="en-US" altLang="zh-CN" sz="1200" dirty="0"/>
                        <a:t> </a:t>
                      </a:r>
                      <a:r>
                        <a:rPr lang="zh-CN" altLang="en-US" sz="1200" dirty="0"/>
                        <a:t>和 </a:t>
                      </a:r>
                      <a:r>
                        <a:rPr lang="en-US" altLang="zh-CN" sz="1200" dirty="0"/>
                        <a:t>MB </a:t>
                      </a:r>
                      <a:r>
                        <a:rPr lang="zh-CN" altLang="en-US" sz="1200" dirty="0"/>
                        <a:t>三者共同影响。</a:t>
                      </a:r>
                      <a:endParaRPr lang="zh-CN" altLang="en-US" sz="1200" dirty="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CPU </a:t>
                      </a:r>
                      <a:r>
                        <a:rPr lang="zh-CN" altLang="en-US" sz="1200"/>
                        <a:t>与内存功耗分离，但相互耦合；负载强度决定功耗曲线形状。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</a:tr>
              <a:tr h="523461">
                <a:tc>
                  <a:txBody>
                    <a:bodyPr/>
                    <a:lstStyle/>
                    <a:p>
                      <a:r>
                        <a:rPr lang="en-US" sz="1200" b="1"/>
                        <a:t>ICAC’11 Memory-DVFS</a:t>
                      </a:r>
                      <a:endParaRPr 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当平均带宽占用高时，降低内存频点会导致性能急剧下降，曲线出现“膝点”。</a:t>
                      </a:r>
                      <a:endParaRPr lang="zh-CN" altLang="en-US" sz="1200" dirty="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性能与带宽关系非线性，靠近满载区性能极敏感。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</a:tr>
              <a:tr h="523569">
                <a:tc>
                  <a:txBody>
                    <a:bodyPr/>
                    <a:lstStyle/>
                    <a:p>
                      <a:r>
                        <a:rPr lang="en-US" sz="1200" b="1" dirty="0"/>
                        <a:t>PROFET (SIGMETRICS’19)</a:t>
                      </a:r>
                      <a:endParaRPr lang="en-US" sz="1200" dirty="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提高 </a:t>
                      </a:r>
                      <a:r>
                        <a:rPr lang="en-US" altLang="zh-CN" sz="1200"/>
                        <a:t>CPU </a:t>
                      </a:r>
                      <a:r>
                        <a:rPr lang="zh-CN" altLang="en-US" sz="1200"/>
                        <a:t>频率→ </a:t>
                      </a:r>
                      <a:r>
                        <a:rPr lang="en-US" altLang="zh-CN" sz="1200"/>
                        <a:t>IPC </a:t>
                      </a:r>
                      <a:r>
                        <a:rPr lang="zh-CN" altLang="en-US" sz="1200"/>
                        <a:t>上升 → 实际带宽占用上升 → 时延上升；同时读写比例会改写带宽</a:t>
                      </a:r>
                      <a:r>
                        <a:rPr lang="en-US" altLang="zh-CN" sz="1200"/>
                        <a:t>–</a:t>
                      </a:r>
                      <a:r>
                        <a:rPr lang="zh-CN" altLang="en-US" sz="1200"/>
                        <a:t>时延曲线。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CPU </a:t>
                      </a:r>
                      <a:r>
                        <a:rPr lang="zh-CN" altLang="en-US" sz="1200"/>
                        <a:t>提速会“带出”带宽需求；读写比改变瓶颈位置。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</a:tr>
              <a:tr h="403452">
                <a:tc>
                  <a:txBody>
                    <a:bodyPr/>
                    <a:lstStyle/>
                    <a:p>
                      <a:r>
                        <a:rPr lang="en-US" sz="1200" b="1"/>
                        <a:t>CRAVE (EuroSys’25)</a:t>
                      </a:r>
                      <a:endParaRPr 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CPU / GPU / </a:t>
                      </a:r>
                      <a:r>
                        <a:rPr lang="zh-CN" altLang="en-US" sz="1200"/>
                        <a:t>内存频点耦合，单独调频可能导致 </a:t>
                      </a:r>
                      <a:r>
                        <a:rPr lang="en-US" altLang="zh-CN" sz="1200"/>
                        <a:t>FPS </a:t>
                      </a:r>
                      <a:r>
                        <a:rPr lang="zh-CN" altLang="en-US" sz="1200"/>
                        <a:t>不升反降。</a:t>
                      </a:r>
                      <a:endParaRPr lang="zh-CN" altLang="en-US" sz="1200"/>
                    </a:p>
                  </a:txBody>
                  <a:tcPr marL="64256" marR="64256" marT="32128" marB="32128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必须进行跨资源联合调频，才能获得整体能效提升。</a:t>
                      </a:r>
                      <a:endParaRPr lang="zh-CN" altLang="en-US" sz="1200" dirty="0"/>
                    </a:p>
                  </a:txBody>
                  <a:tcPr marL="64256" marR="64256" marT="32128" marB="32128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4754" y="4327564"/>
            <a:ext cx="1184035" cy="436546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1888789" y="4329424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flipH="1">
            <a:off x="704755" y="4236387"/>
            <a:ext cx="140467" cy="91177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66"/>
          <p:cNvSpPr txBox="1"/>
          <p:nvPr/>
        </p:nvSpPr>
        <p:spPr>
          <a:xfrm>
            <a:off x="774988" y="4361171"/>
            <a:ext cx="111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整体规律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0"/>
          <p:cNvSpPr txBox="1"/>
          <p:nvPr/>
        </p:nvSpPr>
        <p:spPr>
          <a:xfrm>
            <a:off x="886402" y="4855287"/>
            <a:ext cx="10720507" cy="1672024"/>
          </a:xfrm>
          <a:prstGeom prst="roundRect">
            <a:avLst>
              <a:gd name="adj" fmla="val 7719"/>
            </a:avLst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defPPr>
              <a:defRPr lang="zh-CN"/>
            </a:defPPr>
            <a:lvl1pPr indent="457200" algn="just">
              <a:lnSpc>
                <a:spcPct val="125000"/>
              </a:lnSpc>
              <a:defRPr sz="24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indent="0" algn="l" defTabSz="914400">
              <a:lnSpc>
                <a:spcPct val="150000"/>
              </a:lnSpc>
              <a:spcBef>
                <a:spcPts val="600"/>
              </a:spcBef>
              <a:defRPr/>
            </a:pPr>
            <a:endParaRPr lang="en-US" altLang="zh-CN" sz="12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defTabSz="914400">
              <a:lnSpc>
                <a:spcPct val="150000"/>
              </a:lnSpc>
              <a:spcBef>
                <a:spcPts val="600"/>
              </a:spcBef>
              <a:defRPr/>
            </a:pPr>
            <a:endParaRPr lang="en-US" altLang="zh-CN" sz="12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51354" y="4929488"/>
            <a:ext cx="10488430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频点主要决定算力上限，内存频点主要决定数据等待时延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。高“等内存”负载下，内存频点显著影响 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；计算型任务降 </a:t>
            </a: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f_mem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几乎不伤性能却能省能。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提速会带出带宽需求，使系统在带宽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时延曲线上右移，形成性能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能耗闭环。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读写比例影响带宽</a:t>
            </a: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时延曲线形状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读多任务曲线平缓，写多任务出现膝点，说明不同任务需分类型建模。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频点提升若不匹配带宽，将导致性能反向退化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4824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频点对于一个给定应用产生的影响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0"/>
          <p:cNvSpPr txBox="1"/>
          <p:nvPr/>
        </p:nvSpPr>
        <p:spPr>
          <a:xfrm>
            <a:off x="7080250" y="1534160"/>
            <a:ext cx="4135120" cy="4009390"/>
          </a:xfrm>
          <a:prstGeom prst="roundRect">
            <a:avLst>
              <a:gd name="adj" fmla="val 7719"/>
            </a:avLst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defPPr>
              <a:defRPr lang="zh-CN"/>
            </a:defPPr>
            <a:lvl1pPr indent="457200" algn="just">
              <a:lnSpc>
                <a:spcPct val="125000"/>
              </a:lnSpc>
              <a:defRPr sz="24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调节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频率基本上不影响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fps,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因为只对视频进行解码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渲染时，对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的算力需求小，在最低频率下也可以满足。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频率较小时，提高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频率可以显著提升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fps;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频率达到约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1.4GHz,fps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达到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频率不再是瓶颈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主要制约因素是显示器的刷新率上限为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60Hz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 descr="显示"/>
          <p:cNvPicPr>
            <a:picLocks noChangeAspect="1"/>
          </p:cNvPicPr>
          <p:nvPr/>
        </p:nvPicPr>
        <p:blipFill>
          <a:blip r:embed="rId1"/>
          <a:srcRect l="34335" t="6456" r="13503" b="11467"/>
          <a:stretch>
            <a:fillRect/>
          </a:stretch>
        </p:blipFill>
        <p:spPr>
          <a:xfrm>
            <a:off x="464820" y="1521460"/>
            <a:ext cx="6142355" cy="476313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704850" y="922020"/>
            <a:ext cx="4613275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直角三角形 17"/>
          <p:cNvSpPr/>
          <p:nvPr/>
        </p:nvSpPr>
        <p:spPr>
          <a:xfrm>
            <a:off x="5318180" y="919475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4465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对视频进行播放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4824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频点对于一个给定应用产生的影响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0"/>
          <p:cNvSpPr txBox="1"/>
          <p:nvPr/>
        </p:nvSpPr>
        <p:spPr>
          <a:xfrm>
            <a:off x="7075170" y="1480185"/>
            <a:ext cx="4364990" cy="4502785"/>
          </a:xfrm>
          <a:prstGeom prst="roundRect">
            <a:avLst>
              <a:gd name="adj" fmla="val 7719"/>
            </a:avLst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defPPr>
              <a:defRPr lang="zh-CN"/>
            </a:defPPr>
            <a:lvl1pPr indent="457200" algn="just">
              <a:lnSpc>
                <a:spcPct val="125000"/>
              </a:lnSpc>
              <a:defRPr sz="24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频率都最低时，二者没充分被利用，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是关键瓶颈。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频率从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114MHz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调节到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216MHz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fps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有一个较大幅度的跃迁；当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调节到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420MHz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不再是限制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fps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的瓶颈。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频率在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216MHz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之上，提高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频率可以提高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fps;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调节到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1267MHz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不再是限制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fps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的瓶颈。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后续主要瓶颈在显示器的刷新率上限为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endParaRPr lang="en-US" altLang="zh-CN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4850" y="922020"/>
            <a:ext cx="5323205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直角三角形 17"/>
          <p:cNvSpPr/>
          <p:nvPr/>
        </p:nvSpPr>
        <p:spPr>
          <a:xfrm>
            <a:off x="6028055" y="925830"/>
            <a:ext cx="161925" cy="429895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5151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对视频进行播放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 descr="显示+推理"/>
          <p:cNvPicPr>
            <a:picLocks noChangeAspect="1"/>
          </p:cNvPicPr>
          <p:nvPr/>
        </p:nvPicPr>
        <p:blipFill>
          <a:blip r:embed="rId1"/>
          <a:srcRect l="33583" t="8032" r="14854" b="9596"/>
          <a:stretch>
            <a:fillRect/>
          </a:stretch>
        </p:blipFill>
        <p:spPr>
          <a:xfrm>
            <a:off x="223520" y="1553845"/>
            <a:ext cx="6286500" cy="4949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4824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频点对于一个给定应用产生的影响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0"/>
          <p:cNvSpPr txBox="1"/>
          <p:nvPr/>
        </p:nvSpPr>
        <p:spPr>
          <a:xfrm>
            <a:off x="6966585" y="1534160"/>
            <a:ext cx="4248785" cy="4551045"/>
          </a:xfrm>
          <a:prstGeom prst="roundRect">
            <a:avLst>
              <a:gd name="adj" fmla="val 7719"/>
            </a:avLst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defPPr>
              <a:defRPr lang="zh-CN"/>
            </a:defPPr>
            <a:lvl1pPr indent="457200" algn="just">
              <a:lnSpc>
                <a:spcPct val="125000"/>
              </a:lnSpc>
              <a:defRPr sz="24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延迟主要包括：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TensorRT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引擎加载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流水线初始化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解码推理。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调节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频率可以显著影响延迟，因为引擎加载时间、流水线初始化主要受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频率影响，解码推理也会有较小的影响。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调节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频率主要影响解码推理时间；当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频率从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114MHz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增大到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318MHz,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总延迟有明显的下降。后续再增大</a:t>
            </a:r>
            <a:r>
              <a:rPr lang="en-US" altLang="zh-CN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600" b="0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频率，虽然也能降低解码推理时间，但因为视频较短，对总延迟的影响较小。</a:t>
            </a: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endParaRPr lang="zh-CN" altLang="en-US" sz="1600" b="0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4850" y="922020"/>
            <a:ext cx="4651375" cy="43624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直角三角形 17"/>
          <p:cNvSpPr/>
          <p:nvPr/>
        </p:nvSpPr>
        <p:spPr>
          <a:xfrm>
            <a:off x="5356280" y="919475"/>
            <a:ext cx="168181" cy="436548"/>
          </a:xfrm>
          <a:prstGeom prst="rtTriangl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4749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对视频进行推理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推理"/>
          <p:cNvPicPr>
            <a:picLocks noChangeAspect="1"/>
          </p:cNvPicPr>
          <p:nvPr/>
        </p:nvPicPr>
        <p:blipFill>
          <a:blip r:embed="rId1"/>
          <a:srcRect l="34594" t="7525" r="16542" b="10114"/>
          <a:stretch>
            <a:fillRect/>
          </a:stretch>
        </p:blipFill>
        <p:spPr>
          <a:xfrm>
            <a:off x="542925" y="1402715"/>
            <a:ext cx="5819140" cy="4833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40970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调试工具调研（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OpenHarmony OS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4749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对视频进行推理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577714" y="1144357"/>
          <a:ext cx="10543540" cy="5121910"/>
        </p:xfrm>
        <a:graphic>
          <a:graphicData uri="http://schemas.openxmlformats.org/drawingml/2006/table">
            <a:tbl>
              <a:tblPr/>
              <a:tblGrid>
                <a:gridCol w="2694305"/>
                <a:gridCol w="3246648"/>
                <a:gridCol w="4602491"/>
              </a:tblGrid>
              <a:tr h="46337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工具名称</a:t>
                      </a:r>
                      <a:endParaRPr lang="zh-CN" altLang="en-US" sz="16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工具类型</a:t>
                      </a:r>
                      <a:endParaRPr lang="zh-CN" altLang="en-US" sz="16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核心功能</a:t>
                      </a:r>
                      <a:r>
                        <a:rPr lang="en-US" altLang="zh-CN" sz="16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定位</a:t>
                      </a:r>
                      <a:endParaRPr lang="zh-CN" altLang="en-US" sz="16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6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Hiprofiler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命令行工具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插件集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专用于分析</a:t>
                      </a:r>
                      <a:r>
                        <a:rPr lang="en-US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OpenHarmonyNative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层内存，抓取</a:t>
                      </a: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Native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对象创建栈，定位内存泄漏和异常增长。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28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HiPerf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命令行工具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系统级性能采样分析工具，可分析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热点、硬件事件等，定位性能瓶颈。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8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HitraceMeter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接口 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 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命令行工具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在代码中插入性能打点，跟踪单个设备内部的调用链和关键事件耗时。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HiTraceChain</a:t>
                      </a:r>
                      <a:endParaRPr lang="en-US" sz="1600" b="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接口 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 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链路传递协议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为跨设备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跨进程的业务流程生成并传递唯一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TraceID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，实现分布式链路跟踪。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14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Graphics Profiler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独立的图形分析软件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针对图形应用，捕捉和分析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活动、图形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调用，诊断渲染问题和性能瓶颈。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05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Energy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82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IDE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中模块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2091" marR="52091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在应用运行过程中查看能耗信息，包括不同器件的能耗、整机温度以及能耗异常帧</a:t>
                      </a:r>
                      <a:endParaRPr lang="zh-CN" altLang="en-US" sz="1600" b="0" i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2091" marR="46882" marT="32557" marB="325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1554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人为干预带宽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4749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对视频进行推理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72465" y="1871345"/>
            <a:ext cx="10515600" cy="3179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Intel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RDT(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资源调度技术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提供了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MBA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内存带宽分配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，可以限制特定进程的可用带宽。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适用条件：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intel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且系统必须有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RDT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驱动与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resctrl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文件系统支持，例如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系统。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05572" y="390469"/>
            <a:ext cx="12668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66"/>
          <p:cNvSpPr txBox="1"/>
          <p:nvPr/>
        </p:nvSpPr>
        <p:spPr>
          <a:xfrm>
            <a:off x="774700" y="949325"/>
            <a:ext cx="4749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上使用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deepstream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对视频进行推理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72465" y="1871345"/>
            <a:ext cx="10515600" cy="3179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73760" y="2051685"/>
            <a:ext cx="9794240" cy="3206115"/>
          </a:xfrm>
        </p:spPr>
        <p:txBody>
          <a:bodyPr>
            <a:normAutofit/>
          </a:bodyPr>
          <a:lstStyle/>
          <a:p>
            <a:r>
              <a:rPr lang="zh-CN" altLang="en-US" dirty="0"/>
              <a:t>官方文档、链接</a:t>
            </a:r>
            <a:endParaRPr lang="en-US" altLang="zh-CN" dirty="0"/>
          </a:p>
          <a:p>
            <a:r>
              <a:rPr lang="en-US" altLang="zh-CN" dirty="0">
                <a:hlinkClick r:id="rId1"/>
              </a:rPr>
              <a:t>https://developer.huawei.com/consumer/cn/doc/harmonyos-guides/hitrace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https://developer.huawei.com/consumer/cn/doc/Tools-Guides/quick-start-0000001791215082</a:t>
            </a:r>
            <a:endParaRPr lang="en-US" altLang="zh-CN" dirty="0"/>
          </a:p>
          <a:p>
            <a:r>
              <a:rPr lang="zh-CN" altLang="en-US" dirty="0"/>
              <a:t>博客实践参考</a:t>
            </a:r>
            <a:endParaRPr lang="en-US" altLang="zh-CN" dirty="0"/>
          </a:p>
          <a:p>
            <a:r>
              <a:rPr lang="en-US" altLang="zh-CN" dirty="0"/>
              <a:t>https://zhuanlan.zhihu.com/p/5747113561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4912</Words>
  <Application>WPS 演示</Application>
  <PresentationFormat>宽屏</PresentationFormat>
  <Paragraphs>345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Calibri</vt:lpstr>
      <vt:lpstr>Times New Roman</vt:lpstr>
      <vt:lpstr>Georgia</vt:lpstr>
      <vt:lpstr>Microsoft YaHei UI</vt:lpstr>
      <vt:lpstr>黑体</vt:lpstr>
      <vt:lpstr>等线</vt:lpstr>
      <vt:lpstr>Arial Unicode MS</vt:lpstr>
      <vt:lpstr>等线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Hey</dc:creator>
  <cp:lastModifiedBy>Queenie.</cp:lastModifiedBy>
  <cp:revision>7</cp:revision>
  <dcterms:created xsi:type="dcterms:W3CDTF">2025-11-08T12:38:00Z</dcterms:created>
  <dcterms:modified xsi:type="dcterms:W3CDTF">2025-11-12T06:08:02Z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C368C575A5F246B198746D07EFB98D68_13</vt:lpwstr>
  </property>
  <property fmtid="{D5CDD505-2E9C-101B-9397-08002B2CF9AE}" pid="3" name="KSOProductBuildVer">
    <vt:lpwstr>2052-12.1.0.23125</vt:lpwstr>
  </property>
</Properties>
</file>