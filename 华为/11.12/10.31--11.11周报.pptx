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32918400" cy="438912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 14"/>
          <p:cNvSpPr/>
          <p:nvPr/>
        </p:nvSpPr>
        <p:spPr>
          <a:xfrm>
            <a:off x="676910" y="25182830"/>
            <a:ext cx="31551245" cy="7506970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" name="rect 2"/>
          <p:cNvSpPr/>
          <p:nvPr/>
        </p:nvSpPr>
        <p:spPr>
          <a:xfrm>
            <a:off x="664210" y="5311140"/>
            <a:ext cx="31551245" cy="1081722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2" name="textbox 12"/>
          <p:cNvSpPr/>
          <p:nvPr/>
        </p:nvSpPr>
        <p:spPr>
          <a:xfrm>
            <a:off x="5267960" y="41091485"/>
            <a:ext cx="26125805" cy="2235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7000"/>
              </a:lnSpc>
            </a:pP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制作人：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程诗淇</a:t>
            </a:r>
            <a:r>
              <a:rPr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审阅人：</a:t>
            </a:r>
            <a:r>
              <a:rPr 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徐飞</a:t>
            </a:r>
            <a:r>
              <a:rPr lang="en-US" altLang="zh-CN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</a:t>
            </a:r>
            <a:r>
              <a:rPr lang="zh-CN" altLang="en-US" sz="5400" kern="0" spc="-10" dirty="0">
                <a:solidFill>
                  <a:srgbClr val="002060">
                    <a:alpha val="100000"/>
                  </a:srgb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吴旭东</a:t>
            </a:r>
            <a:endParaRPr lang="zh-CN" altLang="en-US" sz="5400" kern="0" spc="-10" dirty="0">
              <a:solidFill>
                <a:srgbClr val="002060">
                  <a:alpha val="100000"/>
                </a:srgb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4" name="rect 14"/>
          <p:cNvSpPr/>
          <p:nvPr/>
        </p:nvSpPr>
        <p:spPr>
          <a:xfrm>
            <a:off x="621665" y="33652460"/>
            <a:ext cx="31551245" cy="68205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6096" y="4552060"/>
            <a:ext cx="32912304" cy="6350"/>
          </a:xfrm>
          <a:prstGeom prst="rect">
            <a:avLst/>
          </a:prstGeom>
        </p:spPr>
      </p:pic>
      <p:sp>
        <p:nvSpPr>
          <p:cNvPr id="18" name="rect 18"/>
          <p:cNvSpPr/>
          <p:nvPr/>
        </p:nvSpPr>
        <p:spPr>
          <a:xfrm>
            <a:off x="0" y="0"/>
            <a:ext cx="32918400" cy="457895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20" name="textbox 20"/>
          <p:cNvSpPr/>
          <p:nvPr/>
        </p:nvSpPr>
        <p:spPr>
          <a:xfrm>
            <a:off x="1323340" y="25665430"/>
            <a:ext cx="28592780" cy="11093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</a:pPr>
            <a:r>
              <a:rPr lang="en-US" altLang="zh-CN" sz="6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CPU</a:t>
            </a:r>
            <a:r>
              <a:rPr lang="zh-CN" altLang="en-US" sz="6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、</a:t>
            </a:r>
            <a:r>
              <a:rPr lang="en-US" altLang="zh-CN" sz="6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GPU</a:t>
            </a:r>
            <a:r>
              <a:rPr lang="zh-CN" altLang="en-US" sz="6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频点对于给定应用的影响（任德上</a:t>
            </a:r>
            <a:r>
              <a:rPr lang="zh-CN" altLang="en-US" sz="66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sz="66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9000"/>
              </a:lnSpc>
              <a:spcBef>
                <a:spcPts val="5"/>
              </a:spcBef>
            </a:pPr>
            <a:endParaRPr lang="zh-CN" altLang="en-US" sz="5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8382995" y="780643"/>
            <a:ext cx="13418819" cy="26276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面向终端内存与异构计算器件的</a:t>
            </a:r>
            <a:endParaRPr lang="en-US" altLang="zh-CN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ctr" defTabSz="457200" rtl="0">
              <a:lnSpc>
                <a:spcPct val="100000"/>
              </a:lnSpc>
            </a:pPr>
            <a:r>
              <a:rPr lang="zh-CN" altLang="en-US" sz="7200" b="1" dirty="0"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软硬协同帧渲染优化</a:t>
            </a:r>
            <a:endParaRPr lang="zh-CN" altLang="en-US" sz="7200" b="1" dirty="0">
              <a:solidFill>
                <a:prstClr val="white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4000"/>
              </a:lnSpc>
            </a:pPr>
            <a:endParaRPr sz="1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225165" algn="l" rtl="0" eaLnBrk="0">
              <a:lnSpc>
                <a:spcPct val="89000"/>
              </a:lnSpc>
            </a:pP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.1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0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31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—202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5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11</a:t>
            </a:r>
            <a:r>
              <a:rPr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.1</a:t>
            </a:r>
            <a:r>
              <a:rPr lang="en-US" sz="5400" kern="0" spc="-20" dirty="0">
                <a:solidFill>
                  <a:srgbClr val="FFFFFF">
                    <a:alpha val="100000"/>
                  </a:srgbClr>
                </a:solidFill>
                <a:latin typeface="Microsoft YaHei UI" panose="020B0503020204020204" charset="-122"/>
                <a:ea typeface="Microsoft YaHei UI" panose="020B0503020204020204" charset="-122"/>
                <a:cs typeface="Microsoft YaHei UI" panose="020B0503020204020204" charset="-122"/>
              </a:rPr>
              <a:t>1</a:t>
            </a:r>
            <a:endParaRPr lang="en-US" sz="5400" kern="0" spc="-20" dirty="0">
              <a:solidFill>
                <a:srgbClr val="FFFFFF">
                  <a:alpha val="100000"/>
                </a:srgbClr>
              </a:solidFill>
              <a:latin typeface="Microsoft YaHei UI" panose="020B0503020204020204" charset="-122"/>
              <a:ea typeface="Microsoft YaHei UI" panose="020B0503020204020204" charset="-122"/>
              <a:cs typeface="Microsoft YaHei UI" panose="020B0503020204020204" charset="-122"/>
            </a:endParaRPr>
          </a:p>
        </p:txBody>
      </p:sp>
      <p:sp>
        <p:nvSpPr>
          <p:cNvPr id="24" name="rect 24"/>
          <p:cNvSpPr/>
          <p:nvPr/>
        </p:nvSpPr>
        <p:spPr>
          <a:xfrm>
            <a:off x="0" y="43270930"/>
            <a:ext cx="32918400" cy="62026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1415784" y="780456"/>
            <a:ext cx="6300547" cy="1403461"/>
          </a:xfrm>
          <a:prstGeom prst="rect">
            <a:avLst/>
          </a:prstGeom>
        </p:spPr>
      </p:pic>
      <p:sp>
        <p:nvSpPr>
          <p:cNvPr id="32" name="textbox 32"/>
          <p:cNvSpPr/>
          <p:nvPr/>
        </p:nvSpPr>
        <p:spPr>
          <a:xfrm>
            <a:off x="11980012" y="2594304"/>
            <a:ext cx="6697344" cy="8864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6000"/>
              </a:lnSpc>
            </a:pPr>
            <a:r>
              <a:rPr lang="zh-CN" altLang="en-US" sz="6300" kern="0" spc="-40" dirty="0">
                <a:solidFill>
                  <a:schemeClr val="tx1">
                    <a:alpha val="100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华为中央研究院</a:t>
            </a:r>
            <a:endParaRPr lang="zh-CN" altLang="en-US" sz="6300" kern="0" spc="-40" dirty="0">
              <a:solidFill>
                <a:schemeClr val="tx1">
                  <a:alpha val="100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18523230" y="15350718"/>
            <a:ext cx="1819275" cy="207263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</a:pP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1180465" y="16659859"/>
            <a:ext cx="30886400" cy="76200"/>
          </a:xfrm>
          <a:prstGeom prst="rect">
            <a:avLst/>
          </a:prstGeom>
        </p:spPr>
      </p:pic>
      <p:pic>
        <p:nvPicPr>
          <p:cNvPr id="44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28370" y="24425529"/>
            <a:ext cx="30886400" cy="76200"/>
          </a:xfrm>
          <a:prstGeom prst="rect">
            <a:avLst/>
          </a:prstGeom>
        </p:spPr>
      </p:pic>
      <p:pic>
        <p:nvPicPr>
          <p:cNvPr id="5" name="图片 4"/>
          <p:cNvPicPr/>
          <p:nvPr/>
        </p:nvPicPr>
        <p:blipFill>
          <a:blip r:embed="rId5"/>
          <a:stretch>
            <a:fillRect/>
          </a:stretch>
        </p:blipFill>
        <p:spPr>
          <a:xfrm>
            <a:off x="6350" y="876300"/>
            <a:ext cx="11409680" cy="244411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664210" y="5332730"/>
            <a:ext cx="31727775" cy="83648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25000"/>
              </a:lnSpc>
            </a:pP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对比不同论文的负载描述方案（鲍成）</a:t>
            </a:r>
            <a:endParaRPr lang="en-US" altLang="zh-CN" sz="6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endParaRPr lang="zh-CN" altLang="en-US" sz="5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4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endParaRPr lang="zh-CN" altLang="en-US" sz="4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204595" y="7096760"/>
            <a:ext cx="30377130" cy="18738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研读论文了解其负载定义：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Dietrich &amp; Chakraborty 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Co-Cap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CRAVE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zTT 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 et al.</a:t>
            </a:r>
            <a:endParaRPr lang="zh-CN" altLang="en-US" sz="4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设想负载描述目标：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用实时硬件信号，将任务映射到一组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原型负载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上；可选择离散分类，也可得到连续的混合系数向量，供调频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建模直接使用</a:t>
            </a:r>
            <a:endParaRPr lang="zh-CN" altLang="en-US" sz="4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5000"/>
              </a:lnSpc>
            </a:pPr>
            <a:r>
              <a:rPr lang="en-US" altLang="zh-CN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具体方案：</a:t>
            </a:r>
            <a:endParaRPr kumimoji="0" lang="en-US" altLang="zh-CN" sz="4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charset="-122"/>
              <a:cs typeface="+mn-cs"/>
            </a:endParaRPr>
          </a:p>
          <a:p>
            <a:endParaRPr lang="zh-CN" altLang="en-US" sz="48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10640" y="11285220"/>
            <a:ext cx="31081345" cy="35477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负载特征：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f_cpu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f_gpu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f_ddr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util_cpu_compute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util_cpu_stall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 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util_gpu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MB(GB/s), R/W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</a:t>
            </a:r>
            <a:endParaRPr lang="zh-CN" altLang="en-US" sz="4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   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预处理：按设备做 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z-score 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标准化，滑窗聚合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离线阶段：采集各典型任务（计算密集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访存密集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/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混合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/IO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等）特征，固化为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“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原型库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”</a:t>
            </a:r>
            <a:endParaRPr lang="en-US" altLang="zh-CN" sz="4800" dirty="0">
              <a:latin typeface="微软雅黑" panose="020B0503020204020204" charset="-122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4800" dirty="0">
                <a:latin typeface="Georgia" panose="02040502050405020303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  </a:t>
            </a:r>
            <a:r>
              <a:rPr lang="zh-CN" altLang="en-US" sz="4800" dirty="0">
                <a:latin typeface="Georgia" panose="02040502050405020303" pitchFamily="18" charset="0"/>
                <a:ea typeface="Microsoft YaHei UI" panose="020B0503020204020204" charset="-122"/>
                <a:cs typeface="Times New Roman" panose="02020603050405020304" pitchFamily="18" charset="0"/>
                <a:sym typeface="+mn-ea"/>
              </a:rPr>
              <a:t>在线阶段：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对当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前窗口特征向量 </a:t>
            </a:r>
            <a:r>
              <a:rPr lang="en-US" altLang="zh-CN" sz="480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x_t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 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计算各原型相似度（马氏或余弦或</a:t>
            </a:r>
            <a:r>
              <a:rPr lang="en-US" altLang="zh-CN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MSE</a:t>
            </a:r>
            <a:r>
              <a:rPr lang="zh-CN" altLang="en-US" sz="48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 panose="02040502050405020303" pitchFamily="18" charset="0"/>
                <a:ea typeface="Microsoft YaHei UI" panose="020B0503020204020204" charset="-122"/>
                <a:sym typeface="+mn-ea"/>
              </a:rPr>
              <a:t>），归一化得到混合系数</a:t>
            </a:r>
            <a:endParaRPr lang="zh-CN" altLang="en-US" sz="48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 panose="02040502050405020303" pitchFamily="18" charset="0"/>
              <a:ea typeface="Microsoft YaHei UI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rect 14"/>
          <p:cNvSpPr/>
          <p:nvPr/>
        </p:nvSpPr>
        <p:spPr>
          <a:xfrm>
            <a:off x="734695" y="17202785"/>
            <a:ext cx="31551245" cy="6769735"/>
          </a:xfrm>
          <a:prstGeom prst="rect">
            <a:avLst/>
          </a:prstGeom>
          <a:solidFill>
            <a:srgbClr val="FFFFF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39" name="文本框 38"/>
          <p:cNvSpPr txBox="1"/>
          <p:nvPr/>
        </p:nvSpPr>
        <p:spPr>
          <a:xfrm>
            <a:off x="1429385" y="17496155"/>
            <a:ext cx="2258060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内存频点、带宽与性能能耗的关系（鲍成</a:t>
            </a:r>
            <a:r>
              <a:rPr lang="en-US" altLang="zh-CN" sz="6600" b="1">
                <a:latin typeface="微软雅黑" panose="020B0503020204020204" charset="-122"/>
                <a:ea typeface="微软雅黑" panose="020B0503020204020204" charset="-122"/>
              </a:rPr>
              <a:t> &amp; </a:t>
            </a:r>
            <a:r>
              <a:rPr lang="zh-CN" altLang="en-US" sz="6600" b="1">
                <a:latin typeface="微软雅黑" panose="020B0503020204020204" charset="-122"/>
                <a:ea typeface="微软雅黑" panose="020B0503020204020204" charset="-122"/>
              </a:rPr>
              <a:t>程诗淇）</a:t>
            </a:r>
            <a:endParaRPr lang="zh-CN" altLang="en-US" sz="6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1"/>
          <p:cNvPicPr>
            <a:picLocks noChangeAspect="1"/>
          </p:cNvPicPr>
          <p:nvPr/>
        </p:nvPicPr>
        <p:blipFill>
          <a:blip r:embed="rId6"/>
          <a:srcRect l="2426" t="18133" b="18133"/>
          <a:stretch>
            <a:fillRect/>
          </a:stretch>
        </p:blipFill>
        <p:spPr>
          <a:xfrm>
            <a:off x="1429385" y="18764885"/>
            <a:ext cx="21148675" cy="1732280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文本框 42"/>
          <p:cNvSpPr txBox="1"/>
          <p:nvPr/>
        </p:nvSpPr>
        <p:spPr>
          <a:xfrm>
            <a:off x="22305010" y="18983960"/>
            <a:ext cx="7035800" cy="6965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</a:rPr>
              <a:t>（注：这里是峰值带宽）</a:t>
            </a:r>
            <a:endParaRPr lang="zh-CN" altLang="en-US" sz="48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1597025" y="20184110"/>
            <a:ext cx="18745200" cy="2907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en-US" altLang="zh-CN" sz="48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CPU </a:t>
            </a:r>
            <a:r>
              <a:rPr lang="zh-CN" altLang="en-US" sz="48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频点主要决定算力上限，内存频点主要决定数据等待时延</a:t>
            </a:r>
            <a:endParaRPr lang="zh-CN" altLang="en-US" sz="4800" kern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读写比例影响带宽</a:t>
            </a:r>
            <a:r>
              <a:rPr lang="en-US" altLang="zh-CN" sz="48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–</a:t>
            </a:r>
            <a:r>
              <a:rPr lang="zh-CN" altLang="en-US" sz="48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时延曲线形状</a:t>
            </a:r>
            <a:endParaRPr lang="zh-CN" altLang="en-US" sz="4800" kern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indent="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kern="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频点提升若不匹配带宽，将导致性能反向退化</a:t>
            </a:r>
            <a:endParaRPr lang="zh-CN" altLang="en-US" sz="4800" kern="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/>
          </a:p>
        </p:txBody>
      </p:sp>
      <p:sp>
        <p:nvSpPr>
          <p:cNvPr id="50" name="文本框 49"/>
          <p:cNvSpPr txBox="1"/>
          <p:nvPr/>
        </p:nvSpPr>
        <p:spPr>
          <a:xfrm>
            <a:off x="1370965" y="28067635"/>
            <a:ext cx="30695900" cy="2851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只播放时，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频率是影响帧率的主要瓶颈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只推理时，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频率是影响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端到端延迟的主要瓶颈，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频率是影响推理时间的主要因素，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频率对推理时间也有一定影响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播放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推理时，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频率都会影响帧率，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的影响更大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1323340" y="33837245"/>
            <a:ext cx="27710765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调试工具调研及人为干预带宽方法（</a:t>
            </a:r>
            <a:r>
              <a:rPr lang="en-US" altLang="zh-CN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OpenHarmony OS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）（蔡东</a:t>
            </a:r>
            <a:r>
              <a:rPr lang="zh-CN" altLang="en-US" sz="6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辰）</a:t>
            </a:r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sz="6600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1370965" y="35256470"/>
            <a:ext cx="308502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 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调研了一些调试工具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Hiprofiler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HiPerf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HitraceMeter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HiTraceChain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Graphics Profiler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、</a:t>
            </a: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Energy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了解其工具类型以及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核心功能</a:t>
            </a:r>
            <a:endParaRPr lang="zh-CN" altLang="en-US" sz="4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/>
        </p:nvSpPr>
        <p:spPr>
          <a:xfrm>
            <a:off x="1429385" y="37694235"/>
            <a:ext cx="30271085" cy="16643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•</a:t>
            </a:r>
            <a:r>
              <a:rPr lang="zh-CN" altLang="en-US" sz="4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人为干预带宽</a:t>
            </a:r>
            <a:r>
              <a:rPr lang="zh-CN" altLang="en-US" sz="4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Intel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RDT(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资源调度技术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提供了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MBA(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内存带宽分配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，可以限制特定进程的可用带宽（适用于</a:t>
            </a:r>
            <a:r>
              <a:rPr lang="en-US" altLang="zh-CN" sz="4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ntel </a:t>
            </a:r>
            <a:r>
              <a:rPr lang="en-US" altLang="zh-CN" sz="4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且系统必须有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RDT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驱动与 </a:t>
            </a:r>
            <a:r>
              <a:rPr lang="en-US" altLang="zh-CN" sz="4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resctrl</a:t>
            </a:r>
            <a:r>
              <a:rPr lang="en-US" altLang="zh-CN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文件系统支持，例如</a:t>
            </a:r>
            <a:r>
              <a:rPr lang="en-US" altLang="zh-CN" sz="48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linux</a:t>
            </a:r>
            <a:r>
              <a:rPr lang="zh-CN" altLang="en-US" sz="4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系统</a:t>
            </a:r>
            <a:endParaRPr lang="zh-CN" altLang="en-US" sz="4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55" name="pictur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928370" y="33133284"/>
            <a:ext cx="30886400" cy="76200"/>
          </a:xfrm>
          <a:prstGeom prst="rect">
            <a:avLst/>
          </a:prstGeom>
        </p:spPr>
      </p:pic>
      <p:sp>
        <p:nvSpPr>
          <p:cNvPr id="56" name="文本框 55"/>
          <p:cNvSpPr txBox="1"/>
          <p:nvPr/>
        </p:nvSpPr>
        <p:spPr>
          <a:xfrm>
            <a:off x="928370" y="27128470"/>
            <a:ext cx="31357570" cy="8604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0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以在</a:t>
            </a:r>
            <a:r>
              <a:rPr lang="en-US" altLang="zh-CN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jetson</a:t>
            </a:r>
            <a:r>
              <a:rPr lang="zh-CN" altLang="en-US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上使用</a:t>
            </a:r>
            <a:r>
              <a:rPr lang="en-US" altLang="zh-CN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deepstream</a:t>
            </a:r>
            <a:r>
              <a:rPr lang="zh-CN" altLang="en-US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为例，设置了三种情形并分别统计调节</a:t>
            </a:r>
            <a:r>
              <a:rPr lang="en-US" altLang="zh-CN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GPU</a:t>
            </a:r>
            <a:r>
              <a:rPr lang="zh-CN" altLang="en-US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频率对视频</a:t>
            </a:r>
            <a:r>
              <a:rPr lang="en-US" altLang="zh-CN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fps</a:t>
            </a:r>
            <a:r>
              <a:rPr lang="zh-CN" altLang="en-US" sz="50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的影响情况：</a:t>
            </a:r>
            <a:endParaRPr lang="zh-CN" altLang="en-US" sz="50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</Words>
  <Application>WPS 演示</Application>
  <PresentationFormat/>
  <Paragraphs>69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宋体</vt:lpstr>
      <vt:lpstr>Wingdings</vt:lpstr>
      <vt:lpstr>Arial</vt:lpstr>
      <vt:lpstr>黑体</vt:lpstr>
      <vt:lpstr>微软雅黑</vt:lpstr>
      <vt:lpstr>Microsoft YaHei UI</vt:lpstr>
      <vt:lpstr>Georgia</vt:lpstr>
      <vt:lpstr>Times New Roman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Shijie Sun</dc:creator>
  <cp:lastModifiedBy>Queenie.</cp:lastModifiedBy>
  <cp:revision>10</cp:revision>
  <dcterms:created xsi:type="dcterms:W3CDTF">2025-11-12T09:06:00Z</dcterms:created>
  <dcterms:modified xsi:type="dcterms:W3CDTF">2025-11-13T10:21:48Z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wqlLaW5nc29mdCBQREYgdG8gV1BTIDExNQ</vt:lpwstr>
  </property>
  <property fmtid="{D5CDD505-2E9C-101B-9397-08002B2CF9AE}" pid="3" name="Created">
    <vt:filetime>2025-11-14T01:03:57Z</vt:filetime>
  </property>
  <property fmtid="{D5CDD505-2E9C-101B-9397-08002B2CF9AE}" pid="4" name="ICV">
    <vt:lpwstr>A5F96D1879B74072A2B8B3B801EDF66E_13</vt:lpwstr>
  </property>
  <property fmtid="{D5CDD505-2E9C-101B-9397-08002B2CF9AE}" pid="5" name="KSOProductBuildVer">
    <vt:lpwstr>2052-12.1.0.23125</vt:lpwstr>
  </property>
</Properties>
</file>