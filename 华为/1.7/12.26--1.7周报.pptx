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32918400" cy="438912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17.png"/><Relationship Id="rId2" Type="http://schemas.openxmlformats.org/officeDocument/2006/relationships/image" Target="../media/image2.png"/><Relationship Id="rId19" Type="http://schemas.openxmlformats.org/officeDocument/2006/relationships/image" Target="../media/image16.svg"/><Relationship Id="rId18" Type="http://schemas.openxmlformats.org/officeDocument/2006/relationships/image" Target="../media/image15.png"/><Relationship Id="rId17" Type="http://schemas.openxmlformats.org/officeDocument/2006/relationships/tags" Target="../tags/tag3.xml"/><Relationship Id="rId16" Type="http://schemas.openxmlformats.org/officeDocument/2006/relationships/image" Target="../media/image14.svg"/><Relationship Id="rId15" Type="http://schemas.openxmlformats.org/officeDocument/2006/relationships/image" Target="../media/image13.png"/><Relationship Id="rId14" Type="http://schemas.openxmlformats.org/officeDocument/2006/relationships/tags" Target="../tags/tag2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1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5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2"/>
          <p:cNvSpPr/>
          <p:nvPr/>
        </p:nvSpPr>
        <p:spPr>
          <a:xfrm>
            <a:off x="1144270" y="5311140"/>
            <a:ext cx="30914975" cy="1610042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textbox 12"/>
          <p:cNvSpPr/>
          <p:nvPr/>
        </p:nvSpPr>
        <p:spPr>
          <a:xfrm>
            <a:off x="17772380" y="41034335"/>
            <a:ext cx="14619605" cy="1234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制作人：</a:t>
            </a:r>
            <a:r>
              <a:rPr 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程诗淇</a:t>
            </a:r>
            <a:r>
              <a:rPr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审阅人：</a:t>
            </a:r>
            <a:r>
              <a:rPr 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徐飞</a:t>
            </a:r>
            <a:r>
              <a:rPr lang="en-US" alt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吴旭东</a:t>
            </a:r>
            <a:endParaRPr lang="zh-CN" altLang="en-US" sz="5400" kern="0" spc="-10" dirty="0">
              <a:solidFill>
                <a:srgbClr val="00206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96" y="4552060"/>
            <a:ext cx="32912304" cy="6350"/>
          </a:xfrm>
          <a:prstGeom prst="rect">
            <a:avLst/>
          </a:prstGeom>
        </p:spPr>
      </p:pic>
      <p:sp>
        <p:nvSpPr>
          <p:cNvPr id="18" name="rect 18"/>
          <p:cNvSpPr/>
          <p:nvPr/>
        </p:nvSpPr>
        <p:spPr>
          <a:xfrm>
            <a:off x="0" y="0"/>
            <a:ext cx="32918400" cy="45789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" name="textbox 22"/>
          <p:cNvSpPr/>
          <p:nvPr/>
        </p:nvSpPr>
        <p:spPr>
          <a:xfrm>
            <a:off x="18382995" y="780643"/>
            <a:ext cx="13418819" cy="2627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 defTabSz="457200" rtl="0">
              <a:lnSpc>
                <a:spcPct val="100000"/>
              </a:lnSpc>
            </a:pPr>
            <a:r>
              <a:rPr lang="zh-CN" altLang="en-US" sz="7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面向终端内存与异构计算器件的</a:t>
            </a:r>
            <a:endParaRPr lang="en-US" altLang="zh-CN" sz="7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457200" rtl="0">
              <a:lnSpc>
                <a:spcPct val="100000"/>
              </a:lnSpc>
            </a:pPr>
            <a:r>
              <a:rPr lang="zh-CN" altLang="en-US" sz="7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软硬协同帧渲染优化</a:t>
            </a:r>
            <a:endParaRPr lang="zh-CN" altLang="en-US" sz="7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25165" algn="l" rtl="0" eaLnBrk="0">
              <a:lnSpc>
                <a:spcPct val="89000"/>
              </a:lnSpc>
            </a:pP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202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.1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2.26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—202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7</a:t>
            </a:r>
            <a:endParaRPr lang="en-US" sz="5400" kern="0" spc="-20" dirty="0">
              <a:solidFill>
                <a:srgbClr val="FFFFFF">
                  <a:alpha val="100000"/>
                </a:srgbClr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rect 24"/>
          <p:cNvSpPr/>
          <p:nvPr/>
        </p:nvSpPr>
        <p:spPr>
          <a:xfrm>
            <a:off x="0" y="43285535"/>
            <a:ext cx="32918400" cy="6202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15784" y="780456"/>
            <a:ext cx="6300547" cy="1403461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11980012" y="2594304"/>
            <a:ext cx="6697344" cy="886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6000"/>
              </a:lnSpc>
            </a:pPr>
            <a:r>
              <a:rPr lang="zh-CN" altLang="en-US" sz="6300" kern="0" spc="-4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华为中央研究院</a:t>
            </a:r>
            <a:endParaRPr lang="zh-CN" altLang="en-US" sz="6300" kern="0" spc="-40" dirty="0">
              <a:solidFill>
                <a:schemeClr val="tx1">
                  <a:alpha val="10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6350" y="876300"/>
            <a:ext cx="11409680" cy="24441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10260" y="5333365"/>
            <a:ext cx="31727775" cy="153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5000"/>
              </a:lnSpc>
            </a:pP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模型的内容性解释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（鲍成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6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5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sz="4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zh-CN" altLang="en-US" sz="4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4253190" y="9215755"/>
            <a:ext cx="1182370" cy="617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200" b="1">
              <a:solidFill>
                <a:schemeClr val="bg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059305" y="17283430"/>
            <a:ext cx="30478730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DDR 模型的闭式近似</a:t>
            </a:r>
            <a:r>
              <a:rPr lang="zh-CN" altLang="en-US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：</a:t>
            </a:r>
            <a:endParaRPr lang="en-US" sz="460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方案</a:t>
            </a:r>
            <a:r>
              <a:rPr lang="en-US" altLang="zh-CN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：有理函数（渐近线视角）：</a:t>
            </a:r>
            <a:endParaRPr lang="zh-CN" altLang="en-US" sz="4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方案</a:t>
            </a:r>
            <a:r>
              <a:rPr lang="en-US" altLang="zh-CN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</a:t>
            </a:r>
            <a:r>
              <a:rPr lang="zh-CN" altLang="en-US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：指数饱和（显式饱和下界）：</a:t>
            </a:r>
            <a:endParaRPr lang="zh-CN" altLang="en-US" sz="4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79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4270" y="21831934"/>
            <a:ext cx="30886400" cy="76200"/>
          </a:xfrm>
          <a:prstGeom prst="rect">
            <a:avLst/>
          </a:prstGeom>
        </p:spPr>
      </p:pic>
      <p:sp>
        <p:nvSpPr>
          <p:cNvPr id="83" name="rect 2"/>
          <p:cNvSpPr/>
          <p:nvPr/>
        </p:nvSpPr>
        <p:spPr>
          <a:xfrm>
            <a:off x="1115695" y="22379305"/>
            <a:ext cx="30943550" cy="942022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4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4270" y="21840189"/>
            <a:ext cx="30886400" cy="76200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1323340" y="22466935"/>
            <a:ext cx="26433145" cy="1128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5000"/>
              </a:lnSpc>
            </a:pP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模型的负载选取与拟合效果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（任德上</a:t>
            </a: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&amp; 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蔡东辰）</a:t>
            </a:r>
            <a:endParaRPr lang="en-US" altLang="zh-CN" sz="6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4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144270" y="23718520"/>
            <a:ext cx="30914975" cy="3707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·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功耗模型</a:t>
            </a:r>
            <a:endParaRPr lang="zh-CN" altLang="en-US" sz="4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负载选取：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个精致渲染场景（抖音播放视频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进出图库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唤醒小艺）和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推理场景（相机录像和备忘录摘要）</a:t>
            </a:r>
            <a:endParaRPr lang="zh-CN" altLang="en-US" sz="4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拟合效果：基于华为功耗版测得的数据，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功耗模型的平均相对误差均小于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8%</a:t>
            </a:r>
            <a:endParaRPr lang="zh-CN" altLang="en-US" sz="4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</a:t>
            </a:r>
            <a:endParaRPr lang="en-US" altLang="zh-CN" sz="4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23340" y="6658610"/>
            <a:ext cx="31443295" cy="3473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·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功耗模型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sz="480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800" dirty="0">
                <a:solidFill>
                  <a:srgbClr val="0F172A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0"/>
                <a:sym typeface="+mn-ea"/>
              </a:rPr>
              <a:t>·</a:t>
            </a:r>
            <a:r>
              <a:rPr lang="en-US" sz="4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帧时/迭代时间模型</a:t>
            </a:r>
            <a:r>
              <a:rPr lang="zh-CN" altLang="en-US" sz="48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：</a:t>
            </a:r>
            <a:endParaRPr lang="zh-CN" altLang="en-US" sz="480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4110" y="7137400"/>
            <a:ext cx="18086070" cy="1042670"/>
          </a:xfrm>
          <a:prstGeom prst="rect">
            <a:avLst/>
          </a:prstGeom>
        </p:spPr>
      </p:pic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7010" y="8637905"/>
            <a:ext cx="16637635" cy="119570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80510" y="12348845"/>
            <a:ext cx="20035520" cy="1491615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85310" y="15269210"/>
            <a:ext cx="14845665" cy="17621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59305" y="9826625"/>
            <a:ext cx="30478730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帧率模型解释：</a:t>
            </a:r>
            <a:endParaRPr lang="zh-CN" altLang="en-US" sz="4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GPU</a:t>
            </a:r>
            <a:r>
              <a:rPr lang="zh-CN" altLang="en-US" sz="4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为关键路径，</a:t>
            </a:r>
            <a:r>
              <a:rPr lang="en-US" sz="46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CPU 负责逻辑/调度/命令提交</a:t>
            </a:r>
            <a:r>
              <a:rPr lang="zh-CN" altLang="en-US" sz="46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，</a:t>
            </a:r>
            <a:r>
              <a:rPr lang="en-US" sz="46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GPU 负责渲染执行</a:t>
            </a:r>
            <a:r>
              <a:rPr lang="zh-CN" altLang="en-US" sz="46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，为串行关系</a:t>
            </a:r>
            <a:endParaRPr lang="zh-CN" altLang="en-US" sz="4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4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55800" y="14010640"/>
            <a:ext cx="30478730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DDR</a:t>
            </a:r>
            <a:r>
              <a:rPr lang="zh-CN" altLang="en-US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为吞吐约束，与</a:t>
            </a:r>
            <a:r>
              <a:rPr lang="en-US" altLang="zh-CN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CPU</a:t>
            </a:r>
            <a:r>
              <a:rPr lang="zh-CN" altLang="en-US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、</a:t>
            </a:r>
            <a:r>
              <a:rPr lang="en-US" altLang="zh-CN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GPU</a:t>
            </a:r>
            <a:r>
              <a:rPr lang="zh-CN" altLang="en-US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为</a:t>
            </a:r>
            <a:r>
              <a:rPr lang="zh-CN" altLang="en-US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并行关系，</a:t>
            </a:r>
            <a:r>
              <a:rPr lang="en-US" altLang="zh-CN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T</a:t>
            </a:r>
            <a:r>
              <a:rPr lang="en-US" altLang="zh-CN" sz="4600" baseline="-250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ddr</a:t>
            </a:r>
            <a:r>
              <a:rPr lang="zh-CN" altLang="en-US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呈现</a:t>
            </a:r>
            <a:r>
              <a:rPr lang="en-US" altLang="zh-CN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roofline</a:t>
            </a:r>
            <a:r>
              <a:rPr lang="zh-CN" altLang="en-US" sz="460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形态</a:t>
            </a:r>
            <a:endParaRPr lang="en-US" altLang="zh-CN" sz="4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92765" y="18343245"/>
            <a:ext cx="7984490" cy="123317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210925" y="19641185"/>
            <a:ext cx="10133330" cy="10083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5435560" y="8535670"/>
            <a:ext cx="3759200" cy="1297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6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FPS ≈ 1/T̂</a:t>
            </a:r>
            <a:endParaRPr lang="zh-CN" altLang="en-US" sz="4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44270" y="27067510"/>
            <a:ext cx="30914975" cy="4938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  <a:sym typeface="+mn-ea"/>
              </a:rPr>
              <a:t>·</a:t>
            </a:r>
            <a:r>
              <a:rPr lang="zh-CN" altLang="en-US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帧率模型</a:t>
            </a:r>
            <a:endParaRPr lang="zh-CN" altLang="en-US" sz="4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负载选取：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个精致渲染场景（抖音播放视频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唤醒小艺）和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推理场景（相机录像）</a:t>
            </a:r>
            <a:endParaRPr lang="zh-CN" altLang="en-US" sz="4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拟合效果：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抖音视频播放：相对平均误差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4.82%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（指数模型拟合），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4.34%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（对勾函数拟合）</a:t>
            </a:r>
            <a:endParaRPr lang="en-US" altLang="zh-CN" sz="4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相机录像：相对平均误差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2.82%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（指数模型拟合），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2.83%</a:t>
            </a: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（对勾函数拟合）</a:t>
            </a:r>
            <a:endParaRPr lang="zh-CN" altLang="en-US" sz="4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   </a:t>
            </a:r>
            <a:endParaRPr lang="en-US" altLang="zh-CN" sz="4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rect 2"/>
          <p:cNvSpPr/>
          <p:nvPr/>
        </p:nvSpPr>
        <p:spPr>
          <a:xfrm>
            <a:off x="1118235" y="32801560"/>
            <a:ext cx="30941010" cy="907923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323340" y="32999045"/>
            <a:ext cx="26433145" cy="1128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5000"/>
              </a:lnSpc>
            </a:pP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jetson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渲染场景补充验证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（蔡东辰）</a:t>
            </a:r>
            <a:endParaRPr lang="en-US" altLang="zh-CN" sz="6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4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623060" y="34438590"/>
            <a:ext cx="30914975" cy="1574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针对多组高精度渲染负载场景，拟合后的一致性图如下，即便是极高渲染负载的平均相对误差也较低。</a:t>
            </a:r>
            <a:r>
              <a:rPr lang="en-US" altLang="zh-CN" sz="4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</a:t>
            </a:r>
            <a:endParaRPr lang="en-US" altLang="zh-CN" sz="4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0"/>
          <a:srcRect r="212"/>
          <a:stretch>
            <a:fillRect/>
          </a:stretch>
        </p:blipFill>
        <p:spPr>
          <a:xfrm>
            <a:off x="3964305" y="35711765"/>
            <a:ext cx="22680295" cy="6133465"/>
          </a:xfrm>
          <a:prstGeom prst="rect">
            <a:avLst/>
          </a:prstGeom>
        </p:spPr>
      </p:pic>
      <p:pic>
        <p:nvPicPr>
          <p:cNvPr id="3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5695" y="32262444"/>
            <a:ext cx="30886400" cy="76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2.4843307086614,&quot;left&quot;:48.6,&quot;top&quot;:165.53740157480314,&quot;width&quot;:623.7}"/>
</p:tagLst>
</file>

<file path=ppt/tags/tag2.xml><?xml version="1.0" encoding="utf-8"?>
<p:tagLst xmlns:p="http://schemas.openxmlformats.org/presentationml/2006/main">
  <p:tag name="KSO_WM_DIAGRAM_VIRTUALLY_FRAME" val="{&quot;height&quot;:189.65685039370078,&quot;left&quot;:48.6,&quot;top&quot;:72.9,&quot;width&quot;:623.7}"/>
</p:tagLst>
</file>

<file path=ppt/tags/tag3.xml><?xml version="1.0" encoding="utf-8"?>
<p:tagLst xmlns:p="http://schemas.openxmlformats.org/presentationml/2006/main">
  <p:tag name="KSO_WM_DIAGRAM_VIRTUALLY_FRAME" val="{&quot;height&quot;:189.65685039370078,&quot;left&quot;:48.6,&quot;top&quot;:72.9,&quot;width&quot;:623.7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WPS 演示</Application>
  <PresentationFormat/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Arial</vt:lpstr>
      <vt:lpstr>黑体</vt:lpstr>
      <vt:lpstr>微软雅黑</vt:lpstr>
      <vt:lpstr>Microsoft YaHei UI</vt:lpstr>
      <vt:lpstr>Arial Unicode MS</vt:lpstr>
      <vt:lpstr>Calibri</vt:lpstr>
      <vt:lpstr>微软雅黑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Shijie Sun</dc:creator>
  <cp:lastModifiedBy>Queenie.</cp:lastModifiedBy>
  <cp:revision>27</cp:revision>
  <dcterms:created xsi:type="dcterms:W3CDTF">2025-11-12T09:06:00Z</dcterms:created>
  <dcterms:modified xsi:type="dcterms:W3CDTF">2026-01-07T11:31:47Z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2025-11-17T01:03:57Z</vt:filetime>
  </property>
  <property fmtid="{D5CDD505-2E9C-101B-9397-08002B2CF9AE}" pid="4" name="ICV">
    <vt:lpwstr>A5F96D1879B74072A2B8B3B801EDF66E_13</vt:lpwstr>
  </property>
  <property fmtid="{D5CDD505-2E9C-101B-9397-08002B2CF9AE}" pid="5" name="KSOProductBuildVer">
    <vt:lpwstr>2052-12.1.0.24034</vt:lpwstr>
  </property>
</Properties>
</file>