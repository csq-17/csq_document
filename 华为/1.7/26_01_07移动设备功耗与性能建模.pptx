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72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33247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 功耗模型（Dynamic Voltage Scaling）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99217"/>
            <a:ext cx="8332470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记号约定：上标 (c) 表示“场景/原型/负载簇”的条件化参数（同类负载共享一组参数）。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7220" y="1337310"/>
            <a:ext cx="7920990" cy="99441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670" y="1616216"/>
            <a:ext cx="7578090" cy="4365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" y="3044355"/>
            <a:ext cx="7920990" cy="308610"/>
          </a:xfrm>
          <a:prstGeom prst="rect">
            <a:avLst/>
          </a:prstGeom>
          <a:solidFill>
            <a:srgbClr val="E6F0FA"/>
          </a:solidFill>
          <a:ln w="12700">
            <a:solidFill>
              <a:srgbClr val="C7D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" y="3099219"/>
            <a:ext cx="7646670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B3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原理解释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8670" y="3421545"/>
            <a:ext cx="7578090" cy="23660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42875" indent="-142875">
              <a:spcAft>
                <a:spcPts val="395"/>
              </a:spcAft>
              <a:buSzPct val="100000"/>
              <a:buChar char="•"/>
            </a:pPr>
            <a:r>
              <a:rPr lang="en-US" sz="112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CMOS 动态功耗近似：P_dyn ∝ C·V²·f；DVFS 下 V 通常随频点 f 单调上升（工程近似 V≈a f + b），因此主导项可归并为 P_dyn ∝ f³。</a:t>
            </a:r>
            <a:endParaRPr lang="en-US" sz="1125" dirty="0"/>
          </a:p>
          <a:p>
            <a:pPr marL="142875" indent="-142875">
              <a:spcAft>
                <a:spcPts val="395"/>
              </a:spcAft>
              <a:buSzPct val="100000"/>
              <a:buChar char="•"/>
            </a:pPr>
            <a:r>
              <a:rPr lang="en-US" sz="112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κ_cpu、κ_gpu、κ_ddr：场景 (c) 下各域“等效动态功耗系数”（吸收活动因子、指令混合、带宽读写比例等；建议按场景/原型分组拟合）。</a:t>
            </a:r>
            <a:endParaRPr lang="en-US" sz="1125" dirty="0"/>
          </a:p>
          <a:p>
            <a:pPr marL="142875" indent="-142875">
              <a:spcAft>
                <a:spcPts val="395"/>
              </a:spcAft>
              <a:buSzPct val="100000"/>
              <a:buChar char="•"/>
            </a:pPr>
            <a:r>
              <a:rPr lang="en-US" sz="112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σ^(c)：频点无关的静态/基线功耗（漏电、屏幕/外设、常驻后台等的合并项）。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33247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 帧时/迭代时间模型（Critical Path + Throughput）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76775"/>
            <a:ext cx="8332470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建模单次迭代/单帧时间：T̂^{(c)}；帧率近似 FPS ≈ 1/T̂。CPU+GPU 关键路径串行相加，DDR 与其并行，因此取 max。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7220" y="1079886"/>
            <a:ext cx="7920990" cy="65151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6430" y="1182756"/>
            <a:ext cx="6202571" cy="4457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" y="2102325"/>
            <a:ext cx="3789045" cy="308610"/>
          </a:xfrm>
          <a:prstGeom prst="rect">
            <a:avLst/>
          </a:prstGeom>
          <a:solidFill>
            <a:srgbClr val="E6F0FA"/>
          </a:solidFill>
          <a:ln w="12700">
            <a:solidFill>
              <a:srgbClr val="C7D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" y="2157189"/>
            <a:ext cx="3514725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B3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CPU/GPU：关键路径（Critical Path）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" y="2513805"/>
            <a:ext cx="3514725" cy="9944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3825" indent="-123825">
              <a:spcAft>
                <a:spcPts val="340"/>
              </a:spcAft>
              <a:buSzPct val="100000"/>
              <a:buChar char="•"/>
            </a:pPr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关键路径近似：决定帧时的是最长、不可被并行掩盖的依赖链。</a:t>
            </a:r>
            <a:endParaRPr lang="en-US" sz="975" dirty="0"/>
          </a:p>
          <a:p>
            <a:pPr marL="123825" indent="-123825">
              <a:spcAft>
                <a:spcPts val="340"/>
              </a:spcAft>
              <a:buSzPct val="100000"/>
              <a:buChar char="•"/>
            </a:pPr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负责逻辑/调度/命令提交；GPU 负责渲染执行 → 同步/呈现，形成先后依赖。</a:t>
            </a:r>
            <a:endParaRPr lang="en-US" sz="975" dirty="0"/>
          </a:p>
          <a:p>
            <a:pPr marL="123825" indent="-123825">
              <a:spcAft>
                <a:spcPts val="340"/>
              </a:spcAft>
              <a:buSzPct val="100000"/>
              <a:buChar char="•"/>
            </a:pPr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频点主要影响可加速计算段：在最大频点基准上按 1/f 缩放。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617220" y="3850916"/>
            <a:ext cx="3789045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670" y="4134256"/>
            <a:ext cx="3446145" cy="256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49165" y="2102325"/>
            <a:ext cx="3789045" cy="308610"/>
          </a:xfrm>
          <a:prstGeom prst="rect">
            <a:avLst/>
          </a:prstGeom>
          <a:solidFill>
            <a:srgbClr val="E6F0FA"/>
          </a:solidFill>
          <a:ln w="12700">
            <a:solidFill>
              <a:srgbClr val="C7DDF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86325" y="2157189"/>
            <a:ext cx="3514725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B3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DDR：吞吐约束（Throughput / Roofline）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86325" y="2513805"/>
            <a:ext cx="3514725" cy="9944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3825" indent="-123825">
              <a:spcAft>
                <a:spcPts val="340"/>
              </a:spcAft>
              <a:buSzPct val="100000"/>
              <a:buChar char="•"/>
            </a:pPr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等效数据搬运量 M^(c)（bytes）；带宽瓶颈时 T_ddr ≈ M / Tp。</a:t>
            </a:r>
            <a:endParaRPr lang="en-US" sz="975" dirty="0"/>
          </a:p>
          <a:p>
            <a:pPr marL="123825" indent="-123825">
              <a:spcAft>
                <a:spcPts val="340"/>
              </a:spcAft>
              <a:buSzPct val="100000"/>
              <a:buChar char="•"/>
            </a:pPr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吞吐量：Tp(f_ddr)=min(C^(c)·f_ddr, BW_max^(c))，体现线性增长→饱和上限。</a:t>
            </a:r>
            <a:endParaRPr lang="en-US" sz="975" dirty="0"/>
          </a:p>
          <a:p>
            <a:pPr marL="123825" indent="-123825">
              <a:spcAft>
                <a:spcPts val="340"/>
              </a:spcAft>
              <a:buSzPct val="100000"/>
              <a:buChar char="•"/>
            </a:pPr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因此 T_ddr 呈“低频 1/f、高频趋于常数下界”的 roofline 形态。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4749165" y="3850916"/>
            <a:ext cx="3789045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190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0615" y="4058067"/>
            <a:ext cx="3446145" cy="408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33247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2.3 DDR 模型的闭式近似（Smooth Roofline）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17220"/>
            <a:ext cx="8332470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目标：将分段 Roofline 约束（低频 1/f，高频饱和）用连续可导的闭式函数近似，便于少样本稳定拟合与后续优化。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7220" y="925830"/>
            <a:ext cx="3789045" cy="308610"/>
          </a:xfrm>
          <a:prstGeom prst="rect">
            <a:avLst/>
          </a:prstGeom>
          <a:solidFill>
            <a:srgbClr val="E6F0FA"/>
          </a:solidFill>
          <a:ln w="12700">
            <a:solidFill>
              <a:srgbClr val="C7D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49165" y="925830"/>
            <a:ext cx="3789045" cy="308610"/>
          </a:xfrm>
          <a:prstGeom prst="rect">
            <a:avLst/>
          </a:prstGeom>
          <a:solidFill>
            <a:srgbClr val="E6F0FA"/>
          </a:solidFill>
          <a:ln w="12700">
            <a:solidFill>
              <a:srgbClr val="C7D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" y="980694"/>
            <a:ext cx="3514725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B3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A：有理函数（渐近线视角）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86325" y="980694"/>
            <a:ext cx="3514725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B3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B：指数饱和（显式饱和下界）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4380" y="1581248"/>
            <a:ext cx="3514725" cy="526973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c/f：低频带宽受限段，随频点升高而下降（≈ 1/f）。</a:t>
            </a:r>
            <a:endParaRPr lang="en-US" sz="975" dirty="0"/>
          </a:p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b：频点无关的常数开销/下界（高频段渐近线）。</a:t>
            </a:r>
            <a:endParaRPr lang="en-US" sz="975" dirty="0"/>
          </a:p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a·f：吸收饱和附近的非理想弯折 → 平滑过渡，使拟合更稳。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886325" y="1397026"/>
            <a:ext cx="3514725" cy="9944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τ₀：高频段饱和下界（渐近线），频点再升帧时也难继续下降。</a:t>
            </a:r>
            <a:endParaRPr lang="en-US" sz="975" dirty="0"/>
          </a:p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Exp：τ₁·exp(-λ f) 描述从低频到高频的边际收益递减。</a:t>
            </a:r>
            <a:endParaRPr lang="en-US" sz="975" dirty="0"/>
          </a:p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Fit：形态与 roofline “1/f → 常数下界”一致，便于连续可导优化。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617220" y="2511512"/>
            <a:ext cx="3789045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49165" y="2511512"/>
            <a:ext cx="3789045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670" y="2657014"/>
            <a:ext cx="3446145" cy="531956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0615" y="2751664"/>
            <a:ext cx="3446145" cy="3426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7220" y="3763451"/>
            <a:ext cx="7920990" cy="95266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" y="3763451"/>
            <a:ext cx="7920990" cy="308610"/>
          </a:xfrm>
          <a:prstGeom prst="rect">
            <a:avLst/>
          </a:prstGeom>
          <a:solidFill>
            <a:srgbClr val="E6F0FA"/>
          </a:solidFill>
          <a:ln w="12700">
            <a:solidFill>
              <a:srgbClr val="C7DDF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4380" y="3818315"/>
            <a:ext cx="7646670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B3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工程优势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88670" y="4140641"/>
            <a:ext cx="7543800" cy="11658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连续可导：适合基于梯度的搜索/优化（更易求解）。</a:t>
            </a:r>
            <a:endParaRPr lang="en-US" sz="975" dirty="0"/>
          </a:p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少量频点也可稳定拟合：避免分段折线带来的不稳定。</a:t>
            </a:r>
            <a:endParaRPr lang="en-US" sz="975" dirty="0"/>
          </a:p>
          <a:p>
            <a:r>
              <a:rPr lang="en-US" sz="975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参数语义明确：便于按场景/原型 (c) 分组拟合，实现可解释与可外推。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WPS 演示</Application>
  <PresentationFormat>全屏显示(16:9)</PresentationFormat>
  <Paragraphs>48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Queenie.</cp:lastModifiedBy>
  <cp:revision>6</cp:revision>
  <dcterms:created xsi:type="dcterms:W3CDTF">2026-01-06T11:45:00Z</dcterms:created>
  <dcterms:modified xsi:type="dcterms:W3CDTF">2026-01-07T08:51:13Z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17CDB550909240FF81DA630E1AE83400_13</vt:lpwstr>
  </property>
  <property fmtid="{D5CDD505-2E9C-101B-9397-08002B2CF9AE}" pid="3" name="KSOProductBuildVer">
    <vt:lpwstr>2052-12.1.0.24034</vt:lpwstr>
  </property>
</Properties>
</file>