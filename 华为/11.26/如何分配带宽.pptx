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80" r:id="rId4"/>
    <p:sldId id="281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72" y="212"/>
      </p:cViewPr>
      <p:guideLst>
        <p:guide orient="horz" pos="218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E644F-7AA2-42BF-BC94-215E7DE1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10"/>
          <p:cNvSpPr txBox="1"/>
          <p:nvPr/>
        </p:nvSpPr>
        <p:spPr>
          <a:xfrm>
            <a:off x="198120" y="4492625"/>
            <a:ext cx="8508365" cy="979170"/>
          </a:xfrm>
          <a:prstGeom prst="roundRect">
            <a:avLst>
              <a:gd name="adj" fmla="val 7719"/>
            </a:avLst>
          </a:prstGeom>
          <a:solidFill>
            <a:srgbClr val="D9D9D9"/>
          </a:solidFill>
          <a:ln w="12700" cap="flat" cmpd="sng" algn="ctr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b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defTabSz="457200"/>
            <a:endParaRPr lang="en-US" altLang="zh-CN" sz="1600" kern="0" dirty="0">
              <a:latin typeface="Times New Roman" panose="02020603050405020304" charset="0"/>
            </a:endParaRPr>
          </a:p>
        </p:txBody>
      </p:sp>
      <p:sp>
        <p:nvSpPr>
          <p:cNvPr id="9" name="标题 3"/>
          <p:cNvSpPr txBox="1"/>
          <p:nvPr/>
        </p:nvSpPr>
        <p:spPr>
          <a:xfrm>
            <a:off x="1033145" y="5721985"/>
            <a:ext cx="6887845" cy="423545"/>
          </a:xfrm>
          <a:prstGeom prst="roundRect">
            <a:avLst>
              <a:gd name="adj" fmla="val 6753"/>
            </a:avLst>
          </a:prstGeom>
          <a:solidFill>
            <a:schemeClr val="bg1"/>
          </a:solidFill>
          <a:ln w="28575" cap="flat" cmpd="sng" algn="ctr">
            <a:solidFill>
              <a:srgbClr val="00206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contourW="19050">
            <a:bevelT w="127000" prst="convex"/>
            <a:bevelB w="0" h="0"/>
            <a:contourClr>
              <a:sysClr val="window" lastClr="FFFFFF"/>
            </a:contourClr>
          </a:sp3d>
        </p:spPr>
        <p:txBody>
          <a:bodyPr lIns="91418" tIns="45709" rIns="91418" bIns="45709" anchor="ctr"/>
          <a:lstStyle>
            <a:defPPr>
              <a:defRPr lang="zh-CN"/>
            </a:defPPr>
            <a:lvl1pPr indent="0" algn="ctr">
              <a:lnSpc>
                <a:spcPct val="100000"/>
              </a:lnSpc>
              <a:defRPr sz="24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endParaRPr lang="zh-CN" altLang="en-US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98412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9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00252" y="188438"/>
            <a:ext cx="1781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研究内容：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81287" y="390469"/>
            <a:ext cx="36760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改变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DDR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频率直接影响设备级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带宽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7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1"/>
            </p:custDataLst>
          </p:nvPr>
        </p:nvSpPr>
        <p:spPr>
          <a:xfrm>
            <a:off x="127930" y="1016908"/>
            <a:ext cx="1854059" cy="436546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直角三角形 32"/>
          <p:cNvSpPr/>
          <p:nvPr>
            <p:custDataLst>
              <p:tags r:id="rId2"/>
            </p:custDataLst>
          </p:nvPr>
        </p:nvSpPr>
        <p:spPr>
          <a:xfrm>
            <a:off x="1981355" y="1015783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直角三角形 33"/>
          <p:cNvSpPr/>
          <p:nvPr/>
        </p:nvSpPr>
        <p:spPr>
          <a:xfrm flipH="1">
            <a:off x="127931" y="925096"/>
            <a:ext cx="140467" cy="91177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文本框 66"/>
          <p:cNvSpPr txBox="1"/>
          <p:nvPr>
            <p:custDataLst>
              <p:tags r:id="rId3"/>
            </p:custDataLst>
          </p:nvPr>
        </p:nvSpPr>
        <p:spPr>
          <a:xfrm>
            <a:off x="198120" y="1050290"/>
            <a:ext cx="1783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已知前提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300493" y="5722054"/>
            <a:ext cx="8331689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调节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DDR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频率改变的是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设备级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带宽</a:t>
            </a:r>
            <a:endParaRPr lang="en-US" altLang="zh-CN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55" y="1454150"/>
            <a:ext cx="6998335" cy="278828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6639560" y="4067810"/>
            <a:ext cx="1539875" cy="25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来自</a:t>
            </a:r>
            <a:r>
              <a:rPr lang="en-US" altLang="zh-CN" sz="1400">
                <a:solidFill>
                  <a:schemeClr val="tx1"/>
                </a:solidFill>
              </a:rPr>
              <a:t>Wikipedia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0355" y="4624705"/>
            <a:ext cx="85255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 b="1"/>
              <a:t>DDR</a:t>
            </a:r>
            <a:r>
              <a:rPr lang="zh-CN" altLang="en-US" sz="1500" b="1"/>
              <a:t>总线在任何时刻只能进行读或写，其频率决定了单位时间内可以进行的操作数量。这就像一根水管，频率决定了水管的直径。所有进程（用水户）都从这一根水管里取水，降低频率等于收窄了整个水管的直径，这会影响所有用水户的取水速度上限。</a:t>
            </a:r>
            <a:endParaRPr lang="zh-CN" altLang="en-US" sz="15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2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9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00252" y="188438"/>
            <a:ext cx="1781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研究内容：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81287" y="390469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如何分配带宽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7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48285" y="1277620"/>
            <a:ext cx="2605405" cy="518541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247650" y="1284605"/>
            <a:ext cx="2605405" cy="780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/>
              <a:t>1.</a:t>
            </a:r>
            <a:r>
              <a:rPr lang="zh-CN" altLang="en-US" sz="2400" b="1" dirty="0"/>
              <a:t>预估带宽</a:t>
            </a:r>
            <a:endParaRPr lang="zh-CN" altLang="en-US" sz="2400" b="1" dirty="0"/>
          </a:p>
        </p:txBody>
      </p:sp>
      <p:sp>
        <p:nvSpPr>
          <p:cNvPr id="45" name="箭头: 右 294"/>
          <p:cNvSpPr/>
          <p:nvPr>
            <p:custDataLst>
              <p:tags r:id="rId1"/>
            </p:custDataLst>
          </p:nvPr>
        </p:nvSpPr>
        <p:spPr>
          <a:xfrm>
            <a:off x="2955840" y="3588365"/>
            <a:ext cx="210909" cy="340257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94970" y="2204720"/>
            <a:ext cx="2383790" cy="2843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在启动一条业务管线前或刚启动时，驱动先计算该路径所需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avg_bw/peak_bw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并将其提交给内核的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ICC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框架；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ICC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在同一路径上对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avg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求和、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peak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取最大形成聚合需求，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provider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据此将带宽目标映射为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NOC/ LLCC/ DDR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的频点并预热到足够档位，从而避免初期出现掉帧或撕裂。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>
            <p:custDataLst>
              <p:tags r:id="rId2"/>
            </p:custDataLst>
          </p:nvPr>
        </p:nvSpPr>
        <p:spPr>
          <a:xfrm>
            <a:off x="3269615" y="1270635"/>
            <a:ext cx="2605405" cy="518541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0" name="矩形 69"/>
          <p:cNvSpPr/>
          <p:nvPr>
            <p:custDataLst>
              <p:tags r:id="rId3"/>
            </p:custDataLst>
          </p:nvPr>
        </p:nvSpPr>
        <p:spPr>
          <a:xfrm>
            <a:off x="3268980" y="1277620"/>
            <a:ext cx="2605405" cy="788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/>
              <a:t>2.</a:t>
            </a:r>
            <a:r>
              <a:rPr lang="zh-CN" altLang="en-US" sz="2400" b="1" dirty="0"/>
              <a:t>计算带宽及更新设备频率</a:t>
            </a:r>
            <a:endParaRPr lang="zh-CN" altLang="en-US" sz="2400" b="1" dirty="0"/>
          </a:p>
        </p:txBody>
      </p:sp>
      <p:sp>
        <p:nvSpPr>
          <p:cNvPr id="71" name="箭头: 右 294"/>
          <p:cNvSpPr/>
          <p:nvPr>
            <p:custDataLst>
              <p:tags r:id="rId4"/>
            </p:custDataLst>
          </p:nvPr>
        </p:nvSpPr>
        <p:spPr>
          <a:xfrm>
            <a:off x="6003840" y="3581380"/>
            <a:ext cx="210909" cy="340257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>
            <p:custDataLst>
              <p:tags r:id="rId5"/>
            </p:custDataLst>
          </p:nvPr>
        </p:nvSpPr>
        <p:spPr>
          <a:xfrm>
            <a:off x="3429418" y="2209574"/>
            <a:ext cx="2311548" cy="36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运行过程中，带宽型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/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时延型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 governor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开始采样，以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‘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预估保底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 +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实测纠偏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 +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余量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’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的方式合成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BW_target 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，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再下发给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provider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，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provider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通过计算带宽的公式去反推获得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ftarget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，向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 OPP 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频点表中第一个大于等于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 ftarget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的频点进行向上取整；再受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 min_freq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、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max_freq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、温控、功耗策略等约束。更新设备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频率是为了确保设备始终在合适的频率范围内工作。</a:t>
            </a:r>
            <a:endParaRPr lang="zh-CN" altLang="en-US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sym typeface="+mn-ea"/>
            </a:endParaRPr>
          </a:p>
        </p:txBody>
      </p:sp>
      <p:sp>
        <p:nvSpPr>
          <p:cNvPr id="73" name="矩形 72"/>
          <p:cNvSpPr/>
          <p:nvPr>
            <p:custDataLst>
              <p:tags r:id="rId6"/>
            </p:custDataLst>
          </p:nvPr>
        </p:nvSpPr>
        <p:spPr>
          <a:xfrm>
            <a:off x="6290310" y="1263650"/>
            <a:ext cx="2605405" cy="518541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矩形 73"/>
          <p:cNvSpPr/>
          <p:nvPr>
            <p:custDataLst>
              <p:tags r:id="rId7"/>
            </p:custDataLst>
          </p:nvPr>
        </p:nvSpPr>
        <p:spPr>
          <a:xfrm>
            <a:off x="6290310" y="1270635"/>
            <a:ext cx="2605405" cy="793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/>
              <a:t>3.</a:t>
            </a:r>
            <a:r>
              <a:rPr lang="zh-CN" altLang="en-US" sz="2400" b="1" dirty="0"/>
              <a:t>分配带宽</a:t>
            </a:r>
            <a:endParaRPr lang="zh-CN" altLang="en-US" sz="2400" b="1" dirty="0"/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6214745" y="2209800"/>
            <a:ext cx="2710815" cy="3900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NoC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仲裁根据各应用的</a:t>
            </a:r>
            <a:r>
              <a:rPr lang="en-US" altLang="zh-CN" sz="11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BW_target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，为每个应用分配相应的带宽。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所有流在进入仲裁前先过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 Shaper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，按设定的平均速率和最大突发把某一路流量整形成可控的流，使它不会长时间占住链路。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仲裁器的常见仲裁方法</a:t>
            </a:r>
            <a:r>
              <a:rPr lang="zh-CN" altLang="en-US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有：</a:t>
            </a:r>
            <a:endParaRPr lang="zh-CN" altLang="en-US" sz="11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(i)</a:t>
            </a:r>
            <a:r>
              <a:rPr lang="zh-CN" altLang="en-US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严格优先级：高优先级队列先服务</a:t>
            </a:r>
            <a:endParaRPr lang="zh-CN" altLang="en-US" sz="11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(ii)</a:t>
            </a:r>
            <a:r>
              <a:rPr lang="zh-CN" altLang="en-US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轮询：多个输入队列轮流获得一次发送机会</a:t>
            </a:r>
            <a:endParaRPr lang="zh-CN" altLang="en-US" sz="11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(iii)</a:t>
            </a:r>
            <a:r>
              <a:rPr lang="zh-CN" altLang="en-US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加权轮询：每轮按权重分配发送配额</a:t>
            </a:r>
            <a:endParaRPr lang="zh-CN" altLang="en-US" sz="11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(iv)</a:t>
            </a:r>
            <a:r>
              <a:rPr lang="zh-CN" altLang="en-US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最小</a:t>
            </a:r>
            <a:r>
              <a:rPr lang="en-US" altLang="zh-CN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-</a:t>
            </a:r>
            <a:r>
              <a:rPr lang="zh-CN" altLang="en-US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最大份额：为某类流配置保底与上限，空闲时可超额，拥塞时落到保底或受上限约束。</a:t>
            </a:r>
            <a:endParaRPr lang="zh-CN" altLang="en-US" sz="11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实际</a:t>
            </a:r>
            <a:r>
              <a:rPr lang="zh-CN" altLang="en-US" sz="11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sym typeface="+mn-ea"/>
              </a:rPr>
              <a:t>的实现通常是高优先栈用严格优先级；同一优先栈内用加权轮询。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79" name="剪去单角的矩形 78"/>
          <p:cNvSpPr/>
          <p:nvPr/>
        </p:nvSpPr>
        <p:spPr>
          <a:xfrm>
            <a:off x="4363720" y="120015"/>
            <a:ext cx="3950335" cy="1052195"/>
          </a:xfrm>
          <a:prstGeom prst="snip1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4423410" y="209550"/>
            <a:ext cx="3890645" cy="832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补充：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AXI 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事务带来的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ARQOS/AWQOS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，在每个关键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NoC 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输出口会被一张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映射表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翻译成仲裁器用的参数：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Priority 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等级，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Weight 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权重，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Shaper 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整形（常用令牌桶两参数：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token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生成速率和可累积的最大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token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数），</a:t>
            </a:r>
            <a:r>
              <a:rPr lang="en-US" altLang="zh-CN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Aging </a:t>
            </a: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老化门槛</a:t>
            </a:r>
            <a:endParaRPr lang="zh-CN" altLang="en-US" sz="10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（等待多少时间后临时提升优先级防饥饿）。</a:t>
            </a:r>
            <a:endParaRPr lang="zh-CN" altLang="en-US" sz="10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1" name="环形箭头 80"/>
          <p:cNvSpPr/>
          <p:nvPr/>
        </p:nvSpPr>
        <p:spPr>
          <a:xfrm rot="3300000">
            <a:off x="8234045" y="892810"/>
            <a:ext cx="380365" cy="422910"/>
          </a:xfrm>
          <a:prstGeom prst="circular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2.7500787401575,&quot;left&quot;:10.073228346456693,&quot;top&quot;:74.03291338582677,&quot;width&quot;:694.9729133858267}"/>
</p:tagLst>
</file>

<file path=ppt/tags/tag2.xml><?xml version="1.0" encoding="utf-8"?>
<p:tagLst xmlns:p="http://schemas.openxmlformats.org/presentationml/2006/main">
  <p:tag name="KSO_WM_DIAGRAM_VIRTUALLY_FRAME" val="{&quot;height&quot;:252.7500787401575,&quot;left&quot;:10.073228346456693,&quot;top&quot;:74.03291338582677,&quot;width&quot;:694.9729133858267}"/>
</p:tagLst>
</file>

<file path=ppt/tags/tag3.xml><?xml version="1.0" encoding="utf-8"?>
<p:tagLst xmlns:p="http://schemas.openxmlformats.org/presentationml/2006/main">
  <p:tag name="KSO_WM_DIAGRAM_VIRTUALLY_FRAME" val="{&quot;height&quot;:252.7500787401575,&quot;left&quot;:10.073228346456693,&quot;top&quot;:74.03291338582677,&quot;width&quot;:694.9729133858267}"/>
</p:tagLst>
</file>

<file path=ppt/tags/tag4.xml><?xml version="1.0" encoding="utf-8"?>
<p:tagLst xmlns:p="http://schemas.openxmlformats.org/presentationml/2006/main">
  <p:tag name="KSO_WM_DIAGRAM_VIRTUALLY_FRAME" val="{&quot;height&quot;:252.7500787401575,&quot;left&quot;:10.073228346456693,&quot;top&quot;:74.03291338582677,&quot;width&quot;:694.9729133858267}"/>
</p:tagLst>
</file>

<file path=ppt/tags/tag5.xml><?xml version="1.0" encoding="utf-8"?>
<p:tagLst xmlns:p="http://schemas.openxmlformats.org/presentationml/2006/main">
  <p:tag name="KSO_WM_DIAGRAM_VIRTUALLY_FRAME" val="{&quot;height&quot;:408.85,&quot;left&quot;:232.74330708661418,&quot;top&quot;:99.5,&quot;width&quot;:476.0566929133858}"/>
</p:tagLst>
</file>

<file path=ppt/tags/tag6.xml><?xml version="1.0" encoding="utf-8"?>
<p:tagLst xmlns:p="http://schemas.openxmlformats.org/presentationml/2006/main">
  <p:tag name="KSO_WM_DIAGRAM_VIRTUALLY_FRAME" val="{&quot;height&quot;:408.85,&quot;left&quot;:232.74330708661418,&quot;top&quot;:99.5,&quot;width&quot;:476.0566929133858}"/>
</p:tagLst>
</file>

<file path=ppt/tags/tag7.xml><?xml version="1.0" encoding="utf-8"?>
<p:tagLst xmlns:p="http://schemas.openxmlformats.org/presentationml/2006/main">
  <p:tag name="KSO_WM_DIAGRAM_VIRTUALLY_FRAME" val="{&quot;height&quot;:408.85,&quot;left&quot;:232.74330708661418,&quot;top&quot;:99.5,&quot;width&quot;:476.0566929133858}"/>
</p:tagLst>
</file>

<file path=ppt/tags/tag8.xml><?xml version="1.0" encoding="utf-8"?>
<p:tagLst xmlns:p="http://schemas.openxmlformats.org/presentationml/2006/main">
  <p:tag name="KSO_WM_DIAGRAM_VIRTUALLY_FRAME" val="{&quot;height&quot;:408.85,&quot;left&quot;:232.74330708661418,&quot;top&quot;:99.5,&quot;width&quot;:476.0566929133858}"/>
</p:tagLst>
</file>

<file path=ppt/tags/tag9.xml><?xml version="1.0" encoding="utf-8"?>
<p:tagLst xmlns:p="http://schemas.openxmlformats.org/presentationml/2006/main">
  <p:tag name="KSO_WM_DIAGRAM_VIRTUALLY_FRAME" val="{&quot;height&quot;:408.85,&quot;left&quot;:232.74330708661418,&quot;top&quot;:99.5,&quot;width&quot;:476.0566929133858}"/>
</p:tagLst>
</file>

<file path=ppt/tags/tag10.xml><?xml version="1.0" encoding="utf-8"?>
<p:tagLst xmlns:p="http://schemas.openxmlformats.org/presentationml/2006/main">
  <p:tag name="KSO_WM_DIAGRAM_VIRTUALLY_FRAME" val="{&quot;height&quot;:408.85,&quot;left&quot;:232.74330708661418,&quot;top&quot;:99.5,&quot;width&quot;:476.0566929133858}"/>
</p:tagLst>
</file>

<file path=ppt/tags/tag11.xml><?xml version="1.0" encoding="utf-8"?>
<p:tagLst xmlns:p="http://schemas.openxmlformats.org/presentationml/2006/main">
  <p:tag name="KSO_WM_DIAGRAM_VIRTUALLY_FRAME" val="{&quot;height&quot;:408.85,&quot;left&quot;:232.74330708661418,&quot;top&quot;:99.5,&quot;width&quot;:476.0566929133858}"/>
</p:tagLst>
</file>

<file path=ppt/tags/tag12.xml><?xml version="1.0" encoding="utf-8"?>
<p:tagLst xmlns:p="http://schemas.openxmlformats.org/presentationml/2006/main">
  <p:tag name="KSO_WM_DIAGRAM_VIRTUALLY_FRAME" val="{&quot;height&quot;:408.85,&quot;left&quot;:232.74330708661418,&quot;top&quot;:99.5,&quot;width&quot;:476.056692913385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</Words>
  <Application>WPS 演示</Application>
  <PresentationFormat>全屏显示(4:3)</PresentationFormat>
  <Paragraphs>42</Paragraphs>
  <Slides>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Times New Roman</vt:lpstr>
      <vt:lpstr>黑体</vt:lpstr>
      <vt:lpstr>Calibri</vt:lpstr>
      <vt:lpstr>Calibri</vt:lpstr>
      <vt:lpstr>Georgia</vt:lpstr>
      <vt:lpstr>Microsoft YaHei UI</vt:lpstr>
      <vt:lpstr>等线</vt:lpstr>
      <vt:lpstr>Arial Unicode MS</vt:lpstr>
      <vt:lpstr>等线 Light</vt:lpstr>
      <vt:lpstr>Calibri Light</vt:lpstr>
      <vt:lpstr>Office 主题​​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Guy Hey</dc:creator>
  <cp:lastModifiedBy>Queenie.</cp:lastModifiedBy>
  <cp:revision>217</cp:revision>
  <dcterms:created xsi:type="dcterms:W3CDTF">2025-08-20T14:24:00Z</dcterms:created>
  <dcterms:modified xsi:type="dcterms:W3CDTF">2025-11-25T10:50:36Z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0A6A1738E3F248EE965412D710765D0E_13</vt:lpwstr>
  </property>
  <property fmtid="{D5CDD505-2E9C-101B-9397-08002B2CF9AE}" pid="3" name="KSOProductBuildVer">
    <vt:lpwstr>2052-12.1.0.23125</vt:lpwstr>
  </property>
</Properties>
</file>