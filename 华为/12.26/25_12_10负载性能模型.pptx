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4" r:id="rId3"/>
    <p:sldId id="285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6" d="100"/>
          <a:sy n="96" d="100"/>
        </p:scale>
        <p:origin x="72" y="3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77ACA-13D6-4D85-9170-CF1E1D2C7D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08463-F0C0-4A28-BA8B-07F75823C53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8903-34AA-44D9-B0CD-5EBDAB5A8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F905-8FD0-431A-9A95-02ED0433FB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8903-34AA-44D9-B0CD-5EBDAB5A8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F905-8FD0-431A-9A95-02ED0433FB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8903-34AA-44D9-B0CD-5EBDAB5A8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F905-8FD0-431A-9A95-02ED0433FB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8903-34AA-44D9-B0CD-5EBDAB5A8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F905-8FD0-431A-9A95-02ED0433FB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8903-34AA-44D9-B0CD-5EBDAB5A8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F905-8FD0-431A-9A95-02ED0433FB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8903-34AA-44D9-B0CD-5EBDAB5A8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F905-8FD0-431A-9A95-02ED0433FB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8903-34AA-44D9-B0CD-5EBDAB5A8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F905-8FD0-431A-9A95-02ED0433FB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8903-34AA-44D9-B0CD-5EBDAB5A8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F905-8FD0-431A-9A95-02ED0433FB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8903-34AA-44D9-B0CD-5EBDAB5A8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F905-8FD0-431A-9A95-02ED0433FB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8903-34AA-44D9-B0CD-5EBDAB5A8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F905-8FD0-431A-9A95-02ED0433FB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8903-34AA-44D9-B0CD-5EBDAB5A8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F905-8FD0-431A-9A95-02ED0433FB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E8903-34AA-44D9-B0CD-5EBDAB5A8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8F905-8FD0-431A-9A95-02ED0433FB3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png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ags" Target="../tags/tag3.xml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7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6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tags" Target="../tags/tag5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8.png"/><Relationship Id="rId13" Type="http://schemas.openxmlformats.org/officeDocument/2006/relationships/image" Target="../media/image17.png"/><Relationship Id="rId12" Type="http://schemas.openxmlformats.org/officeDocument/2006/relationships/image" Target="../media/image16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: 圆角 28"/>
          <p:cNvSpPr/>
          <p:nvPr>
            <p:custDataLst>
              <p:tags r:id="rId1"/>
            </p:custDataLst>
          </p:nvPr>
        </p:nvSpPr>
        <p:spPr>
          <a:xfrm>
            <a:off x="586970" y="4442607"/>
            <a:ext cx="11041913" cy="2137825"/>
          </a:xfrm>
          <a:prstGeom prst="roundRect">
            <a:avLst>
              <a:gd name="adj" fmla="val 1147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accent1">
                <a:alpha val="28000"/>
              </a:schemeClr>
            </a:solidFill>
            <a:prstDash val="sysDash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 dirty="0">
              <a:solidFill>
                <a:schemeClr val="tx1"/>
              </a:solidFill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9786" y="181403"/>
            <a:ext cx="555675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698912"/>
            <a:ext cx="12192000" cy="191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28963" y="769012"/>
            <a:ext cx="9692585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424537" y="752980"/>
            <a:ext cx="178103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439784" y="209348"/>
            <a:ext cx="555675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28"/>
          <p:cNvSpPr/>
          <p:nvPr>
            <p:custDataLst>
              <p:tags r:id="rId2"/>
            </p:custDataLst>
          </p:nvPr>
        </p:nvSpPr>
        <p:spPr>
          <a:xfrm>
            <a:off x="586970" y="1313365"/>
            <a:ext cx="3585503" cy="2619696"/>
          </a:xfrm>
          <a:prstGeom prst="roundRect">
            <a:avLst>
              <a:gd name="adj" fmla="val 1147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accent1">
                <a:alpha val="28000"/>
              </a:schemeClr>
            </a:solidFill>
            <a:prstDash val="sysDash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 dirty="0">
              <a:solidFill>
                <a:schemeClr val="tx1"/>
              </a:solidFill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Freeform 9"/>
          <p:cNvSpPr/>
          <p:nvPr/>
        </p:nvSpPr>
        <p:spPr>
          <a:xfrm>
            <a:off x="1098987" y="1043004"/>
            <a:ext cx="1960337" cy="462928"/>
          </a:xfrm>
          <a:custGeom>
            <a:avLst/>
            <a:gdLst>
              <a:gd name="connsiteX0" fmla="*/ 0 w 2836703"/>
              <a:gd name="connsiteY0" fmla="*/ 92768 h 556594"/>
              <a:gd name="connsiteX1" fmla="*/ 92768 w 2836703"/>
              <a:gd name="connsiteY1" fmla="*/ 0 h 556594"/>
              <a:gd name="connsiteX2" fmla="*/ 2743935 w 2836703"/>
              <a:gd name="connsiteY2" fmla="*/ 0 h 556594"/>
              <a:gd name="connsiteX3" fmla="*/ 2836703 w 2836703"/>
              <a:gd name="connsiteY3" fmla="*/ 92768 h 556594"/>
              <a:gd name="connsiteX4" fmla="*/ 2836703 w 2836703"/>
              <a:gd name="connsiteY4" fmla="*/ 463826 h 556594"/>
              <a:gd name="connsiteX5" fmla="*/ 2743935 w 2836703"/>
              <a:gd name="connsiteY5" fmla="*/ 556594 h 556594"/>
              <a:gd name="connsiteX6" fmla="*/ 92768 w 2836703"/>
              <a:gd name="connsiteY6" fmla="*/ 556594 h 556594"/>
              <a:gd name="connsiteX7" fmla="*/ 0 w 2836703"/>
              <a:gd name="connsiteY7" fmla="*/ 463826 h 556594"/>
              <a:gd name="connsiteX8" fmla="*/ 0 w 2836703"/>
              <a:gd name="connsiteY8" fmla="*/ 92768 h 556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6703" h="556594">
                <a:moveTo>
                  <a:pt x="0" y="92768"/>
                </a:moveTo>
                <a:cubicBezTo>
                  <a:pt x="0" y="41534"/>
                  <a:pt x="41534" y="0"/>
                  <a:pt x="92768" y="0"/>
                </a:cubicBezTo>
                <a:lnTo>
                  <a:pt x="2743935" y="0"/>
                </a:lnTo>
                <a:cubicBezTo>
                  <a:pt x="2795169" y="0"/>
                  <a:pt x="2836703" y="41534"/>
                  <a:pt x="2836703" y="92768"/>
                </a:cubicBezTo>
                <a:lnTo>
                  <a:pt x="2836703" y="463826"/>
                </a:lnTo>
                <a:cubicBezTo>
                  <a:pt x="2836703" y="515060"/>
                  <a:pt x="2795169" y="556594"/>
                  <a:pt x="2743935" y="556594"/>
                </a:cubicBezTo>
                <a:lnTo>
                  <a:pt x="92768" y="556594"/>
                </a:lnTo>
                <a:cubicBezTo>
                  <a:pt x="41534" y="556594"/>
                  <a:pt x="0" y="515060"/>
                  <a:pt x="0" y="463826"/>
                </a:cubicBezTo>
                <a:lnTo>
                  <a:pt x="0" y="927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0" vert="horz" wrap="square" lIns="250696" tIns="27171" rIns="250696" bIns="27171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1600" b="1" dirty="0">
                <a:latin typeface="Georgia" panose="02040502050405020303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DVFS </a:t>
            </a:r>
            <a:r>
              <a:rPr lang="zh-CN" altLang="en-US" sz="1600" b="1" dirty="0">
                <a:latin typeface="Georgia" panose="02040502050405020303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基本关系</a:t>
            </a:r>
            <a:endParaRPr lang="en-US" sz="1600" b="1" kern="1200" dirty="0"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70148" y="188438"/>
            <a:ext cx="1781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功耗模型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205572" y="39046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预设方案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766575" y="2008971"/>
                <a:ext cx="3073020" cy="5627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zh-CN" altLang="en-US" sz="1400" b="1" dirty="0">
                    <a:solidFill>
                      <a:prstClr val="black"/>
                    </a:solidFill>
                    <a:latin typeface="Georgia" panose="02040502050405020303" pitchFamily="18" charset="0"/>
                    <a:ea typeface="Microsoft YaHei UI" panose="020B0503020204020204" pitchFamily="34" charset="-122"/>
                  </a:rPr>
                  <a:t>动态功耗：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P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𝒅𝒚𝒏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140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l-GR" altLang="zh-CN" sz="1400" dirty="0"/>
                  <a:t>α</a:t>
                </a:r>
                <a:r>
                  <a:rPr lang="en-US" altLang="zh-CN" sz="1400" dirty="0"/>
                  <a:t>C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400" dirty="0"/>
                  <a:t>f</a:t>
                </a:r>
                <a:r>
                  <a:rPr lang="zh-CN" altLang="en-US" sz="1400" b="1" dirty="0">
                    <a:solidFill>
                      <a:prstClr val="black"/>
                    </a:solidFill>
                    <a:latin typeface="Georgia" panose="02040502050405020303" pitchFamily="18" charset="0"/>
                    <a:ea typeface="Microsoft YaHei UI" panose="020B0503020204020204" pitchFamily="34" charset="-122"/>
                  </a:rPr>
                  <a:t>，工艺曲线下通常有 𝑉∝𝑓</a:t>
                </a:r>
                <a:r>
                  <a:rPr lang="en-US" altLang="zh-CN" sz="1400" b="1" dirty="0">
                    <a:solidFill>
                      <a:prstClr val="black"/>
                    </a:solidFill>
                    <a:latin typeface="Georgia" panose="02040502050405020303" pitchFamily="18" charset="0"/>
                    <a:ea typeface="Microsoft YaHei UI" panose="020B0503020204020204" pitchFamily="34" charset="-122"/>
                  </a:rPr>
                  <a:t> 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P</m:t>
                        </m:r>
                      </m:e>
                      <m:sub>
                        <m:r>
                          <a:rPr lang="en-US" altLang="zh-CN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𝒅𝒚𝒏</m:t>
                        </m:r>
                      </m:sub>
                    </m:sSub>
                    <m:r>
                      <a:rPr lang="en-US" altLang="zh-CN" sz="1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 </m:t>
                    </m:r>
                  </m:oMath>
                </a14:m>
                <a:r>
                  <a:rPr lang="en-US" altLang="zh-CN" sz="1400" b="1" dirty="0">
                    <a:solidFill>
                      <a:prstClr val="black"/>
                    </a:solidFill>
                    <a:latin typeface="Georgia" panose="02040502050405020303" pitchFamily="18" charset="0"/>
                    <a:ea typeface="Microsoft YaHei UI" panose="020B0503020204020204" pitchFamily="34" charset="-122"/>
                  </a:rPr>
                  <a:t>∝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400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𝒇</m:t>
                        </m:r>
                      </m:e>
                      <m:sup>
                        <m:r>
                          <a:rPr lang="en-US" altLang="zh-CN" sz="1400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zh-CN" altLang="en-US" sz="1400" b="1" dirty="0">
                    <a:solidFill>
                      <a:prstClr val="black"/>
                    </a:solidFill>
                    <a:latin typeface="Georgia" panose="02040502050405020303" pitchFamily="18" charset="0"/>
                    <a:ea typeface="Microsoft YaHei UI" panose="020B0503020204020204" pitchFamily="34" charset="-122"/>
                  </a:rPr>
                  <a:t>。</a:t>
                </a:r>
                <a:endParaRPr lang="zh-CN" altLang="en-US" sz="1400" b="1" dirty="0">
                  <a:solidFill>
                    <a:srgbClr val="FF0000"/>
                  </a:solidFill>
                  <a:latin typeface="Georgia" panose="02040502050405020303" pitchFamily="18" charset="0"/>
                  <a:ea typeface="Microsoft YaHei UI" panose="020B0503020204020204" pitchFamily="34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575" y="2008971"/>
                <a:ext cx="3073020" cy="562718"/>
              </a:xfrm>
              <a:prstGeom prst="rect">
                <a:avLst/>
              </a:prstGeom>
              <a:blipFill rotWithShape="1">
                <a:blip r:embed="rId3"/>
                <a:stretch>
                  <a:fillRect l="-4" t="-83" r="13" b="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765831" y="2957526"/>
            <a:ext cx="3167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频点每提高一档，功耗往往呈“</a:t>
            </a:r>
            <a:r>
              <a:rPr lang="zh-CN" altLang="en-US" sz="1400" b="1" dirty="0">
                <a:solidFill>
                  <a:srgbClr val="FF0000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立方级</a:t>
            </a:r>
            <a:r>
              <a:rPr lang="zh-CN" altLang="en-US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”上升，是所有功耗模型的物理基础</a:t>
            </a:r>
            <a:endParaRPr lang="zh-CN" altLang="en-US" sz="1400" b="1" dirty="0">
              <a:solidFill>
                <a:srgbClr val="FF0000"/>
              </a:solidFill>
              <a:latin typeface="Georgia" panose="02040502050405020303" pitchFamily="18" charset="0"/>
              <a:ea typeface="Microsoft YaHei UI" panose="020B0503020204020204" pitchFamily="34" charset="-122"/>
            </a:endParaRPr>
          </a:p>
        </p:txBody>
      </p:sp>
      <p:sp>
        <p:nvSpPr>
          <p:cNvPr id="9" name="矩形: 圆角 28"/>
          <p:cNvSpPr/>
          <p:nvPr>
            <p:custDataLst>
              <p:tags r:id="rId4"/>
            </p:custDataLst>
          </p:nvPr>
        </p:nvSpPr>
        <p:spPr>
          <a:xfrm>
            <a:off x="4446447" y="1341721"/>
            <a:ext cx="7158581" cy="2817619"/>
          </a:xfrm>
          <a:prstGeom prst="roundRect">
            <a:avLst>
              <a:gd name="adj" fmla="val 1147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accent1">
                <a:alpha val="28000"/>
              </a:schemeClr>
            </a:solidFill>
            <a:prstDash val="sysDash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 dirty="0">
              <a:solidFill>
                <a:schemeClr val="tx1"/>
              </a:solidFill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Freeform 9"/>
          <p:cNvSpPr/>
          <p:nvPr/>
        </p:nvSpPr>
        <p:spPr>
          <a:xfrm>
            <a:off x="4985466" y="1110258"/>
            <a:ext cx="1781035" cy="462928"/>
          </a:xfrm>
          <a:custGeom>
            <a:avLst/>
            <a:gdLst>
              <a:gd name="connsiteX0" fmla="*/ 0 w 2836703"/>
              <a:gd name="connsiteY0" fmla="*/ 92768 h 556594"/>
              <a:gd name="connsiteX1" fmla="*/ 92768 w 2836703"/>
              <a:gd name="connsiteY1" fmla="*/ 0 h 556594"/>
              <a:gd name="connsiteX2" fmla="*/ 2743935 w 2836703"/>
              <a:gd name="connsiteY2" fmla="*/ 0 h 556594"/>
              <a:gd name="connsiteX3" fmla="*/ 2836703 w 2836703"/>
              <a:gd name="connsiteY3" fmla="*/ 92768 h 556594"/>
              <a:gd name="connsiteX4" fmla="*/ 2836703 w 2836703"/>
              <a:gd name="connsiteY4" fmla="*/ 463826 h 556594"/>
              <a:gd name="connsiteX5" fmla="*/ 2743935 w 2836703"/>
              <a:gd name="connsiteY5" fmla="*/ 556594 h 556594"/>
              <a:gd name="connsiteX6" fmla="*/ 92768 w 2836703"/>
              <a:gd name="connsiteY6" fmla="*/ 556594 h 556594"/>
              <a:gd name="connsiteX7" fmla="*/ 0 w 2836703"/>
              <a:gd name="connsiteY7" fmla="*/ 463826 h 556594"/>
              <a:gd name="connsiteX8" fmla="*/ 0 w 2836703"/>
              <a:gd name="connsiteY8" fmla="*/ 92768 h 556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6703" h="556594">
                <a:moveTo>
                  <a:pt x="0" y="92768"/>
                </a:moveTo>
                <a:cubicBezTo>
                  <a:pt x="0" y="41534"/>
                  <a:pt x="41534" y="0"/>
                  <a:pt x="92768" y="0"/>
                </a:cubicBezTo>
                <a:lnTo>
                  <a:pt x="2743935" y="0"/>
                </a:lnTo>
                <a:cubicBezTo>
                  <a:pt x="2795169" y="0"/>
                  <a:pt x="2836703" y="41534"/>
                  <a:pt x="2836703" y="92768"/>
                </a:cubicBezTo>
                <a:lnTo>
                  <a:pt x="2836703" y="463826"/>
                </a:lnTo>
                <a:cubicBezTo>
                  <a:pt x="2836703" y="515060"/>
                  <a:pt x="2795169" y="556594"/>
                  <a:pt x="2743935" y="556594"/>
                </a:cubicBezTo>
                <a:lnTo>
                  <a:pt x="92768" y="556594"/>
                </a:lnTo>
                <a:cubicBezTo>
                  <a:pt x="41534" y="556594"/>
                  <a:pt x="0" y="515060"/>
                  <a:pt x="0" y="463826"/>
                </a:cubicBezTo>
                <a:lnTo>
                  <a:pt x="0" y="927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0" vert="horz" wrap="square" lIns="250696" tIns="27171" rIns="250696" bIns="27171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dirty="0">
                <a:latin typeface="Georgia" panose="02040502050405020303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预期功耗模型</a:t>
            </a:r>
            <a:endParaRPr lang="en-US" sz="1600" b="1" kern="1200" dirty="0"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0129" y="2062962"/>
            <a:ext cx="4610383" cy="350314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6685767" y="1688307"/>
            <a:ext cx="27991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CPU / GPU / DDR </a:t>
            </a:r>
            <a:r>
              <a:rPr lang="zh-CN" altLang="en-US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联合调频</a:t>
            </a:r>
            <a:endParaRPr lang="zh-CN" altLang="en-US" sz="1400" b="1" dirty="0">
              <a:solidFill>
                <a:srgbClr val="FF0000"/>
              </a:solidFill>
              <a:latin typeface="Georgia" panose="02040502050405020303" pitchFamily="18" charset="0"/>
              <a:ea typeface="Microsoft YaHei UI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473136" y="3628388"/>
            <a:ext cx="52243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结构简单、易拟合，天然支持 </a:t>
            </a:r>
            <a:r>
              <a:rPr lang="en-US" altLang="zh-CN" sz="1400" b="1" dirty="0">
                <a:solidFill>
                  <a:srgbClr val="FF0000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CPU+GPU+DDR </a:t>
            </a:r>
            <a:r>
              <a:rPr lang="zh-CN" altLang="en-US" sz="1400" b="1" dirty="0">
                <a:solidFill>
                  <a:srgbClr val="FF0000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三维联合调频</a:t>
            </a:r>
            <a:endParaRPr lang="zh-CN" altLang="en-US" sz="1400" b="1" dirty="0">
              <a:solidFill>
                <a:srgbClr val="FF0000"/>
              </a:solidFill>
              <a:latin typeface="Georgia" panose="02040502050405020303" pitchFamily="18" charset="0"/>
              <a:ea typeface="Microsoft YaHei UI" panose="020B0503020204020204" pitchFamily="3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7703" y="2537379"/>
            <a:ext cx="3635237" cy="522304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2028963" y="4705026"/>
            <a:ext cx="22132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CPU cluster </a:t>
            </a:r>
            <a:r>
              <a:rPr lang="zh-CN" altLang="en-US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侧常写成</a:t>
            </a:r>
            <a:endParaRPr lang="zh-CN" altLang="en-US" sz="1400" b="1" dirty="0">
              <a:solidFill>
                <a:srgbClr val="FF0000"/>
              </a:solidFill>
              <a:latin typeface="Georgia" panose="02040502050405020303" pitchFamily="18" charset="0"/>
              <a:ea typeface="Microsoft YaHei UI" panose="020B0503020204020204" pitchFamily="34" charset="-122"/>
            </a:endParaRPr>
          </a:p>
        </p:txBody>
      </p:sp>
      <p:sp>
        <p:nvSpPr>
          <p:cNvPr id="37" name="Freeform 9"/>
          <p:cNvSpPr/>
          <p:nvPr/>
        </p:nvSpPr>
        <p:spPr>
          <a:xfrm>
            <a:off x="1208443" y="4194401"/>
            <a:ext cx="1441992" cy="462928"/>
          </a:xfrm>
          <a:custGeom>
            <a:avLst/>
            <a:gdLst>
              <a:gd name="connsiteX0" fmla="*/ 0 w 2836703"/>
              <a:gd name="connsiteY0" fmla="*/ 92768 h 556594"/>
              <a:gd name="connsiteX1" fmla="*/ 92768 w 2836703"/>
              <a:gd name="connsiteY1" fmla="*/ 0 h 556594"/>
              <a:gd name="connsiteX2" fmla="*/ 2743935 w 2836703"/>
              <a:gd name="connsiteY2" fmla="*/ 0 h 556594"/>
              <a:gd name="connsiteX3" fmla="*/ 2836703 w 2836703"/>
              <a:gd name="connsiteY3" fmla="*/ 92768 h 556594"/>
              <a:gd name="connsiteX4" fmla="*/ 2836703 w 2836703"/>
              <a:gd name="connsiteY4" fmla="*/ 463826 h 556594"/>
              <a:gd name="connsiteX5" fmla="*/ 2743935 w 2836703"/>
              <a:gd name="connsiteY5" fmla="*/ 556594 h 556594"/>
              <a:gd name="connsiteX6" fmla="*/ 92768 w 2836703"/>
              <a:gd name="connsiteY6" fmla="*/ 556594 h 556594"/>
              <a:gd name="connsiteX7" fmla="*/ 0 w 2836703"/>
              <a:gd name="connsiteY7" fmla="*/ 463826 h 556594"/>
              <a:gd name="connsiteX8" fmla="*/ 0 w 2836703"/>
              <a:gd name="connsiteY8" fmla="*/ 92768 h 556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6703" h="556594">
                <a:moveTo>
                  <a:pt x="0" y="92768"/>
                </a:moveTo>
                <a:cubicBezTo>
                  <a:pt x="0" y="41534"/>
                  <a:pt x="41534" y="0"/>
                  <a:pt x="92768" y="0"/>
                </a:cubicBezTo>
                <a:lnTo>
                  <a:pt x="2743935" y="0"/>
                </a:lnTo>
                <a:cubicBezTo>
                  <a:pt x="2795169" y="0"/>
                  <a:pt x="2836703" y="41534"/>
                  <a:pt x="2836703" y="92768"/>
                </a:cubicBezTo>
                <a:lnTo>
                  <a:pt x="2836703" y="463826"/>
                </a:lnTo>
                <a:cubicBezTo>
                  <a:pt x="2836703" y="515060"/>
                  <a:pt x="2795169" y="556594"/>
                  <a:pt x="2743935" y="556594"/>
                </a:cubicBezTo>
                <a:lnTo>
                  <a:pt x="92768" y="556594"/>
                </a:lnTo>
                <a:cubicBezTo>
                  <a:pt x="41534" y="556594"/>
                  <a:pt x="0" y="515060"/>
                  <a:pt x="0" y="463826"/>
                </a:cubicBezTo>
                <a:lnTo>
                  <a:pt x="0" y="927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0" vert="horz" wrap="square" lIns="250696" tIns="27171" rIns="250696" bIns="27171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dirty="0">
                <a:latin typeface="Georgia" panose="02040502050405020303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基本经验</a:t>
            </a:r>
            <a:endParaRPr lang="en-US" sz="1600" b="1" kern="1200" dirty="0"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025737" y="4661804"/>
            <a:ext cx="18765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部分训练任务常写成</a:t>
            </a:r>
            <a:endParaRPr lang="zh-CN" altLang="en-US" sz="1400" b="1" dirty="0">
              <a:solidFill>
                <a:srgbClr val="FF0000"/>
              </a:solidFill>
              <a:latin typeface="Georgia" panose="02040502050405020303" pitchFamily="18" charset="0"/>
              <a:ea typeface="Microsoft YaHei UI" panose="020B0503020204020204" pitchFamily="34" charset="-122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5255" y="5231596"/>
            <a:ext cx="4137836" cy="26962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9426" y="4962875"/>
            <a:ext cx="2701899" cy="542389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4883258" y="3223517"/>
            <a:ext cx="62849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在若干 </a:t>
            </a:r>
            <a:r>
              <a:rPr lang="en-US" altLang="zh-CN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CPU/GPU/DDR </a:t>
            </a:r>
            <a:r>
              <a:rPr lang="zh-CN" altLang="en-US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频点上采样功率与性能，使用三阶多项式拟合 𝑃</a:t>
            </a:r>
            <a:r>
              <a:rPr lang="en-US" altLang="zh-CN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(</a:t>
            </a:r>
            <a:r>
              <a:rPr lang="zh-CN" altLang="en-US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𝑓</a:t>
            </a:r>
            <a:r>
              <a:rPr lang="en-US" altLang="zh-CN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)</a:t>
            </a:r>
            <a:endParaRPr lang="zh-CN" altLang="en-US" sz="1400" b="1" dirty="0">
              <a:solidFill>
                <a:srgbClr val="FF0000"/>
              </a:solidFill>
              <a:latin typeface="Georgia" panose="02040502050405020303" pitchFamily="18" charset="0"/>
              <a:ea typeface="Microsoft YaHei UI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681" y="5681783"/>
            <a:ext cx="4717774" cy="61536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9266" y="5806196"/>
            <a:ext cx="3649485" cy="2193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439786" y="181403"/>
            <a:ext cx="555675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698912"/>
            <a:ext cx="12192000" cy="191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28963" y="769012"/>
            <a:ext cx="9692585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424537" y="752980"/>
            <a:ext cx="178103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439784" y="209348"/>
            <a:ext cx="555675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70148" y="188438"/>
            <a:ext cx="1781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性能模型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205572" y="39046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预设方案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28"/>
          <p:cNvSpPr/>
          <p:nvPr>
            <p:custDataLst>
              <p:tags r:id="rId1"/>
            </p:custDataLst>
          </p:nvPr>
        </p:nvSpPr>
        <p:spPr>
          <a:xfrm>
            <a:off x="470190" y="1305633"/>
            <a:ext cx="5459040" cy="2750380"/>
          </a:xfrm>
          <a:prstGeom prst="roundRect">
            <a:avLst>
              <a:gd name="adj" fmla="val 1147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accent1">
                <a:alpha val="28000"/>
              </a:schemeClr>
            </a:solidFill>
            <a:prstDash val="sysDash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 dirty="0">
              <a:solidFill>
                <a:schemeClr val="tx1"/>
              </a:solidFill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Freeform 9"/>
          <p:cNvSpPr/>
          <p:nvPr/>
        </p:nvSpPr>
        <p:spPr>
          <a:xfrm>
            <a:off x="744165" y="1074169"/>
            <a:ext cx="1781035" cy="462928"/>
          </a:xfrm>
          <a:custGeom>
            <a:avLst/>
            <a:gdLst>
              <a:gd name="connsiteX0" fmla="*/ 0 w 2836703"/>
              <a:gd name="connsiteY0" fmla="*/ 92768 h 556594"/>
              <a:gd name="connsiteX1" fmla="*/ 92768 w 2836703"/>
              <a:gd name="connsiteY1" fmla="*/ 0 h 556594"/>
              <a:gd name="connsiteX2" fmla="*/ 2743935 w 2836703"/>
              <a:gd name="connsiteY2" fmla="*/ 0 h 556594"/>
              <a:gd name="connsiteX3" fmla="*/ 2836703 w 2836703"/>
              <a:gd name="connsiteY3" fmla="*/ 92768 h 556594"/>
              <a:gd name="connsiteX4" fmla="*/ 2836703 w 2836703"/>
              <a:gd name="connsiteY4" fmla="*/ 463826 h 556594"/>
              <a:gd name="connsiteX5" fmla="*/ 2743935 w 2836703"/>
              <a:gd name="connsiteY5" fmla="*/ 556594 h 556594"/>
              <a:gd name="connsiteX6" fmla="*/ 92768 w 2836703"/>
              <a:gd name="connsiteY6" fmla="*/ 556594 h 556594"/>
              <a:gd name="connsiteX7" fmla="*/ 0 w 2836703"/>
              <a:gd name="connsiteY7" fmla="*/ 463826 h 556594"/>
              <a:gd name="connsiteX8" fmla="*/ 0 w 2836703"/>
              <a:gd name="connsiteY8" fmla="*/ 92768 h 556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6703" h="556594">
                <a:moveTo>
                  <a:pt x="0" y="92768"/>
                </a:moveTo>
                <a:cubicBezTo>
                  <a:pt x="0" y="41534"/>
                  <a:pt x="41534" y="0"/>
                  <a:pt x="92768" y="0"/>
                </a:cubicBezTo>
                <a:lnTo>
                  <a:pt x="2743935" y="0"/>
                </a:lnTo>
                <a:cubicBezTo>
                  <a:pt x="2795169" y="0"/>
                  <a:pt x="2836703" y="41534"/>
                  <a:pt x="2836703" y="92768"/>
                </a:cubicBezTo>
                <a:lnTo>
                  <a:pt x="2836703" y="463826"/>
                </a:lnTo>
                <a:cubicBezTo>
                  <a:pt x="2836703" y="515060"/>
                  <a:pt x="2795169" y="556594"/>
                  <a:pt x="2743935" y="556594"/>
                </a:cubicBezTo>
                <a:lnTo>
                  <a:pt x="92768" y="556594"/>
                </a:lnTo>
                <a:cubicBezTo>
                  <a:pt x="41534" y="556594"/>
                  <a:pt x="0" y="515060"/>
                  <a:pt x="0" y="463826"/>
                </a:cubicBezTo>
                <a:lnTo>
                  <a:pt x="0" y="927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0" vert="horz" wrap="square" lIns="250696" tIns="27171" rIns="250696" bIns="27171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dirty="0">
                <a:latin typeface="Georgia" panose="02040502050405020303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预期性能模型</a:t>
            </a:r>
            <a:endParaRPr lang="en-US" sz="1600" b="1" kern="1200" dirty="0"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7521" y="1692738"/>
            <a:ext cx="52243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把“一帧时间”写成三个资源贡献的加权和</a:t>
            </a:r>
            <a:endParaRPr lang="zh-CN" altLang="en-US" sz="1400" b="1" dirty="0">
              <a:solidFill>
                <a:srgbClr val="FF0000"/>
              </a:solidFill>
              <a:latin typeface="Georgia" panose="02040502050405020303" pitchFamily="18" charset="0"/>
              <a:ea typeface="Microsoft YaHei UI" panose="020B0503020204020204" pitchFamily="34" charset="-122"/>
            </a:endParaRPr>
          </a:p>
        </p:txBody>
      </p:sp>
      <p:sp>
        <p:nvSpPr>
          <p:cNvPr id="14" name="矩形: 圆角 28"/>
          <p:cNvSpPr/>
          <p:nvPr>
            <p:custDataLst>
              <p:tags r:id="rId2"/>
            </p:custDataLst>
          </p:nvPr>
        </p:nvSpPr>
        <p:spPr>
          <a:xfrm>
            <a:off x="6275616" y="1305632"/>
            <a:ext cx="5459040" cy="2750379"/>
          </a:xfrm>
          <a:prstGeom prst="roundRect">
            <a:avLst>
              <a:gd name="adj" fmla="val 1147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accent1">
                <a:alpha val="28000"/>
              </a:schemeClr>
            </a:solidFill>
            <a:prstDash val="sysDash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 dirty="0">
              <a:solidFill>
                <a:schemeClr val="tx1"/>
              </a:solidFill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Freeform 9"/>
          <p:cNvSpPr/>
          <p:nvPr/>
        </p:nvSpPr>
        <p:spPr>
          <a:xfrm>
            <a:off x="6549591" y="1074169"/>
            <a:ext cx="1371996" cy="462928"/>
          </a:xfrm>
          <a:custGeom>
            <a:avLst/>
            <a:gdLst>
              <a:gd name="connsiteX0" fmla="*/ 0 w 2836703"/>
              <a:gd name="connsiteY0" fmla="*/ 92768 h 556594"/>
              <a:gd name="connsiteX1" fmla="*/ 92768 w 2836703"/>
              <a:gd name="connsiteY1" fmla="*/ 0 h 556594"/>
              <a:gd name="connsiteX2" fmla="*/ 2743935 w 2836703"/>
              <a:gd name="connsiteY2" fmla="*/ 0 h 556594"/>
              <a:gd name="connsiteX3" fmla="*/ 2836703 w 2836703"/>
              <a:gd name="connsiteY3" fmla="*/ 92768 h 556594"/>
              <a:gd name="connsiteX4" fmla="*/ 2836703 w 2836703"/>
              <a:gd name="connsiteY4" fmla="*/ 463826 h 556594"/>
              <a:gd name="connsiteX5" fmla="*/ 2743935 w 2836703"/>
              <a:gd name="connsiteY5" fmla="*/ 556594 h 556594"/>
              <a:gd name="connsiteX6" fmla="*/ 92768 w 2836703"/>
              <a:gd name="connsiteY6" fmla="*/ 556594 h 556594"/>
              <a:gd name="connsiteX7" fmla="*/ 0 w 2836703"/>
              <a:gd name="connsiteY7" fmla="*/ 463826 h 556594"/>
              <a:gd name="connsiteX8" fmla="*/ 0 w 2836703"/>
              <a:gd name="connsiteY8" fmla="*/ 92768 h 556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6703" h="556594">
                <a:moveTo>
                  <a:pt x="0" y="92768"/>
                </a:moveTo>
                <a:cubicBezTo>
                  <a:pt x="0" y="41534"/>
                  <a:pt x="41534" y="0"/>
                  <a:pt x="92768" y="0"/>
                </a:cubicBezTo>
                <a:lnTo>
                  <a:pt x="2743935" y="0"/>
                </a:lnTo>
                <a:cubicBezTo>
                  <a:pt x="2795169" y="0"/>
                  <a:pt x="2836703" y="41534"/>
                  <a:pt x="2836703" y="92768"/>
                </a:cubicBezTo>
                <a:lnTo>
                  <a:pt x="2836703" y="463826"/>
                </a:lnTo>
                <a:cubicBezTo>
                  <a:pt x="2836703" y="515060"/>
                  <a:pt x="2795169" y="556594"/>
                  <a:pt x="2743935" y="556594"/>
                </a:cubicBezTo>
                <a:lnTo>
                  <a:pt x="92768" y="556594"/>
                </a:lnTo>
                <a:cubicBezTo>
                  <a:pt x="41534" y="556594"/>
                  <a:pt x="0" y="515060"/>
                  <a:pt x="0" y="463826"/>
                </a:cubicBezTo>
                <a:lnTo>
                  <a:pt x="0" y="927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0" vert="horz" wrap="square" lIns="250696" tIns="27171" rIns="250696" bIns="27171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>
                <a:latin typeface="Georgia" panose="02040502050405020303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推导过程</a:t>
            </a:r>
            <a:endParaRPr lang="en-US" sz="1600" b="1" kern="1200" dirty="0"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262772" y="1830125"/>
            <a:ext cx="5459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在固定应用 </a:t>
            </a:r>
            <a:r>
              <a:rPr lang="en-US" altLang="zh-CN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&amp; </a:t>
            </a:r>
            <a:r>
              <a:rPr lang="zh-CN" altLang="en-US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输入下，</a:t>
            </a:r>
            <a:r>
              <a:rPr lang="zh-CN" altLang="en-US" sz="1400" b="1" dirty="0">
                <a:solidFill>
                  <a:srgbClr val="FF0000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性能（单次计算）与频率近似成线性关系</a:t>
            </a:r>
            <a:endParaRPr lang="zh-CN" altLang="en-US" sz="1400" b="1" dirty="0">
              <a:solidFill>
                <a:srgbClr val="FF0000"/>
              </a:solidFill>
              <a:latin typeface="Georgia" panose="02040502050405020303" pitchFamily="18" charset="0"/>
              <a:ea typeface="Microsoft YaHei UI" panose="020B0503020204020204" pitchFamily="3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60" y="2026634"/>
            <a:ext cx="4877481" cy="44297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0532" y="2518872"/>
            <a:ext cx="1894936" cy="3742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/>
              <p:cNvSpPr txBox="1"/>
              <p:nvPr/>
            </p:nvSpPr>
            <p:spPr>
              <a:xfrm>
                <a:off x="609279" y="2968992"/>
                <a:ext cx="5224377" cy="365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1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𝑫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𝒎𝒊𝒏</m:t>
                        </m:r>
                      </m:sub>
                      <m:sup>
                        <m:r>
                          <a:rPr lang="en-US" altLang="zh-CN" sz="1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(</m:t>
                        </m:r>
                        <m:r>
                          <a:rPr lang="en-US" altLang="zh-CN" sz="1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𝒄</m:t>
                        </m:r>
                        <m:r>
                          <a:rPr lang="en-US" altLang="zh-CN" sz="1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CN" sz="1400" b="1" dirty="0">
                    <a:solidFill>
                      <a:prstClr val="black"/>
                    </a:solidFill>
                    <a:latin typeface="Georgia" panose="02040502050405020303" pitchFamily="18" charset="0"/>
                    <a:ea typeface="Microsoft YaHei UI" panose="020B0503020204020204" pitchFamily="34" charset="-122"/>
                  </a:rPr>
                  <a:t>​</a:t>
                </a:r>
                <a:r>
                  <a:rPr lang="zh-CN" altLang="en-US" sz="1400" b="1" dirty="0">
                    <a:solidFill>
                      <a:prstClr val="black"/>
                    </a:solidFill>
                    <a:latin typeface="Georgia" panose="02040502050405020303" pitchFamily="18" charset="0"/>
                    <a:ea typeface="Microsoft YaHei UI" panose="020B0503020204020204" pitchFamily="34" charset="-122"/>
                  </a:rPr>
                  <a:t>：任务类型 𝑐在三路都打满频时测到的</a:t>
                </a:r>
                <a:r>
                  <a:rPr lang="zh-CN" altLang="en-US" sz="1400" b="1" dirty="0">
                    <a:solidFill>
                      <a:srgbClr val="FF0000"/>
                    </a:solidFill>
                    <a:latin typeface="Georgia" panose="02040502050405020303" pitchFamily="18" charset="0"/>
                    <a:ea typeface="Microsoft YaHei UI" panose="020B0503020204020204" pitchFamily="34" charset="-122"/>
                  </a:rPr>
                  <a:t>基准单帧时间</a:t>
                </a:r>
                <a:endParaRPr lang="zh-CN" altLang="en-US" sz="1400" b="1" dirty="0">
                  <a:solidFill>
                    <a:srgbClr val="FF0000"/>
                  </a:solidFill>
                  <a:latin typeface="Georgia" panose="02040502050405020303" pitchFamily="18" charset="0"/>
                  <a:ea typeface="Microsoft YaHei UI" panose="020B0503020204020204" pitchFamily="34" charset="-122"/>
                </a:endParaRPr>
              </a:p>
            </p:txBody>
          </p:sp>
        </mc:Choice>
        <mc:Fallback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279" y="2968992"/>
                <a:ext cx="5224377" cy="365678"/>
              </a:xfrm>
              <a:prstGeom prst="rect">
                <a:avLst/>
              </a:prstGeom>
              <a:blipFill rotWithShape="1">
                <a:blip r:embed="rId5"/>
                <a:stretch>
                  <a:fillRect l="-6" t="-100" r="10" b="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图片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5171" y="3358278"/>
            <a:ext cx="2072591" cy="586583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846" y="2168807"/>
            <a:ext cx="1032358" cy="483762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6840385" y="2663501"/>
            <a:ext cx="408527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我们把一次迭代拆成 </a:t>
            </a:r>
            <a:r>
              <a:rPr lang="en-US" altLang="zh-CN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CPU </a:t>
            </a:r>
            <a:r>
              <a:rPr lang="zh-CN" altLang="en-US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段 </a:t>
            </a:r>
            <a:r>
              <a:rPr lang="en-US" altLang="zh-CN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+ GPU </a:t>
            </a:r>
            <a:r>
              <a:rPr lang="zh-CN" altLang="en-US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段</a:t>
            </a:r>
            <a:r>
              <a:rPr lang="en-US" altLang="zh-CN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+ DDR </a:t>
            </a:r>
            <a:r>
              <a:rPr lang="zh-CN" altLang="en-US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段，每一段的时间都跟自己的频率成 </a:t>
            </a:r>
            <a:r>
              <a:rPr lang="en-US" altLang="zh-CN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1/f </a:t>
            </a:r>
            <a:r>
              <a:rPr lang="zh-CN" altLang="en-US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反比，所以总时间就是这些“</a:t>
            </a:r>
            <a:r>
              <a:rPr lang="en-US" altLang="zh-CN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1/f </a:t>
            </a:r>
            <a:r>
              <a:rPr lang="zh-CN" altLang="en-US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项”的加权和</a:t>
            </a:r>
            <a:endParaRPr lang="zh-CN" altLang="en-US" sz="1400" b="1" dirty="0">
              <a:solidFill>
                <a:srgbClr val="FF0000"/>
              </a:solidFill>
              <a:latin typeface="Georgia" panose="02040502050405020303" pitchFamily="18" charset="0"/>
              <a:ea typeface="Microsoft YaHei UI" panose="020B0503020204020204" pitchFamily="34" charset="-122"/>
            </a:endParaRPr>
          </a:p>
        </p:txBody>
      </p:sp>
      <p:sp>
        <p:nvSpPr>
          <p:cNvPr id="38" name="矩形: 圆角 28"/>
          <p:cNvSpPr/>
          <p:nvPr>
            <p:custDataLst>
              <p:tags r:id="rId8"/>
            </p:custDataLst>
          </p:nvPr>
        </p:nvSpPr>
        <p:spPr>
          <a:xfrm>
            <a:off x="447974" y="4518941"/>
            <a:ext cx="11286682" cy="1901736"/>
          </a:xfrm>
          <a:prstGeom prst="roundRect">
            <a:avLst>
              <a:gd name="adj" fmla="val 1147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accent1">
                <a:alpha val="28000"/>
              </a:schemeClr>
            </a:solidFill>
            <a:prstDash val="sysDash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 dirty="0">
              <a:solidFill>
                <a:schemeClr val="tx1"/>
              </a:solidFill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" name="Freeform 9"/>
          <p:cNvSpPr/>
          <p:nvPr/>
        </p:nvSpPr>
        <p:spPr>
          <a:xfrm>
            <a:off x="721949" y="4287477"/>
            <a:ext cx="1781035" cy="462928"/>
          </a:xfrm>
          <a:custGeom>
            <a:avLst/>
            <a:gdLst>
              <a:gd name="connsiteX0" fmla="*/ 0 w 2836703"/>
              <a:gd name="connsiteY0" fmla="*/ 92768 h 556594"/>
              <a:gd name="connsiteX1" fmla="*/ 92768 w 2836703"/>
              <a:gd name="connsiteY1" fmla="*/ 0 h 556594"/>
              <a:gd name="connsiteX2" fmla="*/ 2743935 w 2836703"/>
              <a:gd name="connsiteY2" fmla="*/ 0 h 556594"/>
              <a:gd name="connsiteX3" fmla="*/ 2836703 w 2836703"/>
              <a:gd name="connsiteY3" fmla="*/ 92768 h 556594"/>
              <a:gd name="connsiteX4" fmla="*/ 2836703 w 2836703"/>
              <a:gd name="connsiteY4" fmla="*/ 463826 h 556594"/>
              <a:gd name="connsiteX5" fmla="*/ 2743935 w 2836703"/>
              <a:gd name="connsiteY5" fmla="*/ 556594 h 556594"/>
              <a:gd name="connsiteX6" fmla="*/ 92768 w 2836703"/>
              <a:gd name="connsiteY6" fmla="*/ 556594 h 556594"/>
              <a:gd name="connsiteX7" fmla="*/ 0 w 2836703"/>
              <a:gd name="connsiteY7" fmla="*/ 463826 h 556594"/>
              <a:gd name="connsiteX8" fmla="*/ 0 w 2836703"/>
              <a:gd name="connsiteY8" fmla="*/ 92768 h 556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6703" h="556594">
                <a:moveTo>
                  <a:pt x="0" y="92768"/>
                </a:moveTo>
                <a:cubicBezTo>
                  <a:pt x="0" y="41534"/>
                  <a:pt x="41534" y="0"/>
                  <a:pt x="92768" y="0"/>
                </a:cubicBezTo>
                <a:lnTo>
                  <a:pt x="2743935" y="0"/>
                </a:lnTo>
                <a:cubicBezTo>
                  <a:pt x="2795169" y="0"/>
                  <a:pt x="2836703" y="41534"/>
                  <a:pt x="2836703" y="92768"/>
                </a:cubicBezTo>
                <a:lnTo>
                  <a:pt x="2836703" y="463826"/>
                </a:lnTo>
                <a:cubicBezTo>
                  <a:pt x="2836703" y="515060"/>
                  <a:pt x="2795169" y="556594"/>
                  <a:pt x="2743935" y="556594"/>
                </a:cubicBezTo>
                <a:lnTo>
                  <a:pt x="92768" y="556594"/>
                </a:lnTo>
                <a:cubicBezTo>
                  <a:pt x="41534" y="556594"/>
                  <a:pt x="0" y="515060"/>
                  <a:pt x="0" y="463826"/>
                </a:cubicBezTo>
                <a:lnTo>
                  <a:pt x="0" y="927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0" vert="horz" wrap="square" lIns="250696" tIns="27171" rIns="250696" bIns="27171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dirty="0">
                <a:latin typeface="Georgia" panose="02040502050405020303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模型上下界</a:t>
            </a:r>
            <a:endParaRPr lang="en-US" sz="1600" b="1" kern="1200" dirty="0">
              <a:latin typeface="Georgia" panose="02040502050405020303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1096" y="3498755"/>
            <a:ext cx="2911188" cy="446106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5054" y="4804618"/>
            <a:ext cx="1056037" cy="562454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952556" y="4931957"/>
            <a:ext cx="4412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设</a:t>
            </a:r>
            <a:endParaRPr lang="zh-CN" altLang="en-US" sz="1400" b="1" dirty="0">
              <a:solidFill>
                <a:srgbClr val="FF0000"/>
              </a:solidFill>
              <a:latin typeface="Georgia" panose="02040502050405020303" pitchFamily="18" charset="0"/>
              <a:ea typeface="Microsoft YaHei UI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72541" y="5433736"/>
            <a:ext cx="15771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一帧时间为</a:t>
            </a:r>
            <a:endParaRPr lang="zh-CN" altLang="en-US" sz="1400" b="1" dirty="0">
              <a:solidFill>
                <a:srgbClr val="FF0000"/>
              </a:solidFill>
              <a:latin typeface="Georgia" panose="02040502050405020303" pitchFamily="18" charset="0"/>
              <a:ea typeface="Microsoft YaHei UI" panose="020B0503020204020204" pitchFamily="34" charset="-122"/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8335" y="5748928"/>
            <a:ext cx="1889473" cy="591955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7205" y="4794958"/>
            <a:ext cx="2678050" cy="610672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34157" y="5598811"/>
            <a:ext cx="3725260" cy="646983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38644" y="5036983"/>
            <a:ext cx="3756739" cy="852882"/>
          </a:xfrm>
          <a:prstGeom prst="rect">
            <a:avLst/>
          </a:prstGeom>
        </p:spPr>
      </p:pic>
      <p:cxnSp>
        <p:nvCxnSpPr>
          <p:cNvPr id="55" name="直接连接符 54"/>
          <p:cNvCxnSpPr/>
          <p:nvPr/>
        </p:nvCxnSpPr>
        <p:spPr>
          <a:xfrm>
            <a:off x="3371422" y="4508921"/>
            <a:ext cx="3389" cy="1935175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7597336" y="4508921"/>
            <a:ext cx="3389" cy="1935175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</Words>
  <Application>WPS 演示</Application>
  <PresentationFormat>宽屏</PresentationFormat>
  <Paragraphs>50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7" baseType="lpstr">
      <vt:lpstr>Arial</vt:lpstr>
      <vt:lpstr>宋体</vt:lpstr>
      <vt:lpstr>Wingdings</vt:lpstr>
      <vt:lpstr>Georgia</vt:lpstr>
      <vt:lpstr>Microsoft YaHei UI</vt:lpstr>
      <vt:lpstr>Times New Roman</vt:lpstr>
      <vt:lpstr>Calibri</vt:lpstr>
      <vt:lpstr>微软雅黑</vt:lpstr>
      <vt:lpstr>Cambria Math</vt:lpstr>
      <vt:lpstr>等线</vt:lpstr>
      <vt:lpstr>BatangChe</vt:lpstr>
      <vt:lpstr>Segoe Print</vt:lpstr>
      <vt:lpstr>Arial Unicode MS</vt:lpstr>
      <vt:lpstr>等线 Light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Guy Hey</dc:creator>
  <cp:lastModifiedBy>Queenie.</cp:lastModifiedBy>
  <cp:revision>12</cp:revision>
  <dcterms:created xsi:type="dcterms:W3CDTF">2025-12-09T11:58:00Z</dcterms:created>
  <dcterms:modified xsi:type="dcterms:W3CDTF">2026-01-05T14:15:54Z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20D5888B6F6C425896E19FF75C9A337C_13</vt:lpwstr>
  </property>
  <property fmtid="{D5CDD505-2E9C-101B-9397-08002B2CF9AE}" pid="3" name="KSOProductBuildVer">
    <vt:lpwstr>2052-12.1.0.24034</vt:lpwstr>
  </property>
</Properties>
</file>