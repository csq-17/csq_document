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32918400" cy="43891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5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2"/>
          <p:cNvSpPr/>
          <p:nvPr/>
        </p:nvSpPr>
        <p:spPr>
          <a:xfrm>
            <a:off x="664210" y="5311140"/>
            <a:ext cx="31727140" cy="723265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textbox 12"/>
          <p:cNvSpPr/>
          <p:nvPr/>
        </p:nvSpPr>
        <p:spPr>
          <a:xfrm>
            <a:off x="17772380" y="41034335"/>
            <a:ext cx="14619605" cy="1234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制作人：</a:t>
            </a:r>
            <a:r>
              <a:rPr 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程诗淇</a:t>
            </a:r>
            <a:r>
              <a:rPr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审阅人：</a:t>
            </a:r>
            <a:r>
              <a:rPr 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徐飞</a:t>
            </a:r>
            <a:r>
              <a:rPr lang="en-US" alt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吴旭东</a:t>
            </a:r>
            <a:endParaRPr lang="zh-CN" altLang="en-US" sz="5400" kern="0" spc="-10" dirty="0">
              <a:solidFill>
                <a:srgbClr val="00206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" y="4552060"/>
            <a:ext cx="32912304" cy="6350"/>
          </a:xfrm>
          <a:prstGeom prst="rect">
            <a:avLst/>
          </a:prstGeom>
        </p:spPr>
      </p:pic>
      <p:sp>
        <p:nvSpPr>
          <p:cNvPr id="18" name="rect 18"/>
          <p:cNvSpPr/>
          <p:nvPr/>
        </p:nvSpPr>
        <p:spPr>
          <a:xfrm>
            <a:off x="0" y="0"/>
            <a:ext cx="32918400" cy="45789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textbox 20"/>
          <p:cNvSpPr/>
          <p:nvPr/>
        </p:nvSpPr>
        <p:spPr>
          <a:xfrm>
            <a:off x="1323340" y="25665430"/>
            <a:ext cx="28592780" cy="1109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6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  <a:spcBef>
                <a:spcPts val="5"/>
              </a:spcBef>
            </a:pPr>
            <a:endParaRPr lang="zh-CN" altLang="en-US" sz="5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8382995" y="780643"/>
            <a:ext cx="13418819" cy="2627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 defTabSz="457200" rtl="0">
              <a:lnSpc>
                <a:spcPct val="100000"/>
              </a:lnSpc>
            </a:pPr>
            <a:r>
              <a:rPr lang="zh-CN" altLang="en-US" sz="7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面向终端内存与异构计算器件的</a:t>
            </a:r>
            <a:endParaRPr lang="en-US" altLang="zh-CN" sz="7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457200" rtl="0">
              <a:lnSpc>
                <a:spcPct val="100000"/>
              </a:lnSpc>
            </a:pPr>
            <a:r>
              <a:rPr lang="zh-CN" altLang="en-US" sz="7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软硬协同帧渲染优化</a:t>
            </a:r>
            <a:endParaRPr lang="zh-CN" altLang="en-US" sz="7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25165" algn="l" rtl="0" eaLnBrk="0">
              <a:lnSpc>
                <a:spcPct val="89000"/>
              </a:lnSpc>
            </a:pP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202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.1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2.10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—202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12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26</a:t>
            </a:r>
            <a:endParaRPr lang="en-US" sz="5400" kern="0" spc="-20" dirty="0">
              <a:solidFill>
                <a:srgbClr val="FFFFFF">
                  <a:alpha val="100000"/>
                </a:srgbClr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rect 24"/>
          <p:cNvSpPr/>
          <p:nvPr/>
        </p:nvSpPr>
        <p:spPr>
          <a:xfrm>
            <a:off x="0" y="43285535"/>
            <a:ext cx="32918400" cy="6202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15784" y="780456"/>
            <a:ext cx="6300547" cy="1403461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11980012" y="2594304"/>
            <a:ext cx="6697344" cy="886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000"/>
              </a:lnSpc>
            </a:pPr>
            <a:r>
              <a:rPr lang="zh-CN" altLang="en-US" sz="6300" kern="0" spc="-4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华为中央研究院</a:t>
            </a:r>
            <a:endParaRPr lang="zh-CN" altLang="en-US" sz="6300" kern="0" spc="-40" dirty="0">
              <a:solidFill>
                <a:schemeClr val="tx1">
                  <a:alpha val="10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18523230" y="15350718"/>
            <a:ext cx="1819275" cy="2072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endParaRPr sz="5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4210" y="12950189"/>
            <a:ext cx="30886400" cy="762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4"/>
          <a:stretch>
            <a:fillRect/>
          </a:stretch>
        </p:blipFill>
        <p:spPr>
          <a:xfrm>
            <a:off x="6350" y="876300"/>
            <a:ext cx="11409680" cy="24441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4210" y="5332730"/>
            <a:ext cx="31727775" cy="153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5000"/>
              </a:lnSpc>
            </a:pP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终端测试流程的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探索（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任德上）</a:t>
            </a:r>
            <a:endParaRPr lang="en-US" altLang="zh-CN" sz="6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5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4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zh-CN" altLang="en-US" sz="4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 2"/>
          <p:cNvSpPr/>
          <p:nvPr/>
        </p:nvSpPr>
        <p:spPr>
          <a:xfrm>
            <a:off x="707390" y="13383260"/>
            <a:ext cx="31727140" cy="1127379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07390" y="14650085"/>
            <a:ext cx="31443295" cy="3473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对给定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19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频率、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频率下的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209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DDR-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帧率数据（每组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频率）下的帧率性能进行了建模分析。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固定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</a:t>
            </a:r>
            <a:r>
              <a:rPr lang="en-US" altLang="zh-CN" sz="4800" baseline="-25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</a:t>
            </a:r>
            <a:r>
              <a:rPr lang="en-US" altLang="zh-CN" sz="4800" baseline="-25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，选取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</a:t>
            </a:r>
            <a:r>
              <a:rPr lang="en-US" altLang="zh-CN" sz="4800" baseline="-25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的倒数为自变量，帧率倒数（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Latency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）为因变量，进行了一次函数、二次函数、对数、指数函数和反比例模型的拟合测试，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209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组均显示指数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函数最贴合，全局平均相对误差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0.32%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，拟合优度均大于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0.9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740" y="7498715"/>
            <a:ext cx="2983230" cy="147764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490" y="7569835"/>
            <a:ext cx="2498725" cy="138874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rcRect t="1040"/>
          <a:stretch>
            <a:fillRect/>
          </a:stretch>
        </p:blipFill>
        <p:spPr>
          <a:xfrm>
            <a:off x="10197465" y="7569835"/>
            <a:ext cx="2442845" cy="138811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21765" y="7588250"/>
            <a:ext cx="2414270" cy="138811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81930" y="7153275"/>
            <a:ext cx="3497580" cy="206248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49230" y="7498715"/>
            <a:ext cx="2239010" cy="167640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861135" y="7569835"/>
            <a:ext cx="2867660" cy="1529715"/>
          </a:xfrm>
          <a:prstGeom prst="rect">
            <a:avLst/>
          </a:prstGeom>
        </p:spPr>
      </p:pic>
      <p:cxnSp>
        <p:nvCxnSpPr>
          <p:cNvPr id="47" name="直接箭头连接符 46"/>
          <p:cNvCxnSpPr>
            <a:stCxn id="21" idx="3"/>
          </p:cNvCxnSpPr>
          <p:nvPr/>
        </p:nvCxnSpPr>
        <p:spPr>
          <a:xfrm>
            <a:off x="4966970" y="8237855"/>
            <a:ext cx="1268730" cy="1905"/>
          </a:xfrm>
          <a:prstGeom prst="straightConnector1">
            <a:avLst/>
          </a:prstGeom>
          <a:ln w="50800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26" idx="3"/>
            <a:endCxn id="29" idx="1"/>
          </p:cNvCxnSpPr>
          <p:nvPr/>
        </p:nvCxnSpPr>
        <p:spPr>
          <a:xfrm flipV="1">
            <a:off x="8705215" y="8263890"/>
            <a:ext cx="1492250" cy="635"/>
          </a:xfrm>
          <a:prstGeom prst="straightConnector1">
            <a:avLst/>
          </a:prstGeom>
          <a:ln w="50800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29" idx="3"/>
            <a:endCxn id="34" idx="1"/>
          </p:cNvCxnSpPr>
          <p:nvPr/>
        </p:nvCxnSpPr>
        <p:spPr>
          <a:xfrm>
            <a:off x="12640310" y="8263890"/>
            <a:ext cx="1481455" cy="18415"/>
          </a:xfrm>
          <a:prstGeom prst="straightConnector1">
            <a:avLst/>
          </a:prstGeom>
          <a:ln w="50800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16536035" y="8291830"/>
            <a:ext cx="1445895" cy="12700"/>
          </a:xfrm>
          <a:prstGeom prst="straightConnector1">
            <a:avLst/>
          </a:prstGeom>
          <a:ln w="50800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21483320" y="8315325"/>
            <a:ext cx="1565910" cy="14605"/>
          </a:xfrm>
          <a:prstGeom prst="straightConnector1">
            <a:avLst/>
          </a:prstGeom>
          <a:ln w="50800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25288240" y="8329930"/>
            <a:ext cx="1572895" cy="0"/>
          </a:xfrm>
          <a:prstGeom prst="straightConnector1">
            <a:avLst/>
          </a:prstGeom>
          <a:ln w="50800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44" idx="2"/>
          </p:cNvCxnSpPr>
          <p:nvPr/>
        </p:nvCxnSpPr>
        <p:spPr>
          <a:xfrm flipH="1">
            <a:off x="24159210" y="9175115"/>
            <a:ext cx="9525" cy="65659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9447530" y="9829800"/>
            <a:ext cx="14711680" cy="381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V="1">
            <a:off x="9434830" y="8237855"/>
            <a:ext cx="8255" cy="1617345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25780365" y="7875270"/>
            <a:ext cx="1182370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200" b="1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endParaRPr lang="zh-CN" altLang="en-US" sz="2200" b="1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4253190" y="9215755"/>
            <a:ext cx="1182370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200" b="1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否</a:t>
            </a:r>
            <a:endParaRPr lang="zh-CN" altLang="en-US" sz="2200" b="1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323340" y="10187940"/>
            <a:ext cx="30478730" cy="1898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指出在性能测试的过程中遇到的问题：</a:t>
            </a:r>
            <a:r>
              <a:rPr lang="en-US" altLang="zh-CN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(1)</a:t>
            </a:r>
            <a:r>
              <a:rPr lang="en-US" altLang="zh-CN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hitrace</a:t>
            </a:r>
            <a:r>
              <a:rPr lang="zh-CN" altLang="en-US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录制时会提前终止</a:t>
            </a:r>
            <a:r>
              <a:rPr lang="en-US" altLang="zh-CN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(2)</a:t>
            </a:r>
            <a:r>
              <a:rPr lang="en-US" altLang="zh-CN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hitrace</a:t>
            </a:r>
            <a:r>
              <a:rPr lang="zh-CN" altLang="en-US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使用起点终点录制方式无法指定输出文件名</a:t>
            </a:r>
            <a:r>
              <a:rPr lang="en-US" altLang="zh-CN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(3)</a:t>
            </a:r>
            <a:r>
              <a:rPr lang="zh-CN" altLang="en-US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功耗的测试和性能脚本的调试无法同时进行</a:t>
            </a:r>
            <a:endParaRPr lang="zh-CN" altLang="en-US" sz="4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4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707390" y="13383260"/>
            <a:ext cx="16121380" cy="1128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5000"/>
              </a:lnSpc>
            </a:pP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DDR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频率与帧率关系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研究（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蔡东辰）</a:t>
            </a:r>
            <a:endParaRPr lang="en-US" altLang="zh-CN" sz="6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4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12"/>
          <a:srcRect t="12319" b="48209"/>
          <a:stretch>
            <a:fillRect/>
          </a:stretch>
        </p:blipFill>
        <p:spPr>
          <a:xfrm>
            <a:off x="3136265" y="23393400"/>
            <a:ext cx="12195175" cy="1263650"/>
          </a:xfrm>
          <a:prstGeom prst="rect">
            <a:avLst/>
          </a:prstGeom>
        </p:spPr>
      </p:pic>
      <p:pic>
        <p:nvPicPr>
          <p:cNvPr id="74" name="内容占位符 5"/>
          <p:cNvPicPr>
            <a:picLocks noGrp="1"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90" y="18123535"/>
            <a:ext cx="8186420" cy="5123180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930" y="18166715"/>
            <a:ext cx="8117840" cy="5080000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8770" y="18166715"/>
            <a:ext cx="7815580" cy="4891405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1170" y="18166715"/>
            <a:ext cx="7549515" cy="4724400"/>
          </a:xfrm>
          <a:prstGeom prst="rect">
            <a:avLst/>
          </a:prstGeom>
        </p:spPr>
      </p:pic>
      <p:sp>
        <p:nvSpPr>
          <p:cNvPr id="78" name="rect 2"/>
          <p:cNvSpPr/>
          <p:nvPr/>
        </p:nvSpPr>
        <p:spPr>
          <a:xfrm>
            <a:off x="707390" y="25428575"/>
            <a:ext cx="31727140" cy="707263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9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5670" y="24964389"/>
            <a:ext cx="30886400" cy="76200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1118870" y="25428575"/>
            <a:ext cx="26433145" cy="1128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5000"/>
              </a:lnSpc>
            </a:pP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</a:t>
            </a: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fcpu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fgpu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对帧率的影响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蔡东辰）</a:t>
            </a:r>
            <a:endParaRPr lang="en-US" altLang="zh-CN" sz="6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4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834390" y="26774775"/>
            <a:ext cx="31443295" cy="182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Jetson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测量数据，建模</a:t>
            </a:r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fcpu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fgpu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对帧率的影响（</a:t>
            </a:r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频率值设为常数），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研究发现：不同负载下，</a:t>
            </a:r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48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f</a:t>
            </a:r>
            <a:r>
              <a:rPr lang="en-US" altLang="zh-CN" sz="4800" b="1" baseline="-25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48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f</a:t>
            </a:r>
            <a:r>
              <a:rPr lang="en-US" altLang="zh-CN" sz="4800" b="1" baseline="-25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gpu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对帧率的影响差异显著：</a:t>
            </a:r>
            <a:endParaRPr lang="zh-CN" altLang="en-US" sz="4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对于负载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渲染场景，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GPU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对于渲染性能占相对主导作用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颜色分类引入更为复杂的推理过程，导致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GPU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频率影响更显著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视频越高清，性能受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DDR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频率影响更显著，导致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GPU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的系数均减小；但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影响相对更大</a:t>
            </a:r>
            <a:endParaRPr lang="en-US" altLang="zh-CN" sz="4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12"/>
          <a:srcRect t="55012" r="25464" b="13587"/>
          <a:stretch>
            <a:fillRect/>
          </a:stretch>
        </p:blipFill>
        <p:spPr>
          <a:xfrm>
            <a:off x="16785590" y="23246715"/>
            <a:ext cx="9646285" cy="1066800"/>
          </a:xfrm>
          <a:prstGeom prst="rect">
            <a:avLst/>
          </a:prstGeom>
        </p:spPr>
      </p:pic>
      <p:sp>
        <p:nvSpPr>
          <p:cNvPr id="83" name="rect 2"/>
          <p:cNvSpPr/>
          <p:nvPr/>
        </p:nvSpPr>
        <p:spPr>
          <a:xfrm>
            <a:off x="604520" y="33288605"/>
            <a:ext cx="31727140" cy="854456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4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5670" y="32863789"/>
            <a:ext cx="30886400" cy="76200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1118870" y="33288605"/>
            <a:ext cx="26433145" cy="1128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5000"/>
              </a:lnSpc>
            </a:pP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DDR 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频点与帧率关系的理论调研（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鲍成）</a:t>
            </a:r>
            <a:endParaRPr lang="en-US" altLang="zh-CN" sz="6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4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07390" y="34563685"/>
            <a:ext cx="31830645" cy="5995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结论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：近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5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Memory/DRAM DVFS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的性能建模主流可归约为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DVFS-aware Roofline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：性能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帧时由计算上限与内存带宽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访存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stall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共同约束；提高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DDR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频点通常带来帧率提升，但会在计算受限区间出现饱和。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典型形式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（统一为瓶颈约束）：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启示：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更适合建模为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共享资源的瓶颈项（带宽竞争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等待时间影响帧时），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而非与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CPU/GPU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做简单线性相加；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后续用真实应用数据验证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crossover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点与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参数随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workload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类型变化的可迁移性。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7" name="图片 8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4945" y="37083365"/>
            <a:ext cx="14385925" cy="955040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667720" y="36744910"/>
            <a:ext cx="7719060" cy="50882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WPS 演示</Application>
  <PresentationFormat/>
  <Paragraphs>67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黑体</vt:lpstr>
      <vt:lpstr>微软雅黑</vt:lpstr>
      <vt:lpstr>Microsoft YaHei UI</vt:lpstr>
      <vt:lpstr>Georgia</vt:lpstr>
      <vt:lpstr>Times New Roman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Shijie Sun</dc:creator>
  <cp:lastModifiedBy>Queenie.</cp:lastModifiedBy>
  <cp:revision>23</cp:revision>
  <dcterms:created xsi:type="dcterms:W3CDTF">2025-11-12T09:06:00Z</dcterms:created>
  <dcterms:modified xsi:type="dcterms:W3CDTF">2025-12-26T16:36:53Z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2025-11-16T17:03:57Z</vt:filetime>
  </property>
  <property fmtid="{D5CDD505-2E9C-101B-9397-08002B2CF9AE}" pid="4" name="ICV">
    <vt:lpwstr>A5F96D1879B74072A2B8B3B801EDF66E_13</vt:lpwstr>
  </property>
  <property fmtid="{D5CDD505-2E9C-101B-9397-08002B2CF9AE}" pid="5" name="KSOProductBuildVer">
    <vt:lpwstr>2052-12.1.0.24034</vt:lpwstr>
  </property>
</Properties>
</file>