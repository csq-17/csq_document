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91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9" userDrawn="1">
          <p15:clr>
            <a:srgbClr val="A4A3A4"/>
          </p15:clr>
        </p15:guide>
        <p15:guide id="2" pos="29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932" y="68"/>
      </p:cViewPr>
      <p:guideLst>
        <p:guide orient="horz" pos="2079"/>
        <p:guide pos="29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E644F-7AA2-42BF-BC94-215E7DE1C7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98412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9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00252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81287" y="390469"/>
            <a:ext cx="5157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GPU/CPU/DDR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频点影响渲染性能与功耗的原理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7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465" y="6236335"/>
            <a:ext cx="9155430" cy="47815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20000"/>
              </a:lnSpc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[1]CPU-bound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：一帧的总体时长主要由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 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侧的处理与命令提交速率决定，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能较快完成被提交的工作，时间线上常出现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GPU 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空闲区；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20000"/>
              </a:lnSpc>
            </a:pP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[2]GPU-bound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：一帧的总体时长主要由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 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执行渲染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计算任务的耗时决定，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很快喂满命令队列而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等待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完成，时间线上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持续满负荷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7790" y="930910"/>
            <a:ext cx="2559685" cy="436245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" name="直角三角形 59"/>
          <p:cNvSpPr/>
          <p:nvPr/>
        </p:nvSpPr>
        <p:spPr>
          <a:xfrm>
            <a:off x="2656895" y="930595"/>
            <a:ext cx="168181" cy="436548"/>
          </a:xfrm>
          <a:prstGeom prst="rtTriangle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直角三角形 60"/>
          <p:cNvSpPr/>
          <p:nvPr/>
        </p:nvSpPr>
        <p:spPr>
          <a:xfrm flipH="1">
            <a:off x="98086" y="839734"/>
            <a:ext cx="140467" cy="91177"/>
          </a:xfrm>
          <a:prstGeom prst="rt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" name="文本框 66"/>
          <p:cNvSpPr txBox="1"/>
          <p:nvPr/>
        </p:nvSpPr>
        <p:spPr>
          <a:xfrm>
            <a:off x="168275" y="964565"/>
            <a:ext cx="2987675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各频点对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FPS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的影响原理</a:t>
            </a:r>
            <a:endParaRPr kumimoji="0" lang="zh-CN" altLang="en-US" sz="1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5" name="文本框 10"/>
          <p:cNvSpPr txBox="1"/>
          <p:nvPr/>
        </p:nvSpPr>
        <p:spPr>
          <a:xfrm>
            <a:off x="279734" y="1456102"/>
            <a:ext cx="8644506" cy="1306542"/>
          </a:xfrm>
          <a:prstGeom prst="roundRect">
            <a:avLst>
              <a:gd name="adj" fmla="val 7719"/>
            </a:avLst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t"/>
          <a:lstStyle>
            <a:defPPr>
              <a:defRPr lang="zh-CN"/>
            </a:defPPr>
            <a:lvl1pPr indent="457200" algn="just">
              <a:lnSpc>
                <a:spcPct val="125000"/>
              </a:lnSpc>
              <a:defRPr sz="2400" b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indent="0" algn="l" defTabSz="914400">
              <a:lnSpc>
                <a:spcPct val="150000"/>
              </a:lnSpc>
              <a:spcBef>
                <a:spcPts val="600"/>
              </a:spcBef>
              <a:defRPr/>
            </a:pPr>
            <a:endParaRPr lang="en-US" altLang="zh-CN" sz="1200" b="0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defTabSz="914400">
              <a:lnSpc>
                <a:spcPct val="150000"/>
              </a:lnSpc>
              <a:spcBef>
                <a:spcPts val="600"/>
              </a:spcBef>
              <a:defRPr/>
            </a:pPr>
            <a:endParaRPr lang="en-US" altLang="zh-CN" sz="1200" b="0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65430" y="1501140"/>
            <a:ext cx="8733790" cy="13125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300" kern="0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CPU-bound</a:t>
            </a:r>
            <a:r>
              <a:rPr lang="en-US" altLang="zh-CN" sz="1300" kern="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[1]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场景，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1300" kern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每秒可提交的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draw/dispatch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、可完成的裁剪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批处理、可执行的脚本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物理步数等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CPU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段帧时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↓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FPS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en-US" sz="13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300" kern="0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GPU-bound</a:t>
            </a:r>
            <a:r>
              <a:rPr lang="en-US" altLang="zh-CN" sz="1300" kern="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[2]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场景，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1300" kern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ALU(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着色算力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TMU(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纹理采样发起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ROP (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渲染输出）等时钟绑定单元的吞吐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GPU 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段帧时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↓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FPS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endParaRPr lang="en-US" altLang="en-US" sz="13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300" kern="0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在内存带宽受限场景，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1300" kern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↑ → 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设备级峰值内存带宽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↑ → 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任务等待时间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↓ → 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帧时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↓ → 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FPS</a:t>
            </a:r>
            <a:r>
              <a:rPr lang="en-US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endParaRPr lang="en-US" altLang="en-US" sz="13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10"/>
          <p:cNvSpPr txBox="1"/>
          <p:nvPr/>
        </p:nvSpPr>
        <p:spPr>
          <a:xfrm>
            <a:off x="269240" y="3458845"/>
            <a:ext cx="8644255" cy="1306830"/>
          </a:xfrm>
          <a:prstGeom prst="roundRect">
            <a:avLst>
              <a:gd name="adj" fmla="val 7719"/>
            </a:avLst>
          </a:prstGeom>
          <a:solidFill>
            <a:srgbClr val="D9D9D9"/>
          </a:solidFill>
          <a:ln w="12700" cap="flat" cmpd="sng" algn="ctr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b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 defTabSz="457200"/>
            <a:endParaRPr lang="en-US" altLang="zh-CN" sz="1600" kern="0" dirty="0">
              <a:latin typeface="Times New Roman" panose="02020603050405020304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93700" y="3458845"/>
            <a:ext cx="8519160" cy="129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3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总功耗</a:t>
            </a:r>
            <a:r>
              <a:rPr lang="en-US" altLang="zh-CN" sz="13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3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动态功耗</a:t>
            </a:r>
            <a:r>
              <a:rPr lang="en-US" altLang="zh-CN" sz="13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3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静态功耗</a:t>
            </a:r>
            <a:r>
              <a:rPr lang="en-US" altLang="zh-CN" sz="13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3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其他功耗（动态功耗占比较大）</a:t>
            </a:r>
            <a:endParaRPr lang="zh-CN" altLang="en-US" sz="13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300" kern="0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动态功耗是指负载电容充放电时消耗的能量，各频点的动态功耗满足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1300" kern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dyn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≈αCV</a:t>
            </a:r>
            <a:r>
              <a:rPr lang="en-US" altLang="zh-CN" sz="1300" kern="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，而在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DVFS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中为守时序，升频常伴随升压，即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V∝f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，因此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1300" kern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dyn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∝f</a:t>
            </a:r>
            <a:r>
              <a:rPr lang="en-US" altLang="zh-CN" sz="1300" kern="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3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300" kern="0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静态功耗是指电流泄漏消耗的能量，随电压和温度的升高而增大。</a:t>
            </a:r>
            <a:endParaRPr lang="zh-CN" altLang="en-US" sz="13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300" kern="0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其他功耗包括短路功耗、毛刺功耗、存储器刷新功耗等，都与</a:t>
            </a:r>
            <a:r>
              <a:rPr lang="en-US" altLang="zh-CN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13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呈正相关的关系。</a:t>
            </a:r>
            <a:endParaRPr lang="zh-CN" altLang="en-US" sz="13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8270" y="2901950"/>
            <a:ext cx="2559685" cy="436245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>
            <a:off x="2687375" y="2901635"/>
            <a:ext cx="168181" cy="436548"/>
          </a:xfrm>
          <a:prstGeom prst="rtTriangle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直角三角形 9"/>
          <p:cNvSpPr/>
          <p:nvPr/>
        </p:nvSpPr>
        <p:spPr>
          <a:xfrm flipH="1">
            <a:off x="128566" y="2810774"/>
            <a:ext cx="140467" cy="91177"/>
          </a:xfrm>
          <a:prstGeom prst="rt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文本框 66"/>
          <p:cNvSpPr txBox="1"/>
          <p:nvPr/>
        </p:nvSpPr>
        <p:spPr>
          <a:xfrm>
            <a:off x="168275" y="2947670"/>
            <a:ext cx="2987675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各频点对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功耗的影响原理</a:t>
            </a:r>
            <a:endParaRPr kumimoji="0" lang="zh-CN" altLang="en-US" sz="1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Freeform 9"/>
          <p:cNvSpPr/>
          <p:nvPr/>
        </p:nvSpPr>
        <p:spPr>
          <a:xfrm>
            <a:off x="37465" y="4880610"/>
            <a:ext cx="3286125" cy="314325"/>
          </a:xfrm>
          <a:custGeom>
            <a:avLst/>
            <a:gdLst>
              <a:gd name="connsiteX0" fmla="*/ 0 w 2836703"/>
              <a:gd name="connsiteY0" fmla="*/ 92768 h 556594"/>
              <a:gd name="connsiteX1" fmla="*/ 92768 w 2836703"/>
              <a:gd name="connsiteY1" fmla="*/ 0 h 556594"/>
              <a:gd name="connsiteX2" fmla="*/ 2743935 w 2836703"/>
              <a:gd name="connsiteY2" fmla="*/ 0 h 556594"/>
              <a:gd name="connsiteX3" fmla="*/ 2836703 w 2836703"/>
              <a:gd name="connsiteY3" fmla="*/ 92768 h 556594"/>
              <a:gd name="connsiteX4" fmla="*/ 2836703 w 2836703"/>
              <a:gd name="connsiteY4" fmla="*/ 463826 h 556594"/>
              <a:gd name="connsiteX5" fmla="*/ 2743935 w 2836703"/>
              <a:gd name="connsiteY5" fmla="*/ 556594 h 556594"/>
              <a:gd name="connsiteX6" fmla="*/ 92768 w 2836703"/>
              <a:gd name="connsiteY6" fmla="*/ 556594 h 556594"/>
              <a:gd name="connsiteX7" fmla="*/ 0 w 2836703"/>
              <a:gd name="connsiteY7" fmla="*/ 463826 h 556594"/>
              <a:gd name="connsiteX8" fmla="*/ 0 w 2836703"/>
              <a:gd name="connsiteY8" fmla="*/ 92768 h 556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6703" h="556594">
                <a:moveTo>
                  <a:pt x="0" y="92768"/>
                </a:moveTo>
                <a:cubicBezTo>
                  <a:pt x="0" y="41534"/>
                  <a:pt x="41534" y="0"/>
                  <a:pt x="92768" y="0"/>
                </a:cubicBezTo>
                <a:lnTo>
                  <a:pt x="2743935" y="0"/>
                </a:lnTo>
                <a:cubicBezTo>
                  <a:pt x="2795169" y="0"/>
                  <a:pt x="2836703" y="41534"/>
                  <a:pt x="2836703" y="92768"/>
                </a:cubicBezTo>
                <a:lnTo>
                  <a:pt x="2836703" y="463826"/>
                </a:lnTo>
                <a:cubicBezTo>
                  <a:pt x="2836703" y="515060"/>
                  <a:pt x="2795169" y="556594"/>
                  <a:pt x="2743935" y="556594"/>
                </a:cubicBezTo>
                <a:lnTo>
                  <a:pt x="92768" y="556594"/>
                </a:lnTo>
                <a:cubicBezTo>
                  <a:pt x="41534" y="556594"/>
                  <a:pt x="0" y="515060"/>
                  <a:pt x="0" y="463826"/>
                </a:cubicBezTo>
                <a:lnTo>
                  <a:pt x="0" y="927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0" vert="horz" wrap="square" lIns="250696" tIns="27171" rIns="250696" bIns="27171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400" b="1" kern="1200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charset="0"/>
              </a:rPr>
              <a:t>补充：</a:t>
            </a:r>
            <a:r>
              <a:rPr lang="en-US" altLang="zh-CN" sz="1400" b="1" kern="1200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charset="0"/>
              </a:rPr>
              <a:t>DDR</a:t>
            </a:r>
            <a:r>
              <a:rPr lang="zh-CN" altLang="en-US" sz="1400" b="1" kern="1200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charset="0"/>
              </a:rPr>
              <a:t>频点与</a:t>
            </a:r>
            <a:r>
              <a:rPr lang="zh-CN" altLang="en-US" sz="1400" b="1" kern="1200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charset="0"/>
              </a:rPr>
              <a:t>峰值带宽的关系</a:t>
            </a:r>
            <a:endParaRPr lang="zh-CN" altLang="en-US" sz="1400" b="1" kern="1200" dirty="0"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14" name="图片 1"/>
          <p:cNvPicPr>
            <a:picLocks noChangeAspect="1"/>
          </p:cNvPicPr>
          <p:nvPr/>
        </p:nvPicPr>
        <p:blipFill>
          <a:blip r:embed="rId1"/>
          <a:srcRect l="2458" t="13539" b="16622"/>
          <a:stretch>
            <a:fillRect/>
          </a:stretch>
        </p:blipFill>
        <p:spPr>
          <a:xfrm>
            <a:off x="1062990" y="5259705"/>
            <a:ext cx="4973955" cy="43243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文本框 14"/>
          <p:cNvSpPr txBox="1"/>
          <p:nvPr/>
        </p:nvSpPr>
        <p:spPr>
          <a:xfrm>
            <a:off x="-45085" y="5685790"/>
            <a:ext cx="9341485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</a:t>
            </a:r>
            <a:r>
              <a:rPr lang="en-US" altLang="zh-CN" sz="1200" baseline="-25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clock</a:t>
            </a: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DRAM </a:t>
            </a: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基准时钟频率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</a:t>
            </a:r>
            <a:r>
              <a:rPr lang="en-US" altLang="zh-CN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transfers per clock</a:t>
            </a: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：每个时钟周期的数据传输次数，对于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DDR</a:t>
            </a: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来说为两次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en-US" altLang="zh-CN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bus width</a:t>
            </a: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：总位宽</a:t>
            </a:r>
            <a:endParaRPr lang="zh-CN" altLang="en-US" sz="120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-17145" y="6185535"/>
            <a:ext cx="9158605" cy="1143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118225" y="5329555"/>
            <a:ext cx="3658235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实际带宽</a:t>
            </a: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=</a:t>
            </a: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峰值带宽</a:t>
            </a: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*</a:t>
            </a: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总利用率</a:t>
            </a: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η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739</Words>
  <Application>WPS 演示</Application>
  <PresentationFormat>全屏显示(4:3)</PresentationFormat>
  <Paragraphs>30</Paragraphs>
  <Slides>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Calibri</vt:lpstr>
      <vt:lpstr>等线</vt:lpstr>
      <vt:lpstr>Georgia</vt:lpstr>
      <vt:lpstr>Microsoft YaHei UI</vt:lpstr>
      <vt:lpstr>Arial Unicode MS</vt:lpstr>
      <vt:lpstr>等线 Light</vt:lpstr>
      <vt:lpstr>Calibri Light</vt:lpstr>
      <vt:lpstr>黑体</vt:lpstr>
      <vt:lpstr>Times New Roman</vt:lpstr>
      <vt:lpstr>Office 主题​​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Guy Hey</dc:creator>
  <cp:lastModifiedBy>Queenie.</cp:lastModifiedBy>
  <cp:revision>250</cp:revision>
  <dcterms:created xsi:type="dcterms:W3CDTF">2025-08-20T14:24:00Z</dcterms:created>
  <dcterms:modified xsi:type="dcterms:W3CDTF">2026-01-12T05:59:19Z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0088B578A42043EC9726650AC5E7BE0C_13</vt:lpwstr>
  </property>
  <property fmtid="{D5CDD505-2E9C-101B-9397-08002B2CF9AE}" pid="3" name="KSOProductBuildVer">
    <vt:lpwstr>2052-12.1.0.24034</vt:lpwstr>
  </property>
</Properties>
</file>